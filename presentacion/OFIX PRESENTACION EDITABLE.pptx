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97" r:id="rId48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59" r:id="rId10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degradado" descr="01_0.jpg"/>
          <p:cNvPicPr>
            <a:picLocks noMove="1" noResize="1" noChangeAspect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4" name="grafico" descr="0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967" y="2709333"/>
            <a:ext cx="745067" cy="745067"/>
          </a:xfrm>
          <a:prstGeom prst="rect">
            <a:avLst/>
          </a:prstGeom>
          <a:effectLst/>
        </p:spPr>
      </p:pic>
      <p:pic>
        <p:nvPicPr>
          <p:cNvPr id="5" name="degradado" descr="01_2.png"/>
          <p:cNvPicPr>
            <a:picLocks noMove="1" noResize="1" noChangeAspect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3822171"/>
            <a:ext cx="3556000" cy="8467"/>
          </a:xfrm>
          <a:prstGeom prst="rect">
            <a:avLst/>
          </a:prstGeom>
          <a:effectLst/>
        </p:spPr>
      </p:pic>
      <p:sp>
        <p:nvSpPr>
          <p:cNvPr id="6" name="OFIX"/>
          <p:cNvSpPr txBox="1"/>
          <p:nvPr/>
        </p:nvSpPr>
        <p:spPr>
          <a:xfrm>
            <a:off x="4245901" y="2747526"/>
            <a:ext cx="2768732" cy="11330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800" spc="-440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7" name="TU HOGAR, EN BUENAS MANOS"/>
          <p:cNvSpPr txBox="1"/>
          <p:nvPr/>
        </p:nvSpPr>
        <p:spPr>
          <a:xfrm>
            <a:off x="-16933" y="4027212"/>
            <a:ext cx="12225867" cy="2606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100">
                <a:solidFill>
                  <a:srgbClr val="FFFFFF"/>
                </a:solidFill>
                <a:latin typeface="Archivo SemiBold"/>
                <a:cs typeface="Archivo SemiBold"/>
                <a:ea typeface="Archivo SemiBold"/>
              </a:rPr>
              <a:t>TU HOGAR, EN </a:t>
            </a:r>
            <a:r>
              <a:rPr b="0" i="0" sz="1670" spc="100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BUENAS MANOS</a:t>
            </a:r>
          </a:p>
        </p:txBody>
      </p:sp>
      <p:sp>
        <p:nvSpPr>
          <p:cNvPr id="8" name="FRANCISCO FONTANA · ROCCO PELLEGRINO"/>
          <p:cNvSpPr txBox="1"/>
          <p:nvPr/>
        </p:nvSpPr>
        <p:spPr>
          <a:xfrm>
            <a:off x="609600" y="6185530"/>
            <a:ext cx="4637617" cy="165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 spc="11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FRANCISCO FONTANA  ·  ROCCO PELLEGRINO  ·  PRISCILLA ARSLAN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608667"/>
            <a:ext cx="10972800" cy="1538155"/>
          </a:xfrm>
          <a:prstGeom prst="roundRect">
            <a:avLst>
              <a:gd name="adj" fmla="val 220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609600" y="3316155"/>
            <a:ext cx="10972800" cy="1538287"/>
          </a:xfrm>
          <a:prstGeom prst="roundRect">
            <a:avLst>
              <a:gd name="adj" fmla="val 2201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609600" y="5023776"/>
            <a:ext cx="10972800" cy="953691"/>
          </a:xfrm>
          <a:prstGeom prst="roundRect">
            <a:avLst>
              <a:gd name="adj" fmla="val 3551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left"/>
          <p:cNvSpPr/>
          <p:nvPr/>
        </p:nvSpPr>
        <p:spPr>
          <a:xfrm>
            <a:off x="609600" y="5023776"/>
            <a:ext cx="25400" cy="953691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¿Qué está pasando hoy?"/>
          <p:cNvSpPr txBox="1"/>
          <p:nvPr/>
        </p:nvSpPr>
        <p:spPr>
          <a:xfrm>
            <a:off x="609600" y="502981"/>
            <a:ext cx="5512726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¿Qué está pasando hoy?</a:t>
            </a:r>
          </a:p>
        </p:txBody>
      </p:sp>
      <p:sp>
        <p:nvSpPr>
          <p:cNvPr id="9" name="Los dos lados del mercado operan sin"/>
          <p:cNvSpPr txBox="1"/>
          <p:nvPr/>
        </p:nvSpPr>
        <p:spPr>
          <a:xfrm>
            <a:off x="609600" y="994856"/>
            <a:ext cx="5512726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4E5C73"/>
                </a:solidFill>
                <a:latin typeface="Archivo SemiBold"/>
                <a:cs typeface="Archivo SemiBold"/>
                <a:ea typeface="Archivo SemiBold"/>
              </a:rPr>
              <a:t>Los dos lados del mercado operan sin garantías.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1" name="LA OFERTA"/>
          <p:cNvSpPr txBox="1"/>
          <p:nvPr/>
        </p:nvSpPr>
        <p:spPr>
          <a:xfrm>
            <a:off x="965200" y="1946359"/>
            <a:ext cx="17949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9FBEFB"/>
                </a:solidFill>
                <a:latin typeface="IBM Plex Mono SemiBold"/>
                <a:cs typeface="IBM Plex Mono SemiBold"/>
                <a:ea typeface="IBM Plex Mono SemiBold"/>
              </a:rPr>
              <a:t>LA OFERTA</a:t>
            </a:r>
          </a:p>
        </p:txBody>
      </p:sp>
      <p:sp>
        <p:nvSpPr>
          <p:cNvPr id="12" name="70%"/>
          <p:cNvSpPr txBox="1"/>
          <p:nvPr/>
        </p:nvSpPr>
        <p:spPr>
          <a:xfrm>
            <a:off x="965200" y="2225359"/>
            <a:ext cx="1794933" cy="83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400" spc="-256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70%</a:t>
            </a:r>
          </a:p>
        </p:txBody>
      </p:sp>
      <p:sp>
        <p:nvSpPr>
          <p:cNvPr id="13" name="de los trabajadores de oficios opera"/>
          <p:cNvSpPr txBox="1"/>
          <p:nvPr/>
        </p:nvSpPr>
        <p:spPr>
          <a:xfrm>
            <a:off x="3064933" y="2251123"/>
            <a:ext cx="8178800" cy="317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>
                <a:solidFill>
                  <a:srgbClr val="FFFFFF"/>
                </a:solidFill>
                <a:latin typeface="IBM Plex Sans Medium"/>
                <a:cs typeface="IBM Plex Sans Medium"/>
                <a:ea typeface="IBM Plex Sans Medium"/>
              </a:rPr>
              <a:t>de los trabajadores de oficios operan </a:t>
            </a:r>
            <a:r>
              <a:rPr b="0" i="0" sz="1670">
                <a:solidFill>
                  <a:srgbClr val="FFFFFF"/>
                </a:solidFill>
                <a:latin typeface="IBM Plex Sans Bold"/>
                <a:cs typeface="IBM Plex Sans Bold"/>
                <a:ea typeface="IBM Plex Sans Bold"/>
              </a:rPr>
              <a:t>sin formalización ni verificación</a:t>
            </a:r>
            <a:r>
              <a:rPr b="0" i="0" sz="1670">
                <a:solidFill>
                  <a:srgbClr val="FFFFFF"/>
                </a:solidFill>
                <a:latin typeface="IBM Plex Sans Medium"/>
                <a:cs typeface="IBM Plex Sans Medium"/>
                <a:ea typeface="IBM Plex Sans Medium"/>
              </a:rPr>
              <a:t>.</a:t>
            </a:r>
          </a:p>
        </p:txBody>
      </p:sp>
      <p:sp>
        <p:nvSpPr>
          <p:cNvPr id="14" name="LA DEMANDA"/>
          <p:cNvSpPr txBox="1"/>
          <p:nvPr/>
        </p:nvSpPr>
        <p:spPr>
          <a:xfrm>
            <a:off x="965200" y="3653848"/>
            <a:ext cx="17949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CFE0FF"/>
                </a:solidFill>
                <a:latin typeface="IBM Plex Mono SemiBold"/>
                <a:cs typeface="IBM Plex Mono SemiBold"/>
                <a:ea typeface="IBM Plex Mono SemiBold"/>
              </a:rPr>
              <a:t>LA DEMANDA</a:t>
            </a:r>
          </a:p>
        </p:txBody>
      </p:sp>
      <p:sp>
        <p:nvSpPr>
          <p:cNvPr id="15" name="60%"/>
          <p:cNvSpPr txBox="1"/>
          <p:nvPr/>
        </p:nvSpPr>
        <p:spPr>
          <a:xfrm>
            <a:off x="965200" y="3932848"/>
            <a:ext cx="1794933" cy="83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400" spc="-256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60%</a:t>
            </a:r>
          </a:p>
        </p:txBody>
      </p:sp>
      <p:sp>
        <p:nvSpPr>
          <p:cNvPr id="16" name="de los hogares contratan trabajadore"/>
          <p:cNvSpPr txBox="1"/>
          <p:nvPr/>
        </p:nvSpPr>
        <p:spPr>
          <a:xfrm>
            <a:off x="3064933" y="3819043"/>
            <a:ext cx="8161867" cy="5973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>
                <a:solidFill>
                  <a:srgbClr val="FFFFFF"/>
                </a:solidFill>
                <a:latin typeface="IBM Plex Sans Medium"/>
                <a:cs typeface="IBM Plex Sans Medium"/>
                <a:ea typeface="IBM Plex Sans Medium"/>
              </a:rPr>
              <a:t>de los hogares contratan trabajadores de oficio </a:t>
            </a:r>
            <a:r>
              <a:rPr b="0" i="0" sz="1670">
                <a:solidFill>
                  <a:srgbClr val="FFFFFF"/>
                </a:solidFill>
                <a:latin typeface="IBM Plex Sans Bold"/>
                <a:cs typeface="IBM Plex Sans Bold"/>
                <a:ea typeface="IBM Plex Sans Bold"/>
              </a:rPr>
              <a:t>sin controles, precios claros ni garantías</a:t>
            </a:r>
            <a:r>
              <a:rPr b="0" i="0" sz="1670">
                <a:solidFill>
                  <a:srgbClr val="FFFFFF"/>
                </a:solidFill>
                <a:latin typeface="IBM Plex Sans Medium"/>
                <a:cs typeface="IBM Plex Sans Medium"/>
                <a:ea typeface="IBM Plex Sans Medium"/>
              </a:rPr>
              <a:t>.</a:t>
            </a:r>
          </a:p>
        </p:txBody>
      </p:sp>
      <p:sp>
        <p:nvSpPr>
          <p:cNvPr id="17" name="EL RESULTADO"/>
          <p:cNvSpPr txBox="1"/>
          <p:nvPr/>
        </p:nvSpPr>
        <p:spPr>
          <a:xfrm>
            <a:off x="990600" y="5444019"/>
            <a:ext cx="17949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EL RESULTADO</a:t>
            </a:r>
          </a:p>
        </p:txBody>
      </p:sp>
      <p:sp>
        <p:nvSpPr>
          <p:cNvPr id="18" name="Los hogares reclaman trabajos del ho"/>
          <p:cNvSpPr txBox="1"/>
          <p:nvPr/>
        </p:nvSpPr>
        <p:spPr>
          <a:xfrm>
            <a:off x="3090333" y="5374000"/>
            <a:ext cx="8153400" cy="3179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>
                <a:solidFill>
                  <a:srgbClr val="0D1520"/>
                </a:solidFill>
                <a:latin typeface="IBM Plex Sans Medium"/>
                <a:cs typeface="IBM Plex Sans Medium"/>
                <a:ea typeface="IBM Plex Sans Medium"/>
              </a:rPr>
              <a:t>Los hogares reclaman </a:t>
            </a:r>
            <a:r>
              <a:rPr b="0" i="0" sz="1670">
                <a:solidFill>
                  <a:srgbClr val="B5561B"/>
                </a:solidFill>
                <a:latin typeface="IBM Plex Sans Bold"/>
                <a:cs typeface="IBM Plex Sans Bold"/>
                <a:ea typeface="IBM Plex Sans Bold"/>
              </a:rPr>
              <a:t>trabajos del hogar mal realizados o incumplidos</a:t>
            </a:r>
            <a:r>
              <a:rPr b="0" i="0" sz="1670">
                <a:solidFill>
                  <a:srgbClr val="0D1520"/>
                </a:solidFill>
                <a:latin typeface="IBM Plex Sans Medium"/>
                <a:cs typeface="IBM Plex Sans Medium"/>
                <a:ea typeface="IBM Plex Sans Medium"/>
              </a:rPr>
              <a:t>.</a:t>
            </a:r>
          </a:p>
        </p:txBody>
      </p:sp>
      <p:sp>
        <p:nvSpPr>
          <p:cNvPr id="19" name="Fuente: INDEC, Hogares Urbanos 2024 "/>
          <p:cNvSpPr txBox="1"/>
          <p:nvPr/>
        </p:nvSpPr>
        <p:spPr>
          <a:xfrm>
            <a:off x="609600" y="6220964"/>
            <a:ext cx="5843720" cy="1544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Fuente: INDEC, Hogares Urbanos 2024 · INDEC, Informalidad Laboral 2024 · DNDC, Defensa del Consumidor Argentina</a:t>
            </a:r>
          </a:p>
        </p:txBody>
      </p:sp>
      <p:sp>
        <p:nvSpPr>
          <p:cNvPr id="20" name="0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1185333" y="1794933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top"/>
          <p:cNvSpPr/>
          <p:nvPr/>
        </p:nvSpPr>
        <p:spPr>
          <a:xfrm>
            <a:off x="1185333" y="1794933"/>
            <a:ext cx="5130800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right"/>
          <p:cNvSpPr/>
          <p:nvPr/>
        </p:nvSpPr>
        <p:spPr>
          <a:xfrm>
            <a:off x="6307667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1185333" y="3457575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1185333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1413933" y="2328333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1413933" y="2604294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1413933" y="2880254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1413933" y="3156215"/>
            <a:ext cx="50800" cy="50800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451600" y="1794933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451600" y="1794933"/>
            <a:ext cx="51308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right"/>
          <p:cNvSpPr/>
          <p:nvPr/>
        </p:nvSpPr>
        <p:spPr>
          <a:xfrm>
            <a:off x="11573933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6451600" y="3457575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left"/>
          <p:cNvSpPr/>
          <p:nvPr/>
        </p:nvSpPr>
        <p:spPr>
          <a:xfrm>
            <a:off x="6451600" y="1794933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6680200" y="2328333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680200" y="2604294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680200" y="2880254"/>
            <a:ext cx="50800" cy="50800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1185333" y="3567642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top"/>
          <p:cNvSpPr/>
          <p:nvPr/>
        </p:nvSpPr>
        <p:spPr>
          <a:xfrm>
            <a:off x="1185333" y="3567642"/>
            <a:ext cx="51308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right"/>
          <p:cNvSpPr/>
          <p:nvPr/>
        </p:nvSpPr>
        <p:spPr>
          <a:xfrm>
            <a:off x="6307667" y="3567642"/>
            <a:ext cx="8467" cy="1671108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1185333" y="5230283"/>
            <a:ext cx="5130800" cy="8467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borde left"/>
          <p:cNvSpPr/>
          <p:nvPr/>
        </p:nvSpPr>
        <p:spPr>
          <a:xfrm>
            <a:off x="1185333" y="3567642"/>
            <a:ext cx="8467" cy="1671108"/>
          </a:xfrm>
          <a:prstGeom prst="rect">
            <a:avLst/>
          </a:prstGeom>
          <a:solidFill>
            <a:srgbClr val="D3E0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aja"/>
          <p:cNvSpPr/>
          <p:nvPr/>
        </p:nvSpPr>
        <p:spPr>
          <a:xfrm>
            <a:off x="1413933" y="410104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1413933" y="437700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aja"/>
          <p:cNvSpPr/>
          <p:nvPr/>
        </p:nvSpPr>
        <p:spPr>
          <a:xfrm>
            <a:off x="1413933" y="4652962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1413933" y="4928923"/>
            <a:ext cx="50800" cy="50800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ja"/>
          <p:cNvSpPr/>
          <p:nvPr/>
        </p:nvSpPr>
        <p:spPr>
          <a:xfrm>
            <a:off x="6451600" y="3567642"/>
            <a:ext cx="5130800" cy="1671108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borde top"/>
          <p:cNvSpPr/>
          <p:nvPr/>
        </p:nvSpPr>
        <p:spPr>
          <a:xfrm>
            <a:off x="6451600" y="3567642"/>
            <a:ext cx="5130800" cy="25400"/>
          </a:xfrm>
          <a:prstGeom prst="rect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right"/>
          <p:cNvSpPr/>
          <p:nvPr/>
        </p:nvSpPr>
        <p:spPr>
          <a:xfrm>
            <a:off x="11573933" y="3567642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orde bottom"/>
          <p:cNvSpPr/>
          <p:nvPr/>
        </p:nvSpPr>
        <p:spPr>
          <a:xfrm>
            <a:off x="6451600" y="5230283"/>
            <a:ext cx="5130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left"/>
          <p:cNvSpPr/>
          <p:nvPr/>
        </p:nvSpPr>
        <p:spPr>
          <a:xfrm>
            <a:off x="6451600" y="3567642"/>
            <a:ext cx="8467" cy="167110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aja"/>
          <p:cNvSpPr/>
          <p:nvPr/>
        </p:nvSpPr>
        <p:spPr>
          <a:xfrm>
            <a:off x="6680200" y="410104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aja"/>
          <p:cNvSpPr/>
          <p:nvPr/>
        </p:nvSpPr>
        <p:spPr>
          <a:xfrm>
            <a:off x="6680200" y="437700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aja"/>
          <p:cNvSpPr/>
          <p:nvPr/>
        </p:nvSpPr>
        <p:spPr>
          <a:xfrm>
            <a:off x="6680200" y="4652962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aja"/>
          <p:cNvSpPr/>
          <p:nvPr/>
        </p:nvSpPr>
        <p:spPr>
          <a:xfrm>
            <a:off x="6680200" y="4928923"/>
            <a:ext cx="50800" cy="50800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aja"/>
          <p:cNvSpPr/>
          <p:nvPr/>
        </p:nvSpPr>
        <p:spPr>
          <a:xfrm>
            <a:off x="609600" y="5425017"/>
            <a:ext cx="10972800" cy="738717"/>
          </a:xfrm>
          <a:prstGeom prst="roundRect">
            <a:avLst>
              <a:gd name="adj" fmla="val 458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nálisis FODA"/>
          <p:cNvSpPr txBox="1"/>
          <p:nvPr/>
        </p:nvSpPr>
        <p:spPr>
          <a:xfrm>
            <a:off x="609600" y="469114"/>
            <a:ext cx="4829969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Análisis FODA</a:t>
            </a:r>
          </a:p>
        </p:txBody>
      </p:sp>
      <p:sp>
        <p:nvSpPr>
          <p:cNvPr id="41" name="Dónde está la oportunidad, en qué so"/>
          <p:cNvSpPr txBox="1"/>
          <p:nvPr/>
        </p:nvSpPr>
        <p:spPr>
          <a:xfrm>
            <a:off x="609600" y="996667"/>
            <a:ext cx="4829969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Dónde está la oportunidad, en qué somos fuertes y qué nos puede frenar</a:t>
            </a:r>
          </a:p>
        </p:txBody>
      </p:sp>
      <p:sp>
        <p:nvSpPr>
          <p:cNvPr id="4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43" name="FAVORABLE"/>
          <p:cNvSpPr txBox="1"/>
          <p:nvPr/>
        </p:nvSpPr>
        <p:spPr>
          <a:xfrm>
            <a:off x="1168400" y="1577530"/>
            <a:ext cx="51646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FAVORABLE</a:t>
            </a:r>
          </a:p>
        </p:txBody>
      </p:sp>
      <p:sp>
        <p:nvSpPr>
          <p:cNvPr id="44" name="DESFAVORABLE"/>
          <p:cNvSpPr txBox="1"/>
          <p:nvPr/>
        </p:nvSpPr>
        <p:spPr>
          <a:xfrm>
            <a:off x="6434667" y="1577530"/>
            <a:ext cx="51646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DESFAVORABLE</a:t>
            </a:r>
          </a:p>
        </p:txBody>
      </p:sp>
      <p:sp>
        <p:nvSpPr>
          <p:cNvPr id="45" name="INTERNO"/>
          <p:cNvSpPr txBox="1"/>
          <p:nvPr/>
        </p:nvSpPr>
        <p:spPr>
          <a:xfrm>
            <a:off x="609600" y="1786467"/>
            <a:ext cx="440267" cy="1688042"/>
          </a:xfrm>
          <a:prstGeom prst="rect">
            <a:avLst/>
          </a:prstGeom>
          <a:noFill/>
          <a:effectLst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INTERNO</a:t>
            </a:r>
          </a:p>
        </p:txBody>
      </p:sp>
      <p:sp>
        <p:nvSpPr>
          <p:cNvPr id="46" name="FORTALEZAS"/>
          <p:cNvSpPr txBox="1"/>
          <p:nvPr/>
        </p:nvSpPr>
        <p:spPr>
          <a:xfrm>
            <a:off x="1413933" y="2009330"/>
            <a:ext cx="46905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FORTALEZAS</a:t>
            </a:r>
          </a:p>
        </p:txBody>
      </p:sp>
      <p:sp>
        <p:nvSpPr>
          <p:cNvPr id="47" name="Verificación de identidad y reputaci"/>
          <p:cNvSpPr txBox="1"/>
          <p:nvPr/>
        </p:nvSpPr>
        <p:spPr>
          <a:xfrm>
            <a:off x="1549400" y="2263932"/>
            <a:ext cx="2391040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Verificación de identidad y reputación</a:t>
            </a:r>
          </a:p>
        </p:txBody>
      </p:sp>
      <p:sp>
        <p:nvSpPr>
          <p:cNvPr id="48" name="Geolocalización con Google Maps"/>
          <p:cNvSpPr txBox="1"/>
          <p:nvPr/>
        </p:nvSpPr>
        <p:spPr>
          <a:xfrm>
            <a:off x="1549400" y="2539893"/>
            <a:ext cx="2104231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Geolocalización con Google Maps</a:t>
            </a:r>
          </a:p>
        </p:txBody>
      </p:sp>
      <p:sp>
        <p:nvSpPr>
          <p:cNvPr id="49" name="Pagos digitales transparentes"/>
          <p:cNvSpPr txBox="1"/>
          <p:nvPr/>
        </p:nvSpPr>
        <p:spPr>
          <a:xfrm>
            <a:off x="1549400" y="2815853"/>
            <a:ext cx="1881055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Pagos digitales transparentes</a:t>
            </a:r>
          </a:p>
        </p:txBody>
      </p:sp>
      <p:sp>
        <p:nvSpPr>
          <p:cNvPr id="50" name="Profesionalización del trabajo infor"/>
          <p:cNvSpPr txBox="1"/>
          <p:nvPr/>
        </p:nvSpPr>
        <p:spPr>
          <a:xfrm>
            <a:off x="1549400" y="3091814"/>
            <a:ext cx="2443295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Profesionalización del trabajo informal</a:t>
            </a:r>
          </a:p>
        </p:txBody>
      </p:sp>
      <p:sp>
        <p:nvSpPr>
          <p:cNvPr id="51" name="DEBILIDADES"/>
          <p:cNvSpPr txBox="1"/>
          <p:nvPr/>
        </p:nvSpPr>
        <p:spPr>
          <a:xfrm>
            <a:off x="6680200" y="2009330"/>
            <a:ext cx="46905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DEBILIDADES</a:t>
            </a:r>
          </a:p>
        </p:txBody>
      </p:sp>
      <p:sp>
        <p:nvSpPr>
          <p:cNvPr id="52" name="Dificultad para lograr masa crítica "/>
          <p:cNvSpPr txBox="1"/>
          <p:nvPr/>
        </p:nvSpPr>
        <p:spPr>
          <a:xfrm>
            <a:off x="6815667" y="2263932"/>
            <a:ext cx="2444485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 para lograr masa crítica inicial</a:t>
            </a:r>
          </a:p>
        </p:txBody>
      </p:sp>
      <p:sp>
        <p:nvSpPr>
          <p:cNvPr id="53" name="Recursos limitados para marketing y "/>
          <p:cNvSpPr txBox="1"/>
          <p:nvPr/>
        </p:nvSpPr>
        <p:spPr>
          <a:xfrm>
            <a:off x="6815667" y="2539893"/>
            <a:ext cx="2723224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Recursos limitados para marketing y soporte</a:t>
            </a:r>
          </a:p>
        </p:txBody>
      </p:sp>
      <p:sp>
        <p:nvSpPr>
          <p:cNvPr id="54" name="Escasa notoriedad de marca"/>
          <p:cNvSpPr txBox="1"/>
          <p:nvPr/>
        </p:nvSpPr>
        <p:spPr>
          <a:xfrm>
            <a:off x="6815667" y="2815853"/>
            <a:ext cx="1732756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Escasa notoriedad de marca</a:t>
            </a:r>
          </a:p>
        </p:txBody>
      </p:sp>
      <p:sp>
        <p:nvSpPr>
          <p:cNvPr id="55" name="EXTERNO"/>
          <p:cNvSpPr txBox="1"/>
          <p:nvPr/>
        </p:nvSpPr>
        <p:spPr>
          <a:xfrm>
            <a:off x="609600" y="3559175"/>
            <a:ext cx="440267" cy="1688042"/>
          </a:xfrm>
          <a:prstGeom prst="rect">
            <a:avLst/>
          </a:prstGeom>
          <a:noFill/>
          <a:effectLst/>
        </p:spPr>
        <p:txBody>
          <a:bodyPr wrap="square" lIns="0" rIns="0" tIns="0" bIns="0" anchor="ctr" vert="vert270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EXTERNO</a:t>
            </a:r>
          </a:p>
        </p:txBody>
      </p:sp>
      <p:sp>
        <p:nvSpPr>
          <p:cNvPr id="56" name="OPORTUNIDADES"/>
          <p:cNvSpPr txBox="1"/>
          <p:nvPr/>
        </p:nvSpPr>
        <p:spPr>
          <a:xfrm>
            <a:off x="1413933" y="3782039"/>
            <a:ext cx="46905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OPORTUNIDADES</a:t>
            </a:r>
          </a:p>
        </p:txBody>
      </p:sp>
      <p:sp>
        <p:nvSpPr>
          <p:cNvPr id="57" name="Alta informalidad del sector"/>
          <p:cNvSpPr txBox="1"/>
          <p:nvPr/>
        </p:nvSpPr>
        <p:spPr>
          <a:xfrm>
            <a:off x="1549400" y="4036641"/>
            <a:ext cx="1763183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Alta informalidad del sector</a:t>
            </a:r>
          </a:p>
        </p:txBody>
      </p:sp>
      <p:sp>
        <p:nvSpPr>
          <p:cNvPr id="58" name="Crecimiento del mercado digital"/>
          <p:cNvSpPr txBox="1"/>
          <p:nvPr/>
        </p:nvSpPr>
        <p:spPr>
          <a:xfrm>
            <a:off x="1549400" y="4312601"/>
            <a:ext cx="2017712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Crecimiento del mercado digital</a:t>
            </a:r>
          </a:p>
        </p:txBody>
      </p:sp>
      <p:sp>
        <p:nvSpPr>
          <p:cNvPr id="59" name="Mayor confianza en pagos electrónico"/>
          <p:cNvSpPr txBox="1"/>
          <p:nvPr/>
        </p:nvSpPr>
        <p:spPr>
          <a:xfrm>
            <a:off x="1549400" y="4588562"/>
            <a:ext cx="2436680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Mayor confianza en pagos electrónicos</a:t>
            </a:r>
          </a:p>
        </p:txBody>
      </p:sp>
      <p:sp>
        <p:nvSpPr>
          <p:cNvPr id="60" name="Expansión regional: Uruguay y Chile"/>
          <p:cNvSpPr txBox="1"/>
          <p:nvPr/>
        </p:nvSpPr>
        <p:spPr>
          <a:xfrm>
            <a:off x="1549400" y="4864522"/>
            <a:ext cx="2973800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Nuevos mercados en expansión: Uruguay y Chile</a:t>
            </a:r>
          </a:p>
        </p:txBody>
      </p:sp>
      <p:sp>
        <p:nvSpPr>
          <p:cNvPr id="61" name="AMENAZAS"/>
          <p:cNvSpPr txBox="1"/>
          <p:nvPr/>
        </p:nvSpPr>
        <p:spPr>
          <a:xfrm>
            <a:off x="6680200" y="3782039"/>
            <a:ext cx="46905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AMENAZAS</a:t>
            </a:r>
          </a:p>
        </p:txBody>
      </p:sp>
      <p:sp>
        <p:nvSpPr>
          <p:cNvPr id="62" name="Competencia informal (Facebook, What"/>
          <p:cNvSpPr txBox="1"/>
          <p:nvPr/>
        </p:nvSpPr>
        <p:spPr>
          <a:xfrm>
            <a:off x="6815667" y="4036641"/>
            <a:ext cx="2764499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Competencia informal (Facebook, WhatsApp)</a:t>
            </a:r>
          </a:p>
        </p:txBody>
      </p:sp>
      <p:sp>
        <p:nvSpPr>
          <p:cNvPr id="63" name="Competencia consolidada (Zolvers, Ho"/>
          <p:cNvSpPr txBox="1"/>
          <p:nvPr/>
        </p:nvSpPr>
        <p:spPr>
          <a:xfrm>
            <a:off x="6815667" y="4312601"/>
            <a:ext cx="3088614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Competencia consolidada (Zolvers, HomeSolution)</a:t>
            </a:r>
          </a:p>
        </p:txBody>
      </p:sp>
      <p:sp>
        <p:nvSpPr>
          <p:cNvPr id="64" name="Resistencia a la formalización"/>
          <p:cNvSpPr txBox="1"/>
          <p:nvPr/>
        </p:nvSpPr>
        <p:spPr>
          <a:xfrm>
            <a:off x="6815667" y="4588562"/>
            <a:ext cx="1811205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Resistencia a la formalización</a:t>
            </a:r>
          </a:p>
        </p:txBody>
      </p:sp>
      <p:sp>
        <p:nvSpPr>
          <p:cNvPr id="65" name="Inestabilidad económica e inflación"/>
          <p:cNvSpPr txBox="1"/>
          <p:nvPr/>
        </p:nvSpPr>
        <p:spPr>
          <a:xfrm>
            <a:off x="6815667" y="4864522"/>
            <a:ext cx="2171965" cy="1980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Inestabilidad económica e inflación</a:t>
            </a:r>
          </a:p>
        </p:txBody>
      </p:sp>
      <p:sp>
        <p:nvSpPr>
          <p:cNvPr id="66" name="LECTURA ESTRATÉGICA"/>
          <p:cNvSpPr txBox="1"/>
          <p:nvPr/>
        </p:nvSpPr>
        <p:spPr>
          <a:xfrm>
            <a:off x="846667" y="5737839"/>
            <a:ext cx="128375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D97A38"/>
                </a:solidFill>
                <a:latin typeface="IBM Plex Mono SemiBold"/>
                <a:cs typeface="IBM Plex Mono SemiBold"/>
                <a:ea typeface="IBM Plex Mono SemiBold"/>
              </a:rPr>
              <a:t>LECTURA ESTRATÉGICA</a:t>
            </a:r>
          </a:p>
        </p:txBody>
      </p:sp>
      <p:sp>
        <p:nvSpPr>
          <p:cNvPr id="67" name="La informalidad del sector es a la v"/>
          <p:cNvSpPr txBox="1"/>
          <p:nvPr/>
        </p:nvSpPr>
        <p:spPr>
          <a:xfrm>
            <a:off x="2316692" y="5598789"/>
            <a:ext cx="9028642" cy="42988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 Medium"/>
                <a:cs typeface="IBM Plex Sans Medium"/>
                <a:ea typeface="IBM Plex Sans Medium"/>
              </a:rPr>
              <a:t>La informalidad del sector es a la vez </a:t>
            </a:r>
            <a:r>
              <a:rPr b="0" i="0" sz="1170">
                <a:solidFill>
                  <a:srgbClr val="FFFFFF"/>
                </a:solidFill>
                <a:latin typeface="IBM Plex Sans Bold"/>
                <a:cs typeface="IBM Plex Sans Bold"/>
                <a:ea typeface="IBM Plex Sans Bold"/>
              </a:rPr>
              <a:t>la oportunidad</a:t>
            </a:r>
            <a:r>
              <a:rPr b="0" i="0" sz="1170">
                <a:solidFill>
                  <a:srgbClr val="FFFFFF"/>
                </a:solidFill>
                <a:latin typeface="IBM Plex Sans Medium"/>
                <a:cs typeface="IBM Plex Sans Medium"/>
                <a:ea typeface="IBM Plex Sans Medium"/>
              </a:rPr>
              <a:t> y </a:t>
            </a:r>
            <a:r>
              <a:rPr b="0" i="0" sz="1170">
                <a:solidFill>
                  <a:srgbClr val="FFFFFF"/>
                </a:solidFill>
                <a:latin typeface="IBM Plex Sans Bold"/>
                <a:cs typeface="IBM Plex Sans Bold"/>
                <a:ea typeface="IBM Plex Sans Bold"/>
              </a:rPr>
              <a:t>la principal competencia</a:t>
            </a:r>
            <a:r>
              <a:rPr b="0" i="0" sz="1170">
                <a:solidFill>
                  <a:srgbClr val="FFFFFF"/>
                </a:solidFill>
                <a:latin typeface="IBM Plex Sans Medium"/>
                <a:cs typeface="IBM Plex Sans Medium"/>
                <a:ea typeface="IBM Plex Sans Medium"/>
              </a:rPr>
              <a:t>. Nuestras fortalezas son exactamente las capas que la informalidad no puede ofrecer.</a:t>
            </a:r>
          </a:p>
        </p:txBody>
      </p:sp>
      <p:sp>
        <p:nvSpPr>
          <p:cNvPr id="68" name="FODA completo con las siete amenazas"/>
          <p:cNvSpPr txBox="1"/>
          <p:nvPr/>
        </p:nvSpPr>
        <p:spPr>
          <a:xfrm>
            <a:off x="609600" y="6220964"/>
            <a:ext cx="4426479" cy="1544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3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FODA completo con las siete amenazas y las cinco oportunidades identificadas · Anexo</a:t>
            </a:r>
          </a:p>
        </p:txBody>
      </p:sp>
      <p:sp>
        <p:nvSpPr>
          <p:cNvPr id="69" name="0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727200"/>
            <a:ext cx="10972800" cy="3477683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inea"/>
          <p:cNvSpPr/>
          <p:nvPr/>
        </p:nvSpPr>
        <p:spPr>
          <a:xfrm>
            <a:off x="990600" y="2053167"/>
            <a:ext cx="2540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inea"/>
          <p:cNvSpPr/>
          <p:nvPr/>
        </p:nvSpPr>
        <p:spPr>
          <a:xfrm>
            <a:off x="618067" y="3205295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inea"/>
          <p:cNvSpPr/>
          <p:nvPr/>
        </p:nvSpPr>
        <p:spPr>
          <a:xfrm>
            <a:off x="618067" y="4073922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inea"/>
          <p:cNvSpPr/>
          <p:nvPr/>
        </p:nvSpPr>
        <p:spPr>
          <a:xfrm>
            <a:off x="6091767" y="1735667"/>
            <a:ext cx="8467" cy="346075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inea"/>
          <p:cNvSpPr/>
          <p:nvPr/>
        </p:nvSpPr>
        <p:spPr>
          <a:xfrm>
            <a:off x="6472767" y="2053167"/>
            <a:ext cx="2540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inea"/>
          <p:cNvSpPr/>
          <p:nvPr/>
        </p:nvSpPr>
        <p:spPr>
          <a:xfrm>
            <a:off x="6100233" y="3331633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6100233" y="4137025"/>
            <a:ext cx="54737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09600" y="5391150"/>
            <a:ext cx="10972800" cy="874183"/>
          </a:xfrm>
          <a:prstGeom prst="roundRect">
            <a:avLst>
              <a:gd name="adj" fmla="val 4842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3766608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linea"/>
          <p:cNvSpPr/>
          <p:nvPr/>
        </p:nvSpPr>
        <p:spPr>
          <a:xfrm>
            <a:off x="4943475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linea"/>
          <p:cNvSpPr/>
          <p:nvPr/>
        </p:nvSpPr>
        <p:spPr>
          <a:xfrm>
            <a:off x="6244034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linea"/>
          <p:cNvSpPr/>
          <p:nvPr/>
        </p:nvSpPr>
        <p:spPr>
          <a:xfrm>
            <a:off x="7050087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inea"/>
          <p:cNvSpPr/>
          <p:nvPr/>
        </p:nvSpPr>
        <p:spPr>
          <a:xfrm>
            <a:off x="8288867" y="6019800"/>
            <a:ext cx="321733" cy="8467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ropuesta de valor"/>
          <p:cNvSpPr txBox="1"/>
          <p:nvPr/>
        </p:nvSpPr>
        <p:spPr>
          <a:xfrm>
            <a:off x="609600" y="469114"/>
            <a:ext cx="5445786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Propuesta de valor</a:t>
            </a:r>
          </a:p>
        </p:txBody>
      </p:sp>
      <p:sp>
        <p:nvSpPr>
          <p:cNvPr id="19" name="Contratar un trabajador de oficio de"/>
          <p:cNvSpPr txBox="1"/>
          <p:nvPr/>
        </p:nvSpPr>
        <p:spPr>
          <a:xfrm>
            <a:off x="609600" y="1010012"/>
            <a:ext cx="5445786" cy="2660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4E5C73"/>
                </a:solidFill>
                <a:latin typeface="Archivo SemiBold"/>
                <a:cs typeface="Archivo SemiBold"/>
                <a:ea typeface="Archivo SemiBold"/>
              </a:rPr>
              <a:t>Contratar un trabajador de oficio de forma </a:t>
            </a:r>
            <a:r>
              <a:rPr b="0" i="0" sz="1400" spc="-17">
                <a:solidFill>
                  <a:srgbClr val="0D1520"/>
                </a:solidFill>
                <a:latin typeface="Archivo SemiBold"/>
                <a:cs typeface="Archivo SemiBold"/>
                <a:ea typeface="Archivo SemiBold"/>
              </a:rPr>
              <a:t>segura, simple y confiable</a:t>
            </a:r>
            <a:r>
              <a:rPr b="0" i="0" sz="1400" spc="-17">
                <a:solidFill>
                  <a:srgbClr val="4E5C73"/>
                </a:solidFill>
                <a:latin typeface="Archivo SemiBold"/>
                <a:cs typeface="Archivo SemiBold"/>
                <a:ea typeface="Archivo SemiBold"/>
              </a:rPr>
              <a:t>.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1" name="PARA HOGARES Y PYMES"/>
          <p:cNvSpPr txBox="1"/>
          <p:nvPr/>
        </p:nvSpPr>
        <p:spPr>
          <a:xfrm>
            <a:off x="1354667" y="2009330"/>
            <a:ext cx="13504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PARA HOGARES Y PYMES</a:t>
            </a:r>
          </a:p>
        </p:txBody>
      </p:sp>
      <p:sp>
        <p:nvSpPr>
          <p:cNvPr id="22" name="Confianza"/>
          <p:cNvSpPr txBox="1"/>
          <p:nvPr/>
        </p:nvSpPr>
        <p:spPr>
          <a:xfrm>
            <a:off x="990600" y="2640606"/>
            <a:ext cx="1625600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Confianza</a:t>
            </a:r>
          </a:p>
        </p:txBody>
      </p:sp>
      <p:sp>
        <p:nvSpPr>
          <p:cNvPr id="23" name="Trabajadores verificados y con reseñ"/>
          <p:cNvSpPr txBox="1"/>
          <p:nvPr/>
        </p:nvSpPr>
        <p:spPr>
          <a:xfrm>
            <a:off x="2785533" y="2697373"/>
            <a:ext cx="2402814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 verificados y con reseñas.</a:t>
            </a:r>
          </a:p>
        </p:txBody>
      </p:sp>
      <p:sp>
        <p:nvSpPr>
          <p:cNvPr id="24" name="Rapidez"/>
          <p:cNvSpPr txBox="1"/>
          <p:nvPr/>
        </p:nvSpPr>
        <p:spPr>
          <a:xfrm>
            <a:off x="990600" y="3509100"/>
            <a:ext cx="1625600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Rapidez</a:t>
            </a:r>
          </a:p>
        </p:txBody>
      </p:sp>
      <p:sp>
        <p:nvSpPr>
          <p:cNvPr id="25" name="Encontrar a alguien cerca, sin perde"/>
          <p:cNvSpPr txBox="1"/>
          <p:nvPr/>
        </p:nvSpPr>
        <p:spPr>
          <a:xfrm>
            <a:off x="2785533" y="3565868"/>
            <a:ext cx="2731558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Encontrar a alguien cerca, sin perder tiempo.</a:t>
            </a:r>
          </a:p>
        </p:txBody>
      </p:sp>
      <p:sp>
        <p:nvSpPr>
          <p:cNvPr id="26" name="Respaldo"/>
          <p:cNvSpPr txBox="1"/>
          <p:nvPr/>
        </p:nvSpPr>
        <p:spPr>
          <a:xfrm>
            <a:off x="990600" y="4377727"/>
            <a:ext cx="1625600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Respaldo</a:t>
            </a:r>
          </a:p>
        </p:txBody>
      </p:sp>
      <p:sp>
        <p:nvSpPr>
          <p:cNvPr id="27" name="Precio acordado y seguimiento del tr"/>
          <p:cNvSpPr txBox="1"/>
          <p:nvPr/>
        </p:nvSpPr>
        <p:spPr>
          <a:xfrm>
            <a:off x="2785533" y="4434495"/>
            <a:ext cx="2598341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 acordado y seguimiento del trabajo.</a:t>
            </a:r>
          </a:p>
        </p:txBody>
      </p:sp>
      <p:sp>
        <p:nvSpPr>
          <p:cNvPr id="28" name="PARA TRABAJADORES"/>
          <p:cNvSpPr txBox="1"/>
          <p:nvPr/>
        </p:nvSpPr>
        <p:spPr>
          <a:xfrm>
            <a:off x="6836833" y="2009330"/>
            <a:ext cx="115040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PARA TRABAJADORES</a:t>
            </a:r>
          </a:p>
        </p:txBody>
      </p:sp>
      <p:sp>
        <p:nvSpPr>
          <p:cNvPr id="29" name="Más clientes"/>
          <p:cNvSpPr txBox="1"/>
          <p:nvPr/>
        </p:nvSpPr>
        <p:spPr>
          <a:xfrm>
            <a:off x="6472767" y="2608988"/>
            <a:ext cx="1896533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Más clientes</a:t>
            </a:r>
          </a:p>
        </p:txBody>
      </p:sp>
      <p:sp>
        <p:nvSpPr>
          <p:cNvPr id="30" name="Trabajos fuera de sus contactos de s"/>
          <p:cNvSpPr txBox="1"/>
          <p:nvPr/>
        </p:nvSpPr>
        <p:spPr>
          <a:xfrm>
            <a:off x="8538633" y="2665755"/>
            <a:ext cx="2662767" cy="40449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Trabajos fuera de sus contactos de siempre.</a:t>
            </a:r>
          </a:p>
        </p:txBody>
      </p:sp>
      <p:sp>
        <p:nvSpPr>
          <p:cNvPr id="31" name="Reputación"/>
          <p:cNvSpPr txBox="1"/>
          <p:nvPr/>
        </p:nvSpPr>
        <p:spPr>
          <a:xfrm>
            <a:off x="6472767" y="3603954"/>
            <a:ext cx="1896533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Reputación</a:t>
            </a:r>
          </a:p>
        </p:txBody>
      </p:sp>
      <p:sp>
        <p:nvSpPr>
          <p:cNvPr id="32" name="Cada trabajo suma reseñas a su perfi"/>
          <p:cNvSpPr txBox="1"/>
          <p:nvPr/>
        </p:nvSpPr>
        <p:spPr>
          <a:xfrm>
            <a:off x="8538633" y="3660721"/>
            <a:ext cx="2328730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Cada trabajo suma reseñas a su perfil.</a:t>
            </a:r>
          </a:p>
        </p:txBody>
      </p:sp>
      <p:sp>
        <p:nvSpPr>
          <p:cNvPr id="33" name="Profesionalización"/>
          <p:cNvSpPr txBox="1"/>
          <p:nvPr/>
        </p:nvSpPr>
        <p:spPr>
          <a:xfrm>
            <a:off x="6472767" y="4409213"/>
            <a:ext cx="1896533" cy="251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00" spc="-32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Profesionalización</a:t>
            </a:r>
          </a:p>
        </p:txBody>
      </p:sp>
      <p:sp>
        <p:nvSpPr>
          <p:cNvPr id="34" name="Cobro seguro y trabajo más ordenado."/>
          <p:cNvSpPr txBox="1"/>
          <p:nvPr/>
        </p:nvSpPr>
        <p:spPr>
          <a:xfrm>
            <a:off x="8538633" y="4465980"/>
            <a:ext cx="2322909" cy="214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Cobro seguro y trabajo más ordenado.</a:t>
            </a:r>
          </a:p>
        </p:txBody>
      </p:sp>
      <p:sp>
        <p:nvSpPr>
          <p:cNvPr id="35" name="OFIX acompaña todo el proceso, desde"/>
          <p:cNvSpPr txBox="1"/>
          <p:nvPr/>
        </p:nvSpPr>
        <p:spPr>
          <a:xfrm>
            <a:off x="880533" y="5577651"/>
            <a:ext cx="10430933" cy="2474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5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OFIX acompaña todo el proceso, desde la solicitud hasta la reseña.</a:t>
            </a:r>
          </a:p>
        </p:txBody>
      </p:sp>
      <p:sp>
        <p:nvSpPr>
          <p:cNvPr id="36" name="SOLICITUD"/>
          <p:cNvSpPr txBox="1"/>
          <p:nvPr/>
        </p:nvSpPr>
        <p:spPr>
          <a:xfrm>
            <a:off x="3091789" y="5971197"/>
            <a:ext cx="57322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SOLICITUD</a:t>
            </a:r>
          </a:p>
        </p:txBody>
      </p:sp>
      <p:sp>
        <p:nvSpPr>
          <p:cNvPr id="37" name="PROPUESTAS"/>
          <p:cNvSpPr txBox="1"/>
          <p:nvPr/>
        </p:nvSpPr>
        <p:spPr>
          <a:xfrm>
            <a:off x="4206875" y="5971197"/>
            <a:ext cx="6350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PROPUESTAS</a:t>
            </a:r>
          </a:p>
        </p:txBody>
      </p:sp>
      <p:sp>
        <p:nvSpPr>
          <p:cNvPr id="38" name="CONTRATACIÓN"/>
          <p:cNvSpPr txBox="1"/>
          <p:nvPr/>
        </p:nvSpPr>
        <p:spPr>
          <a:xfrm>
            <a:off x="5383742" y="5971197"/>
            <a:ext cx="758693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CONTRATACIÓN</a:t>
            </a:r>
          </a:p>
        </p:txBody>
      </p:sp>
      <p:sp>
        <p:nvSpPr>
          <p:cNvPr id="39" name="PAGO"/>
          <p:cNvSpPr txBox="1"/>
          <p:nvPr/>
        </p:nvSpPr>
        <p:spPr>
          <a:xfrm>
            <a:off x="6684301" y="5971197"/>
            <a:ext cx="264186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PAGO</a:t>
            </a:r>
          </a:p>
        </p:txBody>
      </p:sp>
      <p:sp>
        <p:nvSpPr>
          <p:cNvPr id="40" name="SEGUIMIENTO"/>
          <p:cNvSpPr txBox="1"/>
          <p:nvPr/>
        </p:nvSpPr>
        <p:spPr>
          <a:xfrm>
            <a:off x="7490354" y="5971197"/>
            <a:ext cx="696912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SEGUIMIENTO</a:t>
            </a:r>
          </a:p>
        </p:txBody>
      </p:sp>
      <p:sp>
        <p:nvSpPr>
          <p:cNvPr id="41" name="RESEÑA"/>
          <p:cNvSpPr txBox="1"/>
          <p:nvPr/>
        </p:nvSpPr>
        <p:spPr>
          <a:xfrm>
            <a:off x="8729133" y="5971197"/>
            <a:ext cx="387879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87">
                <a:solidFill>
                  <a:srgbClr val="FFFFFF"/>
                </a:solidFill>
                <a:latin typeface="IBM Plex Mono"/>
                <a:cs typeface="IBM Plex Mono"/>
                <a:ea typeface="IBM Plex Mono"/>
              </a:rPr>
              <a:t>RESEÑA</a:t>
            </a:r>
          </a:p>
        </p:txBody>
      </p:sp>
      <p:sp>
        <p:nvSpPr>
          <p:cNvPr id="42" name="0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41</a:t>
            </a:r>
          </a:p>
        </p:txBody>
      </p:sp>
      <p:sp>
        <p:nvSpPr>
          <p:cNvPr id="4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74800"/>
            <a:ext cx="3510756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top"/>
          <p:cNvSpPr/>
          <p:nvPr/>
        </p:nvSpPr>
        <p:spPr>
          <a:xfrm>
            <a:off x="609600" y="1574800"/>
            <a:ext cx="3510756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right"/>
          <p:cNvSpPr/>
          <p:nvPr/>
        </p:nvSpPr>
        <p:spPr>
          <a:xfrm>
            <a:off x="411189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4478867"/>
            <a:ext cx="351075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905933" y="1938867"/>
            <a:ext cx="491067" cy="4910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grafico" descr="05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67" y="2070100"/>
            <a:ext cx="228600" cy="228600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4340490" y="1574800"/>
            <a:ext cx="3510889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4340490" y="1574800"/>
            <a:ext cx="3510889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right"/>
          <p:cNvSpPr/>
          <p:nvPr/>
        </p:nvSpPr>
        <p:spPr>
          <a:xfrm>
            <a:off x="784291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4340490" y="4478867"/>
            <a:ext cx="35108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left"/>
          <p:cNvSpPr/>
          <p:nvPr/>
        </p:nvSpPr>
        <p:spPr>
          <a:xfrm>
            <a:off x="4340490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4636823" y="1938867"/>
            <a:ext cx="491067" cy="4910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grafico" descr="05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056" y="2070100"/>
            <a:ext cx="228600" cy="228600"/>
          </a:xfrm>
          <a:prstGeom prst="rect">
            <a:avLst/>
          </a:prstGeom>
          <a:effectLst/>
        </p:spPr>
      </p:pic>
      <p:sp>
        <p:nvSpPr>
          <p:cNvPr id="18" name="caja"/>
          <p:cNvSpPr/>
          <p:nvPr/>
        </p:nvSpPr>
        <p:spPr>
          <a:xfrm>
            <a:off x="8071511" y="1574800"/>
            <a:ext cx="3510756" cy="2912533"/>
          </a:xfrm>
          <a:prstGeom prst="roundRect">
            <a:avLst>
              <a:gd name="adj" fmla="val 145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top"/>
          <p:cNvSpPr/>
          <p:nvPr/>
        </p:nvSpPr>
        <p:spPr>
          <a:xfrm>
            <a:off x="8071511" y="1574800"/>
            <a:ext cx="3510756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right"/>
          <p:cNvSpPr/>
          <p:nvPr/>
        </p:nvSpPr>
        <p:spPr>
          <a:xfrm>
            <a:off x="1157380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bottom"/>
          <p:cNvSpPr/>
          <p:nvPr/>
        </p:nvSpPr>
        <p:spPr>
          <a:xfrm>
            <a:off x="8071511" y="4478867"/>
            <a:ext cx="351075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left"/>
          <p:cNvSpPr/>
          <p:nvPr/>
        </p:nvSpPr>
        <p:spPr>
          <a:xfrm>
            <a:off x="8071511" y="1574800"/>
            <a:ext cx="8467" cy="29125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8367845" y="1938867"/>
            <a:ext cx="491067" cy="491067"/>
          </a:xfrm>
          <a:prstGeom prst="ellipse">
            <a:avLst/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grafico" descr="05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078" y="2070100"/>
            <a:ext cx="228600" cy="228600"/>
          </a:xfrm>
          <a:prstGeom prst="rect">
            <a:avLst/>
          </a:prstGeom>
          <a:effectLst/>
        </p:spPr>
      </p:pic>
      <p:sp>
        <p:nvSpPr>
          <p:cNvPr id="25" name="Principales beneficios"/>
          <p:cNvSpPr txBox="1"/>
          <p:nvPr/>
        </p:nvSpPr>
        <p:spPr>
          <a:xfrm>
            <a:off x="609600" y="469114"/>
            <a:ext cx="4987793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Principales beneficios</a:t>
            </a:r>
          </a:p>
        </p:txBody>
      </p:sp>
      <p:sp>
        <p:nvSpPr>
          <p:cNvPr id="2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7" name="Confianza y transparencia"/>
          <p:cNvSpPr txBox="1"/>
          <p:nvPr/>
        </p:nvSpPr>
        <p:spPr>
          <a:xfrm>
            <a:off x="905933" y="2626361"/>
            <a:ext cx="2935023" cy="2406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28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Confianza y transparencia</a:t>
            </a:r>
          </a:p>
        </p:txBody>
      </p:sp>
      <p:sp>
        <p:nvSpPr>
          <p:cNvPr id="28" name="Perfiles verificados, reseñas reales"/>
          <p:cNvSpPr txBox="1"/>
          <p:nvPr/>
        </p:nvSpPr>
        <p:spPr>
          <a:xfrm>
            <a:off x="905933" y="2980371"/>
            <a:ext cx="2918090" cy="6485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Perfiles verificados, reseñas reales y mayor claridad en la contratación, reduciendo la incertidumbre para quienes buscan un servicio.</a:t>
            </a:r>
          </a:p>
        </p:txBody>
      </p:sp>
      <p:sp>
        <p:nvSpPr>
          <p:cNvPr id="29" name="Rapidez y cercanía"/>
          <p:cNvSpPr txBox="1"/>
          <p:nvPr/>
        </p:nvSpPr>
        <p:spPr>
          <a:xfrm>
            <a:off x="4636823" y="2626361"/>
            <a:ext cx="2935155" cy="2406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28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Rapidez y cercanía</a:t>
            </a:r>
          </a:p>
        </p:txBody>
      </p:sp>
      <p:sp>
        <p:nvSpPr>
          <p:cNvPr id="30" name="Búsqueda por ubicación y respuesta m"/>
          <p:cNvSpPr txBox="1"/>
          <p:nvPr/>
        </p:nvSpPr>
        <p:spPr>
          <a:xfrm>
            <a:off x="4636823" y="2980371"/>
            <a:ext cx="2918222" cy="6485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Búsqueda por ubicación y respuesta más ágil ante necesidades urgentes, facilitando el acceso a trabajadores disponibles.</a:t>
            </a:r>
          </a:p>
        </p:txBody>
      </p:sp>
      <p:sp>
        <p:nvSpPr>
          <p:cNvPr id="31" name="Visibilidad y crecimiento"/>
          <p:cNvSpPr txBox="1"/>
          <p:nvPr/>
        </p:nvSpPr>
        <p:spPr>
          <a:xfrm>
            <a:off x="8367845" y="2626361"/>
            <a:ext cx="2935023" cy="2406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28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Visibilidad y crecimiento</a:t>
            </a:r>
          </a:p>
        </p:txBody>
      </p:sp>
      <p:sp>
        <p:nvSpPr>
          <p:cNvPr id="32" name="Mayor exposición para los trabajador"/>
          <p:cNvSpPr txBox="1"/>
          <p:nvPr/>
        </p:nvSpPr>
        <p:spPr>
          <a:xfrm>
            <a:off x="8367845" y="2980371"/>
            <a:ext cx="2968890" cy="8584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Mayor exposición para los trabajadores, acceso a nuevos clientes y construcción de una reputación verificable que impulsa su desarrollo profesional.</a:t>
            </a:r>
          </a:p>
        </p:txBody>
      </p:sp>
      <p:sp>
        <p:nvSpPr>
          <p:cNvPr id="33" name="0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693333"/>
            <a:ext cx="10972800" cy="2080022"/>
          </a:xfrm>
          <a:prstGeom prst="roundRect">
            <a:avLst>
              <a:gd name="adj" fmla="val 2035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1540933" y="2114285"/>
            <a:ext cx="660400" cy="660400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grafico" descr="06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0" y="2300552"/>
            <a:ext cx="287867" cy="287867"/>
          </a:xfrm>
          <a:prstGeom prst="rect">
            <a:avLst/>
          </a:prstGeom>
          <a:effectLst/>
        </p:spPr>
      </p:pic>
      <p:pic>
        <p:nvPicPr>
          <p:cNvPr id="7" name="grafico" descr="0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867" y="2712111"/>
            <a:ext cx="1913467" cy="93133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5621867" y="2114285"/>
            <a:ext cx="660400" cy="660400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grafico" descr="0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8133" y="2300552"/>
            <a:ext cx="287867" cy="287867"/>
          </a:xfrm>
          <a:prstGeom prst="rect">
            <a:avLst/>
          </a:prstGeom>
          <a:effectLst/>
        </p:spPr>
      </p:pic>
      <p:pic>
        <p:nvPicPr>
          <p:cNvPr id="10" name="grafico" descr="06_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800" y="2712111"/>
            <a:ext cx="1913467" cy="931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9118600" y="2023533"/>
            <a:ext cx="2116667" cy="1470422"/>
          </a:xfrm>
          <a:prstGeom prst="roundRect">
            <a:avLst>
              <a:gd name="adj" fmla="val 2878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9555427" y="3019822"/>
            <a:ext cx="1243012" cy="220133"/>
          </a:xfrm>
          <a:prstGeom prst="roundRect">
            <a:avLst>
              <a:gd name="adj" fmla="val 11538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4255029"/>
            <a:ext cx="10972800" cy="818885"/>
          </a:xfrm>
          <a:prstGeom prst="roundRect">
            <a:avLst>
              <a:gd name="adj" fmla="val 516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09600" y="5555589"/>
            <a:ext cx="5384800" cy="709745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197600" y="5555589"/>
            <a:ext cx="5384800" cy="709745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DELO DE NEGOCIO"/>
          <p:cNvSpPr txBox="1"/>
          <p:nvPr/>
        </p:nvSpPr>
        <p:spPr>
          <a:xfrm>
            <a:off x="609600" y="469114"/>
            <a:ext cx="5203560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MODELO DE NEGOCIO</a:t>
            </a:r>
          </a:p>
        </p:txBody>
      </p:sp>
      <p:sp>
        <p:nvSpPr>
          <p:cNvPr id="17" name="OFIX cobra una comisión del 20% por "/>
          <p:cNvSpPr txBox="1"/>
          <p:nvPr/>
        </p:nvSpPr>
        <p:spPr>
          <a:xfrm>
            <a:off x="609600" y="994856"/>
            <a:ext cx="5203560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4E5C73"/>
                </a:solidFill>
                <a:latin typeface="Archivo SemiBold"/>
                <a:cs typeface="Archivo SemiBold"/>
                <a:ea typeface="Archivo SemiBold"/>
              </a:rPr>
              <a:t>OFIX cobra una comisión del 20% por cada servicio realizado.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9" name="El usuario paga"/>
          <p:cNvSpPr txBox="1"/>
          <p:nvPr/>
        </p:nvSpPr>
        <p:spPr>
          <a:xfrm>
            <a:off x="939800" y="2891423"/>
            <a:ext cx="1862667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A2540"/>
                </a:solidFill>
                <a:latin typeface="Archivo ExtraBold"/>
                <a:cs typeface="Archivo ExtraBold"/>
                <a:ea typeface="Archivo ExtraBold"/>
              </a:rPr>
              <a:t>El usuario paga</a:t>
            </a:r>
          </a:p>
        </p:txBody>
      </p:sp>
      <p:sp>
        <p:nvSpPr>
          <p:cNvPr id="20" name="USD 89"/>
          <p:cNvSpPr txBox="1"/>
          <p:nvPr/>
        </p:nvSpPr>
        <p:spPr>
          <a:xfrm>
            <a:off x="939800" y="3190025"/>
            <a:ext cx="1862667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USD 89</a:t>
            </a:r>
          </a:p>
        </p:txBody>
      </p:sp>
      <p:sp>
        <p:nvSpPr>
          <p:cNvPr id="21" name="El trabajador recibe"/>
          <p:cNvSpPr txBox="1"/>
          <p:nvPr/>
        </p:nvSpPr>
        <p:spPr>
          <a:xfrm>
            <a:off x="5020733" y="2891423"/>
            <a:ext cx="1862667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A2540"/>
                </a:solidFill>
                <a:latin typeface="Archivo ExtraBold"/>
                <a:cs typeface="Archivo ExtraBold"/>
                <a:ea typeface="Archivo ExtraBold"/>
              </a:rPr>
              <a:t>El trabajador recibe</a:t>
            </a:r>
          </a:p>
        </p:txBody>
      </p:sp>
      <p:sp>
        <p:nvSpPr>
          <p:cNvPr id="22" name="USD 71,20"/>
          <p:cNvSpPr txBox="1"/>
          <p:nvPr/>
        </p:nvSpPr>
        <p:spPr>
          <a:xfrm>
            <a:off x="5020733" y="3190025"/>
            <a:ext cx="1862667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USD 71,20</a:t>
            </a:r>
          </a:p>
        </p:txBody>
      </p:sp>
      <p:sp>
        <p:nvSpPr>
          <p:cNvPr id="23" name="Comisión OFIX"/>
          <p:cNvSpPr txBox="1"/>
          <p:nvPr/>
        </p:nvSpPr>
        <p:spPr>
          <a:xfrm>
            <a:off x="9581753" y="2257597"/>
            <a:ext cx="1190228" cy="2062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25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Comisión OFIX</a:t>
            </a:r>
          </a:p>
        </p:txBody>
      </p:sp>
      <p:sp>
        <p:nvSpPr>
          <p:cNvPr id="24" name="USD 17,80"/>
          <p:cNvSpPr txBox="1"/>
          <p:nvPr/>
        </p:nvSpPr>
        <p:spPr>
          <a:xfrm>
            <a:off x="9271000" y="2630175"/>
            <a:ext cx="1811867" cy="341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7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101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USD 17,80</a:t>
            </a:r>
          </a:p>
        </p:txBody>
      </p:sp>
      <p:sp>
        <p:nvSpPr>
          <p:cNvPr id="25" name="20% DE COMISIÓN"/>
          <p:cNvSpPr txBox="1"/>
          <p:nvPr/>
        </p:nvSpPr>
        <p:spPr>
          <a:xfrm>
            <a:off x="9538494" y="3004035"/>
            <a:ext cx="1276879" cy="2020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20% DE COMISIÓN</a:t>
            </a:r>
          </a:p>
        </p:txBody>
      </p:sp>
      <p:sp>
        <p:nvSpPr>
          <p:cNvPr id="26" name="20%"/>
          <p:cNvSpPr txBox="1"/>
          <p:nvPr/>
        </p:nvSpPr>
        <p:spPr>
          <a:xfrm>
            <a:off x="897467" y="4532163"/>
            <a:ext cx="949457" cy="4610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8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470" spc="-139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20%</a:t>
            </a:r>
          </a:p>
        </p:txBody>
      </p:sp>
      <p:sp>
        <p:nvSpPr>
          <p:cNvPr id="27" name="De cada servicio realizado, OFIX cob"/>
          <p:cNvSpPr txBox="1"/>
          <p:nvPr/>
        </p:nvSpPr>
        <p:spPr>
          <a:xfrm>
            <a:off x="2083991" y="4551196"/>
            <a:ext cx="6930496" cy="2435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 cada servicio realizado, </a:t>
            </a:r>
            <a:r>
              <a:rPr b="0" i="0" sz="12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OFIX cobra una comisión del 20%</a:t>
            </a:r>
            <a:r>
              <a:rPr b="0" i="0" sz="12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y el trabajador recibe el </a:t>
            </a:r>
            <a:r>
              <a:rPr b="0" i="0" sz="12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80% restante</a:t>
            </a:r>
            <a:r>
              <a:rPr b="0" i="0" sz="12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28" name="TRANSACCIONES PROYECTADAS"/>
          <p:cNvSpPr txBox="1"/>
          <p:nvPr/>
        </p:nvSpPr>
        <p:spPr>
          <a:xfrm>
            <a:off x="872067" y="5769192"/>
            <a:ext cx="168380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TRANSACCIONES PROYECTADAS</a:t>
            </a:r>
          </a:p>
        </p:txBody>
      </p:sp>
      <p:sp>
        <p:nvSpPr>
          <p:cNvPr id="29" name="AÑO 1"/>
          <p:cNvSpPr txBox="1"/>
          <p:nvPr/>
        </p:nvSpPr>
        <p:spPr>
          <a:xfrm>
            <a:off x="872067" y="5939058"/>
            <a:ext cx="1683808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9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AÑO 1</a:t>
            </a:r>
          </a:p>
        </p:txBody>
      </p:sp>
      <p:sp>
        <p:nvSpPr>
          <p:cNvPr id="30" name="7.800"/>
          <p:cNvSpPr txBox="1"/>
          <p:nvPr/>
        </p:nvSpPr>
        <p:spPr>
          <a:xfrm>
            <a:off x="4753636" y="5797251"/>
            <a:ext cx="995230" cy="3926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930" spc="-117">
                <a:solidFill>
                  <a:srgbClr val="0A2540"/>
                </a:solidFill>
                <a:latin typeface="Archivo ExtraBold"/>
                <a:cs typeface="Archivo ExtraBold"/>
                <a:ea typeface="Archivo ExtraBold"/>
              </a:rPr>
              <a:t>7.800</a:t>
            </a:r>
          </a:p>
        </p:txBody>
      </p:sp>
      <p:sp>
        <p:nvSpPr>
          <p:cNvPr id="31" name="TICKET PROMEDIO"/>
          <p:cNvSpPr txBox="1"/>
          <p:nvPr/>
        </p:nvSpPr>
        <p:spPr>
          <a:xfrm>
            <a:off x="6460067" y="5853858"/>
            <a:ext cx="101705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TICKET PROMEDIO</a:t>
            </a:r>
          </a:p>
        </p:txBody>
      </p:sp>
      <p:sp>
        <p:nvSpPr>
          <p:cNvPr id="32" name="USD 89"/>
          <p:cNvSpPr txBox="1"/>
          <p:nvPr/>
        </p:nvSpPr>
        <p:spPr>
          <a:xfrm>
            <a:off x="10039085" y="5797251"/>
            <a:ext cx="1297781" cy="3926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930" spc="-117">
                <a:solidFill>
                  <a:srgbClr val="0A2540"/>
                </a:solidFill>
                <a:latin typeface="Archivo ExtraBold"/>
                <a:cs typeface="Archivo ExtraBold"/>
                <a:ea typeface="Archivo ExtraBold"/>
              </a:rPr>
              <a:t>USD 89</a:t>
            </a:r>
          </a:p>
        </p:txBody>
      </p:sp>
      <p:sp>
        <p:nvSpPr>
          <p:cNvPr id="33" name="0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4326467" y="2218267"/>
            <a:ext cx="5511800" cy="406400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7103533" y="2218267"/>
            <a:ext cx="2726267" cy="2057400"/>
          </a:xfrm>
          <a:prstGeom prst="rect">
            <a:avLst/>
          </a:prstGeom>
          <a:solidFill>
            <a:srgbClr val="EAF0FB">
              <a:alpha val="7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inea"/>
          <p:cNvSpPr/>
          <p:nvPr/>
        </p:nvSpPr>
        <p:spPr>
          <a:xfrm>
            <a:off x="5715000" y="2218267"/>
            <a:ext cx="8467" cy="406400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inea"/>
          <p:cNvSpPr/>
          <p:nvPr/>
        </p:nvSpPr>
        <p:spPr>
          <a:xfrm>
            <a:off x="8492067" y="2218267"/>
            <a:ext cx="8467" cy="4064000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inea"/>
          <p:cNvSpPr/>
          <p:nvPr/>
        </p:nvSpPr>
        <p:spPr>
          <a:xfrm>
            <a:off x="4326467" y="3251200"/>
            <a:ext cx="5511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inea"/>
          <p:cNvSpPr/>
          <p:nvPr/>
        </p:nvSpPr>
        <p:spPr>
          <a:xfrm>
            <a:off x="4326467" y="5283200"/>
            <a:ext cx="5511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inea"/>
          <p:cNvSpPr/>
          <p:nvPr/>
        </p:nvSpPr>
        <p:spPr>
          <a:xfrm>
            <a:off x="7095067" y="2218267"/>
            <a:ext cx="16933" cy="4064000"/>
          </a:xfrm>
          <a:prstGeom prst="rect">
            <a:avLst/>
          </a:prstGeom>
          <a:solidFill>
            <a:srgbClr val="C3CC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4326467" y="4275667"/>
            <a:ext cx="5511800" cy="16933"/>
          </a:xfrm>
          <a:prstGeom prst="rect">
            <a:avLst/>
          </a:prstGeom>
          <a:solidFill>
            <a:srgbClr val="C3CC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8542867" y="28194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5875867" y="3268133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4749800" y="3759200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7061200" y="3869267"/>
            <a:ext cx="101600" cy="10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E5C7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8525933" y="3310467"/>
            <a:ext cx="135467" cy="135467"/>
          </a:xfrm>
          <a:prstGeom prst="ellipse">
            <a:avLst/>
          </a:prstGeom>
          <a:solidFill>
            <a:srgbClr val="1B54D6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8009004" y="3623733"/>
            <a:ext cx="1169326" cy="414867"/>
          </a:xfrm>
          <a:prstGeom prst="roundRect">
            <a:avLst>
              <a:gd name="adj" fmla="val 816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grafico" descr="07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796" y="3746500"/>
            <a:ext cx="169333" cy="169333"/>
          </a:xfrm>
          <a:prstGeom prst="rect">
            <a:avLst/>
          </a:prstGeom>
          <a:effectLst/>
        </p:spPr>
      </p:pic>
      <p:sp>
        <p:nvSpPr>
          <p:cNvPr id="19" name="Benchmark + Posicionamiento"/>
          <p:cNvSpPr txBox="1"/>
          <p:nvPr/>
        </p:nvSpPr>
        <p:spPr>
          <a:xfrm>
            <a:off x="609600" y="488528"/>
            <a:ext cx="3247390" cy="84968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Benchmark + Posicionamiento</a:t>
            </a:r>
          </a:p>
        </p:txBody>
      </p:sp>
      <p:sp>
        <p:nvSpPr>
          <p:cNvPr id="20" name="Dónde estamos parados frente a los c"/>
          <p:cNvSpPr txBox="1"/>
          <p:nvPr/>
        </p:nvSpPr>
        <p:spPr>
          <a:xfrm>
            <a:off x="609600" y="1467320"/>
            <a:ext cx="2311400" cy="45211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Dónde estamos parados frente a los competidores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2" name="+ CALIDAD"/>
          <p:cNvSpPr txBox="1"/>
          <p:nvPr/>
        </p:nvSpPr>
        <p:spPr>
          <a:xfrm>
            <a:off x="7027333" y="1899264"/>
            <a:ext cx="61700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+ CALIDAD</a:t>
            </a:r>
          </a:p>
        </p:txBody>
      </p:sp>
      <p:sp>
        <p:nvSpPr>
          <p:cNvPr id="23" name="− CALIDAD"/>
          <p:cNvSpPr txBox="1"/>
          <p:nvPr/>
        </p:nvSpPr>
        <p:spPr>
          <a:xfrm>
            <a:off x="7027333" y="6454330"/>
            <a:ext cx="61700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− CALIDAD</a:t>
            </a:r>
          </a:p>
        </p:txBody>
      </p:sp>
      <p:sp>
        <p:nvSpPr>
          <p:cNvPr id="24" name="− GEOLOCALIZACIÓNY TRAZABILIDAD"/>
          <p:cNvSpPr txBox="1"/>
          <p:nvPr/>
        </p:nvSpPr>
        <p:spPr>
          <a:xfrm>
            <a:off x="2421467" y="4089484"/>
            <a:ext cx="1659467" cy="29244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− GEOLOCALIZACIÓN</a:t>
            </a:r>
          </a:p>
          <a:p>
            <a:pPr algn="r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Y TRAZABILIDAD</a:t>
            </a:r>
          </a:p>
        </p:txBody>
      </p:sp>
      <p:sp>
        <p:nvSpPr>
          <p:cNvPr id="25" name="+ GEOLOCALIZACIÓNY TRAZABILIDAD"/>
          <p:cNvSpPr txBox="1"/>
          <p:nvPr/>
        </p:nvSpPr>
        <p:spPr>
          <a:xfrm>
            <a:off x="10092267" y="4089484"/>
            <a:ext cx="1659467" cy="29244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+ GEOLOCALIZACIÓN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Y TRAZABILIDAD</a:t>
            </a:r>
          </a:p>
        </p:txBody>
      </p:sp>
      <p:sp>
        <p:nvSpPr>
          <p:cNvPr id="26" name="TaskRabbit"/>
          <p:cNvSpPr txBox="1"/>
          <p:nvPr/>
        </p:nvSpPr>
        <p:spPr>
          <a:xfrm>
            <a:off x="7730067" y="2536393"/>
            <a:ext cx="172720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4">
                <a:solidFill>
                  <a:srgbClr val="4E5C73"/>
                </a:solidFill>
                <a:latin typeface="Archivo ExtraBold"/>
                <a:cs typeface="Archivo ExtraBold"/>
                <a:ea typeface="Archivo ExtraBold"/>
              </a:rPr>
              <a:t>TaskRabbit</a:t>
            </a:r>
          </a:p>
        </p:txBody>
      </p:sp>
      <p:sp>
        <p:nvSpPr>
          <p:cNvPr id="27" name="Reeparando"/>
          <p:cNvSpPr txBox="1"/>
          <p:nvPr/>
        </p:nvSpPr>
        <p:spPr>
          <a:xfrm>
            <a:off x="5063067" y="3416927"/>
            <a:ext cx="172720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4">
                <a:solidFill>
                  <a:srgbClr val="4E5C73"/>
                </a:solidFill>
                <a:latin typeface="Archivo ExtraBold"/>
                <a:cs typeface="Archivo ExtraBold"/>
                <a:ea typeface="Archivo ExtraBold"/>
              </a:rPr>
              <a:t>Reeparando</a:t>
            </a:r>
          </a:p>
        </p:txBody>
      </p:sp>
      <p:sp>
        <p:nvSpPr>
          <p:cNvPr id="28" name="Zolvers"/>
          <p:cNvSpPr txBox="1"/>
          <p:nvPr/>
        </p:nvSpPr>
        <p:spPr>
          <a:xfrm>
            <a:off x="3937000" y="3907993"/>
            <a:ext cx="172720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4">
                <a:solidFill>
                  <a:srgbClr val="4E5C73"/>
                </a:solidFill>
                <a:latin typeface="Archivo ExtraBold"/>
                <a:cs typeface="Archivo ExtraBold"/>
                <a:ea typeface="Archivo ExtraBold"/>
              </a:rPr>
              <a:t>Zolvers</a:t>
            </a:r>
          </a:p>
        </p:txBody>
      </p:sp>
      <p:sp>
        <p:nvSpPr>
          <p:cNvPr id="29" name="IguanaFix"/>
          <p:cNvSpPr txBox="1"/>
          <p:nvPr/>
        </p:nvSpPr>
        <p:spPr>
          <a:xfrm>
            <a:off x="6248400" y="4018060"/>
            <a:ext cx="1727200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4">
                <a:solidFill>
                  <a:srgbClr val="4E5C73"/>
                </a:solidFill>
                <a:latin typeface="Archivo ExtraBold"/>
                <a:cs typeface="Archivo ExtraBold"/>
                <a:ea typeface="Archivo ExtraBold"/>
              </a:rPr>
              <a:t>IguanaFix</a:t>
            </a:r>
          </a:p>
        </p:txBody>
      </p:sp>
      <p:sp>
        <p:nvSpPr>
          <p:cNvPr id="30" name="OFIX"/>
          <p:cNvSpPr txBox="1"/>
          <p:nvPr/>
        </p:nvSpPr>
        <p:spPr>
          <a:xfrm>
            <a:off x="8212204" y="3693308"/>
            <a:ext cx="525859" cy="2606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4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31" name="DIFERENCIALES DE OFIX"/>
          <p:cNvSpPr txBox="1"/>
          <p:nvPr/>
        </p:nvSpPr>
        <p:spPr>
          <a:xfrm>
            <a:off x="609600" y="3829664"/>
            <a:ext cx="17949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DIFERENCIALES DE OFIX</a:t>
            </a:r>
          </a:p>
        </p:txBody>
      </p:sp>
      <p:sp>
        <p:nvSpPr>
          <p:cNvPr id="32" name="Trabajadores verificadosProfesionale"/>
          <p:cNvSpPr txBox="1"/>
          <p:nvPr/>
        </p:nvSpPr>
        <p:spPr>
          <a:xfrm>
            <a:off x="609600" y="4025218"/>
            <a:ext cx="1778000" cy="6526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 verificados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Profesionales cerca tuyo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Todo el trabajo en la app</a:t>
            </a:r>
          </a:p>
        </p:txBody>
      </p:sp>
      <p:sp>
        <p:nvSpPr>
          <p:cNvPr id="33" name="0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4" name="grafico" descr="0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13467"/>
            <a:ext cx="4402667" cy="3894667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5486400" y="2205699"/>
            <a:ext cx="6096000" cy="838068"/>
          </a:xfrm>
          <a:prstGeom prst="roundRect">
            <a:avLst>
              <a:gd name="adj" fmla="val 40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5486400" y="3213100"/>
            <a:ext cx="6096000" cy="838068"/>
          </a:xfrm>
          <a:prstGeom prst="roundRect">
            <a:avLst>
              <a:gd name="adj" fmla="val 40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5486400" y="4220501"/>
            <a:ext cx="6096000" cy="1295268"/>
          </a:xfrm>
          <a:prstGeom prst="roundRect">
            <a:avLst>
              <a:gd name="adj" fmla="val 261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inea"/>
          <p:cNvSpPr/>
          <p:nvPr/>
        </p:nvSpPr>
        <p:spPr>
          <a:xfrm>
            <a:off x="5706533" y="5007769"/>
            <a:ext cx="56557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ercado"/>
          <p:cNvSpPr txBox="1"/>
          <p:nvPr/>
        </p:nvSpPr>
        <p:spPr>
          <a:xfrm>
            <a:off x="609600" y="469114"/>
            <a:ext cx="2022607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Mercado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1" name="TAM"/>
          <p:cNvSpPr txBox="1"/>
          <p:nvPr/>
        </p:nvSpPr>
        <p:spPr>
          <a:xfrm>
            <a:off x="592667" y="2288730"/>
            <a:ext cx="44365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TAM</a:t>
            </a:r>
          </a:p>
        </p:txBody>
      </p:sp>
      <p:sp>
        <p:nvSpPr>
          <p:cNvPr id="12" name="USD 347,6 B"/>
          <p:cNvSpPr txBox="1"/>
          <p:nvPr/>
        </p:nvSpPr>
        <p:spPr>
          <a:xfrm>
            <a:off x="592667" y="2520108"/>
            <a:ext cx="4436533" cy="341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7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10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USD 347,6 B</a:t>
            </a:r>
          </a:p>
        </p:txBody>
      </p:sp>
      <p:sp>
        <p:nvSpPr>
          <p:cNvPr id="13" name="SAM"/>
          <p:cNvSpPr txBox="1"/>
          <p:nvPr/>
        </p:nvSpPr>
        <p:spPr>
          <a:xfrm>
            <a:off x="592667" y="3575664"/>
            <a:ext cx="44365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SAM</a:t>
            </a:r>
          </a:p>
        </p:txBody>
      </p:sp>
      <p:sp>
        <p:nvSpPr>
          <p:cNvPr id="14" name="USD 27,8 B"/>
          <p:cNvSpPr txBox="1"/>
          <p:nvPr/>
        </p:nvSpPr>
        <p:spPr>
          <a:xfrm>
            <a:off x="592667" y="3802006"/>
            <a:ext cx="4436533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USD 27,8 B</a:t>
            </a:r>
          </a:p>
        </p:txBody>
      </p:sp>
      <p:sp>
        <p:nvSpPr>
          <p:cNvPr id="15" name="SOM"/>
          <p:cNvSpPr txBox="1"/>
          <p:nvPr/>
        </p:nvSpPr>
        <p:spPr>
          <a:xfrm>
            <a:off x="592667" y="4727130"/>
            <a:ext cx="44365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SOM</a:t>
            </a:r>
          </a:p>
        </p:txBody>
      </p:sp>
      <p:sp>
        <p:nvSpPr>
          <p:cNvPr id="16" name="USD 2,9 M"/>
          <p:cNvSpPr txBox="1"/>
          <p:nvPr/>
        </p:nvSpPr>
        <p:spPr>
          <a:xfrm>
            <a:off x="592667" y="4936193"/>
            <a:ext cx="4436533" cy="2475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00" spc="-72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USD 2,9 M</a:t>
            </a:r>
          </a:p>
        </p:txBody>
      </p:sp>
      <p:sp>
        <p:nvSpPr>
          <p:cNvPr id="17" name="TAM — Global (Home Services)"/>
          <p:cNvSpPr txBox="1"/>
          <p:nvPr/>
        </p:nvSpPr>
        <p:spPr>
          <a:xfrm>
            <a:off x="5706533" y="2380072"/>
            <a:ext cx="5672667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15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TAM — Global (Home Services)</a:t>
            </a:r>
          </a:p>
        </p:txBody>
      </p:sp>
      <p:sp>
        <p:nvSpPr>
          <p:cNvPr id="18" name="Mercado global de servicios al hogar"/>
          <p:cNvSpPr txBox="1"/>
          <p:nvPr/>
        </p:nvSpPr>
        <p:spPr>
          <a:xfrm>
            <a:off x="5706533" y="2657738"/>
            <a:ext cx="5672667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global de servicios al hogar (mantenimiento, reparación y oficios).</a:t>
            </a:r>
          </a:p>
        </p:txBody>
      </p:sp>
      <p:sp>
        <p:nvSpPr>
          <p:cNvPr id="19" name="SAM — Latinoamérica"/>
          <p:cNvSpPr txBox="1"/>
          <p:nvPr/>
        </p:nvSpPr>
        <p:spPr>
          <a:xfrm>
            <a:off x="5706533" y="3387474"/>
            <a:ext cx="5672667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15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SAM — Latinoamérica</a:t>
            </a:r>
          </a:p>
        </p:txBody>
      </p:sp>
      <p:sp>
        <p:nvSpPr>
          <p:cNvPr id="20" name="Porción del mercado global correspon"/>
          <p:cNvSpPr txBox="1"/>
          <p:nvPr/>
        </p:nvSpPr>
        <p:spPr>
          <a:xfrm>
            <a:off x="5706533" y="3665139"/>
            <a:ext cx="5672667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Porción del mercado global correspondiente a América Latina.</a:t>
            </a:r>
          </a:p>
        </p:txBody>
      </p:sp>
      <p:sp>
        <p:nvSpPr>
          <p:cNvPr id="21" name="SOM — Argentina"/>
          <p:cNvSpPr txBox="1"/>
          <p:nvPr/>
        </p:nvSpPr>
        <p:spPr>
          <a:xfrm>
            <a:off x="5706533" y="4394875"/>
            <a:ext cx="5672667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15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SOM — Argentina</a:t>
            </a:r>
          </a:p>
        </p:txBody>
      </p:sp>
      <p:sp>
        <p:nvSpPr>
          <p:cNvPr id="22" name="Mercado accesible para OFIX en su re"/>
          <p:cNvSpPr txBox="1"/>
          <p:nvPr/>
        </p:nvSpPr>
        <p:spPr>
          <a:xfrm>
            <a:off x="5706533" y="4672540"/>
            <a:ext cx="5672667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Mercado accesible para OFIX en su región de lanzamiento.</a:t>
            </a:r>
          </a:p>
        </p:txBody>
      </p:sp>
      <p:sp>
        <p:nvSpPr>
          <p:cNvPr id="23" name="INGRESOS AÑO 3"/>
          <p:cNvSpPr txBox="1"/>
          <p:nvPr/>
        </p:nvSpPr>
        <p:spPr>
          <a:xfrm>
            <a:off x="5706533" y="5213699"/>
            <a:ext cx="95038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9FBEFB"/>
                </a:solidFill>
                <a:latin typeface="IBM Plex Mono SemiBold"/>
                <a:cs typeface="IBM Plex Mono SemiBold"/>
                <a:ea typeface="IBM Plex Mono SemiBold"/>
              </a:rPr>
              <a:t>INGRESOS AÑO 3</a:t>
            </a:r>
          </a:p>
        </p:txBody>
      </p:sp>
      <p:sp>
        <p:nvSpPr>
          <p:cNvPr id="24" name="$ 2.907.770"/>
          <p:cNvSpPr txBox="1"/>
          <p:nvPr/>
        </p:nvSpPr>
        <p:spPr>
          <a:xfrm>
            <a:off x="6741583" y="5159036"/>
            <a:ext cx="1195387" cy="238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730" spc="-6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$ 2.907.770</a:t>
            </a:r>
          </a:p>
        </p:txBody>
      </p:sp>
      <p:sp>
        <p:nvSpPr>
          <p:cNvPr id="25" name="0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863600" y="1778000"/>
            <a:ext cx="287867" cy="28786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4334933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4588933" y="1778000"/>
            <a:ext cx="287867" cy="28786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8060267" y="1557867"/>
            <a:ext cx="3522133" cy="1313921"/>
          </a:xfrm>
          <a:prstGeom prst="roundRect">
            <a:avLst>
              <a:gd name="adj" fmla="val 3221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8314267" y="1778000"/>
            <a:ext cx="287867" cy="287867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926020"/>
            <a:ext cx="5384800" cy="999067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821267" y="4184253"/>
            <a:ext cx="220133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821267" y="4408620"/>
            <a:ext cx="11186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2007658" y="4408620"/>
            <a:ext cx="1341173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3416565" y="4408620"/>
            <a:ext cx="6487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4133056" y="4408620"/>
            <a:ext cx="710142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4910931" y="4408620"/>
            <a:ext cx="760016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197600" y="3926020"/>
            <a:ext cx="5384800" cy="999067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linea"/>
          <p:cNvSpPr/>
          <p:nvPr/>
        </p:nvSpPr>
        <p:spPr>
          <a:xfrm>
            <a:off x="6409267" y="4184253"/>
            <a:ext cx="220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409267" y="4408620"/>
            <a:ext cx="80406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7281069" y="4408620"/>
            <a:ext cx="699161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8047964" y="4408620"/>
            <a:ext cx="648758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caja"/>
          <p:cNvSpPr/>
          <p:nvPr/>
        </p:nvSpPr>
        <p:spPr>
          <a:xfrm>
            <a:off x="8764455" y="4408620"/>
            <a:ext cx="50733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9339527" y="4408620"/>
            <a:ext cx="629179" cy="304800"/>
          </a:xfrm>
          <a:prstGeom prst="roundRect">
            <a:avLst>
              <a:gd name="adj" fmla="val 8333"/>
            </a:avLst>
          </a:prstGeom>
          <a:solidFill>
            <a:srgbClr val="F5F6F8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aja"/>
          <p:cNvSpPr/>
          <p:nvPr/>
        </p:nvSpPr>
        <p:spPr>
          <a:xfrm>
            <a:off x="609600" y="5725186"/>
            <a:ext cx="10972800" cy="540147"/>
          </a:xfrm>
          <a:prstGeom prst="roundRect">
            <a:avLst>
              <a:gd name="adj" fmla="val 7837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dquisición de usuarios"/>
          <p:cNvSpPr txBox="1"/>
          <p:nvPr/>
        </p:nvSpPr>
        <p:spPr>
          <a:xfrm>
            <a:off x="609600" y="469114"/>
            <a:ext cx="5378450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Adquisición de usuarios</a:t>
            </a:r>
          </a:p>
        </p:txBody>
      </p:sp>
      <p:sp>
        <p:nvSpPr>
          <p:cNvPr id="26" name="Cómo hacemos crecer la plataforma, z"/>
          <p:cNvSpPr txBox="1"/>
          <p:nvPr/>
        </p:nvSpPr>
        <p:spPr>
          <a:xfrm>
            <a:off x="609600" y="996667"/>
            <a:ext cx="5378450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Cómo hacemos crecer la plataforma, zona por zona</a:t>
            </a:r>
          </a:p>
        </p:txBody>
      </p:sp>
      <p:sp>
        <p:nvSpPr>
          <p:cNvPr id="2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8" name="1"/>
          <p:cNvSpPr txBox="1"/>
          <p:nvPr/>
        </p:nvSpPr>
        <p:spPr>
          <a:xfrm>
            <a:off x="974460" y="1855363"/>
            <a:ext cx="83079" cy="174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29" name="Primero conseguimos trabajadores en "/>
          <p:cNvSpPr txBox="1"/>
          <p:nvPr/>
        </p:nvSpPr>
        <p:spPr>
          <a:xfrm>
            <a:off x="863600" y="2199420"/>
            <a:ext cx="3014133" cy="4607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Primero conseguimos trabajadores en una zona</a:t>
            </a:r>
          </a:p>
        </p:txBody>
      </p:sp>
      <p:sp>
        <p:nvSpPr>
          <p:cNvPr id="30" name="2"/>
          <p:cNvSpPr txBox="1"/>
          <p:nvPr/>
        </p:nvSpPr>
        <p:spPr>
          <a:xfrm>
            <a:off x="4699794" y="1855363"/>
            <a:ext cx="83079" cy="174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31" name="Después atraemos clientes en esa mis"/>
          <p:cNvSpPr txBox="1"/>
          <p:nvPr/>
        </p:nvSpPr>
        <p:spPr>
          <a:xfrm>
            <a:off x="4588933" y="2199420"/>
            <a:ext cx="3014133" cy="4607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Después atraemos clientes en esa misma zona</a:t>
            </a:r>
          </a:p>
        </p:txBody>
      </p:sp>
      <p:sp>
        <p:nvSpPr>
          <p:cNvPr id="32" name="3"/>
          <p:cNvSpPr txBox="1"/>
          <p:nvPr/>
        </p:nvSpPr>
        <p:spPr>
          <a:xfrm>
            <a:off x="8425127" y="1855363"/>
            <a:ext cx="83079" cy="174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33" name="Cuando la zona funciona, abrimos una"/>
          <p:cNvSpPr txBox="1"/>
          <p:nvPr/>
        </p:nvSpPr>
        <p:spPr>
          <a:xfrm>
            <a:off x="8314267" y="2199420"/>
            <a:ext cx="3014133" cy="4607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Cuando la zona funciona, abrimos una nueva</a:t>
            </a:r>
          </a:p>
        </p:txBody>
      </p:sp>
      <p:sp>
        <p:nvSpPr>
          <p:cNvPr id="34" name="CANALES QUE USAMOS EN CADA LADO"/>
          <p:cNvSpPr txBox="1"/>
          <p:nvPr/>
        </p:nvSpPr>
        <p:spPr>
          <a:xfrm>
            <a:off x="609600" y="3674750"/>
            <a:ext cx="10989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CANALES QUE USAMOS EN CADA LADO</a:t>
            </a:r>
          </a:p>
        </p:txBody>
      </p:sp>
      <p:sp>
        <p:nvSpPr>
          <p:cNvPr id="35" name="TRABAJADORES"/>
          <p:cNvSpPr txBox="1"/>
          <p:nvPr/>
        </p:nvSpPr>
        <p:spPr>
          <a:xfrm>
            <a:off x="1143000" y="4140417"/>
            <a:ext cx="8170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TRABAJADORES</a:t>
            </a:r>
          </a:p>
        </p:txBody>
      </p:sp>
      <p:sp>
        <p:nvSpPr>
          <p:cNvPr id="36" name="Captación directa"/>
          <p:cNvSpPr txBox="1"/>
          <p:nvPr/>
        </p:nvSpPr>
        <p:spPr>
          <a:xfrm>
            <a:off x="931333" y="4489166"/>
            <a:ext cx="915458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Captación directa</a:t>
            </a:r>
          </a:p>
        </p:txBody>
      </p:sp>
      <p:sp>
        <p:nvSpPr>
          <p:cNvPr id="37" name="Redes y comunidades"/>
          <p:cNvSpPr txBox="1"/>
          <p:nvPr/>
        </p:nvSpPr>
        <p:spPr>
          <a:xfrm>
            <a:off x="2117725" y="4489166"/>
            <a:ext cx="1137973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Redes y comunidades</a:t>
            </a:r>
          </a:p>
        </p:txBody>
      </p:sp>
      <p:sp>
        <p:nvSpPr>
          <p:cNvPr id="38" name="Alianzas"/>
          <p:cNvSpPr txBox="1"/>
          <p:nvPr/>
        </p:nvSpPr>
        <p:spPr>
          <a:xfrm>
            <a:off x="3526631" y="4489166"/>
            <a:ext cx="445558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Alianzas</a:t>
            </a:r>
          </a:p>
        </p:txBody>
      </p:sp>
      <p:sp>
        <p:nvSpPr>
          <p:cNvPr id="39" name="Referidos"/>
          <p:cNvSpPr txBox="1"/>
          <p:nvPr/>
        </p:nvSpPr>
        <p:spPr>
          <a:xfrm>
            <a:off x="4243123" y="4489166"/>
            <a:ext cx="506942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Referidos</a:t>
            </a:r>
          </a:p>
        </p:txBody>
      </p:sp>
      <p:sp>
        <p:nvSpPr>
          <p:cNvPr id="40" name="Publicidad"/>
          <p:cNvSpPr txBox="1"/>
          <p:nvPr/>
        </p:nvSpPr>
        <p:spPr>
          <a:xfrm>
            <a:off x="5020998" y="4489166"/>
            <a:ext cx="556816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Publicidad</a:t>
            </a:r>
          </a:p>
        </p:txBody>
      </p:sp>
      <p:sp>
        <p:nvSpPr>
          <p:cNvPr id="41" name="HOGARES Y PYMES"/>
          <p:cNvSpPr txBox="1"/>
          <p:nvPr/>
        </p:nvSpPr>
        <p:spPr>
          <a:xfrm>
            <a:off x="6731000" y="4140417"/>
            <a:ext cx="101705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HOGARES Y PYMES</a:t>
            </a:r>
          </a:p>
        </p:txBody>
      </p:sp>
      <p:sp>
        <p:nvSpPr>
          <p:cNvPr id="42" name="Google Ads"/>
          <p:cNvSpPr txBox="1"/>
          <p:nvPr/>
        </p:nvSpPr>
        <p:spPr>
          <a:xfrm>
            <a:off x="6519333" y="4489166"/>
            <a:ext cx="600869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Google Ads</a:t>
            </a:r>
          </a:p>
        </p:txBody>
      </p:sp>
      <p:sp>
        <p:nvSpPr>
          <p:cNvPr id="43" name="Meta Ads"/>
          <p:cNvSpPr txBox="1"/>
          <p:nvPr/>
        </p:nvSpPr>
        <p:spPr>
          <a:xfrm>
            <a:off x="7391135" y="4489166"/>
            <a:ext cx="495961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Meta Ads</a:t>
            </a:r>
          </a:p>
        </p:txBody>
      </p:sp>
      <p:sp>
        <p:nvSpPr>
          <p:cNvPr id="44" name="Alianzas"/>
          <p:cNvSpPr txBox="1"/>
          <p:nvPr/>
        </p:nvSpPr>
        <p:spPr>
          <a:xfrm>
            <a:off x="8158030" y="4489166"/>
            <a:ext cx="445558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Alianzas</a:t>
            </a:r>
          </a:p>
        </p:txBody>
      </p:sp>
      <p:sp>
        <p:nvSpPr>
          <p:cNvPr id="45" name="Email"/>
          <p:cNvSpPr txBox="1"/>
          <p:nvPr/>
        </p:nvSpPr>
        <p:spPr>
          <a:xfrm>
            <a:off x="8874522" y="4489166"/>
            <a:ext cx="304139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Email</a:t>
            </a:r>
          </a:p>
        </p:txBody>
      </p:sp>
      <p:sp>
        <p:nvSpPr>
          <p:cNvPr id="46" name="Eventos"/>
          <p:cNvSpPr txBox="1"/>
          <p:nvPr/>
        </p:nvSpPr>
        <p:spPr>
          <a:xfrm>
            <a:off x="9449594" y="4489166"/>
            <a:ext cx="425979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Eventos</a:t>
            </a:r>
          </a:p>
        </p:txBody>
      </p:sp>
      <p:sp>
        <p:nvSpPr>
          <p:cNvPr id="47" name="Empezamos por CABA y Gran Buenos Air"/>
          <p:cNvSpPr txBox="1"/>
          <p:nvPr/>
        </p:nvSpPr>
        <p:spPr>
          <a:xfrm>
            <a:off x="846667" y="5907691"/>
            <a:ext cx="10498667" cy="240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Empezamos por </a:t>
            </a:r>
            <a:r>
              <a:rPr b="0" i="0" sz="11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CABA y Gran Buenos Aires</a:t>
            </a: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 Recién cuando esa zona funciona, abrimos otra.</a:t>
            </a:r>
          </a:p>
        </p:txBody>
      </p:sp>
      <p:sp>
        <p:nvSpPr>
          <p:cNvPr id="48" name="0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4" name="grafico" descr="1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36246"/>
            <a:ext cx="169333" cy="1693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16746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407074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597402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7877307" y="1778661"/>
            <a:ext cx="1801680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9780588" y="1778661"/>
            <a:ext cx="1801812" cy="884502"/>
          </a:xfrm>
          <a:prstGeom prst="roundRect">
            <a:avLst>
              <a:gd name="adj" fmla="val 4786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grafico" descr="10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122348"/>
            <a:ext cx="169333" cy="1693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2167467" y="2764764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5974027" y="2764764"/>
            <a:ext cx="180168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7877307" y="2764764"/>
            <a:ext cx="3705093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grafico" descr="10_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08582"/>
            <a:ext cx="169333" cy="169333"/>
          </a:xfrm>
          <a:prstGeom prst="rect">
            <a:avLst/>
          </a:prstGeom>
          <a:effectLst/>
        </p:spPr>
      </p:pic>
      <p:sp>
        <p:nvSpPr>
          <p:cNvPr id="15" name="caja"/>
          <p:cNvSpPr/>
          <p:nvPr/>
        </p:nvSpPr>
        <p:spPr>
          <a:xfrm>
            <a:off x="2167467" y="3750998"/>
            <a:ext cx="180168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4070747" y="3750998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7877307" y="3750998"/>
            <a:ext cx="3705093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grafico" descr="10_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094817"/>
            <a:ext cx="169333" cy="169333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2167467" y="4737232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5974027" y="4737232"/>
            <a:ext cx="3704960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9780588" y="4737232"/>
            <a:ext cx="1801812" cy="884634"/>
          </a:xfrm>
          <a:prstGeom prst="roundRect">
            <a:avLst>
              <a:gd name="adj" fmla="val 4785"/>
            </a:avLst>
          </a:prstGeom>
          <a:solidFill>
            <a:srgbClr val="EAF0FB"/>
          </a:solidFill>
          <a:ln w="8509">
            <a:solidFill>
              <a:srgbClr val="DCE7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rco"/>
          <p:cNvSpPr/>
          <p:nvPr/>
        </p:nvSpPr>
        <p:spPr>
          <a:xfrm>
            <a:off x="609600" y="5791200"/>
            <a:ext cx="10972800" cy="474133"/>
          </a:xfrm>
          <a:prstGeom prst="roundRect">
            <a:avLst>
              <a:gd name="adj" fmla="val 8928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grafico" descr="10_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6347" y="5943600"/>
            <a:ext cx="169333" cy="169333"/>
          </a:xfrm>
          <a:prstGeom prst="rect">
            <a:avLst/>
          </a:prstGeom>
          <a:effectLst/>
        </p:spPr>
      </p:pic>
      <p:sp>
        <p:nvSpPr>
          <p:cNvPr id="24" name="Roadmap"/>
          <p:cNvSpPr txBox="1"/>
          <p:nvPr/>
        </p:nvSpPr>
        <p:spPr>
          <a:xfrm>
            <a:off x="609600" y="469114"/>
            <a:ext cx="2202259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Roadmap</a:t>
            </a:r>
          </a:p>
        </p:txBody>
      </p:sp>
      <p:sp>
        <p:nvSpPr>
          <p:cNvPr id="25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6" name="2026"/>
          <p:cNvSpPr txBox="1"/>
          <p:nvPr/>
        </p:nvSpPr>
        <p:spPr>
          <a:xfrm>
            <a:off x="2150533" y="1466118"/>
            <a:ext cx="1835547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2026</a:t>
            </a:r>
          </a:p>
        </p:txBody>
      </p:sp>
      <p:sp>
        <p:nvSpPr>
          <p:cNvPr id="27" name="2027"/>
          <p:cNvSpPr txBox="1"/>
          <p:nvPr/>
        </p:nvSpPr>
        <p:spPr>
          <a:xfrm>
            <a:off x="4053814" y="1466118"/>
            <a:ext cx="1835547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4E5C73"/>
                </a:solidFill>
                <a:latin typeface="Archivo ExtraBold"/>
                <a:cs typeface="Archivo ExtraBold"/>
                <a:ea typeface="Archivo ExtraBold"/>
              </a:rPr>
              <a:t>2027</a:t>
            </a:r>
          </a:p>
        </p:txBody>
      </p:sp>
      <p:sp>
        <p:nvSpPr>
          <p:cNvPr id="28" name="2028"/>
          <p:cNvSpPr txBox="1"/>
          <p:nvPr/>
        </p:nvSpPr>
        <p:spPr>
          <a:xfrm>
            <a:off x="5957094" y="1466118"/>
            <a:ext cx="1835547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4E5C73"/>
                </a:solidFill>
                <a:latin typeface="Archivo ExtraBold"/>
                <a:cs typeface="Archivo ExtraBold"/>
                <a:ea typeface="Archivo ExtraBold"/>
              </a:rPr>
              <a:t>2028</a:t>
            </a:r>
          </a:p>
        </p:txBody>
      </p:sp>
      <p:sp>
        <p:nvSpPr>
          <p:cNvPr id="29" name="2029"/>
          <p:cNvSpPr txBox="1"/>
          <p:nvPr/>
        </p:nvSpPr>
        <p:spPr>
          <a:xfrm>
            <a:off x="7860374" y="1466118"/>
            <a:ext cx="1835547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4E5C73"/>
                </a:solidFill>
                <a:latin typeface="Archivo ExtraBold"/>
                <a:cs typeface="Archivo ExtraBold"/>
                <a:ea typeface="Archivo ExtraBold"/>
              </a:rPr>
              <a:t>2029</a:t>
            </a:r>
          </a:p>
        </p:txBody>
      </p:sp>
      <p:sp>
        <p:nvSpPr>
          <p:cNvPr id="30" name="2030"/>
          <p:cNvSpPr txBox="1"/>
          <p:nvPr/>
        </p:nvSpPr>
        <p:spPr>
          <a:xfrm>
            <a:off x="9763654" y="1466118"/>
            <a:ext cx="1835679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4E5C73"/>
                </a:solidFill>
                <a:latin typeface="Archivo ExtraBold"/>
                <a:cs typeface="Archivo ExtraBold"/>
                <a:ea typeface="Archivo ExtraBold"/>
              </a:rPr>
              <a:t>2030</a:t>
            </a:r>
          </a:p>
        </p:txBody>
      </p:sp>
      <p:sp>
        <p:nvSpPr>
          <p:cNvPr id="31" name="PRODUCTO"/>
          <p:cNvSpPr txBox="1"/>
          <p:nvPr/>
        </p:nvSpPr>
        <p:spPr>
          <a:xfrm>
            <a:off x="880533" y="2164376"/>
            <a:ext cx="5503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PRODUCTO</a:t>
            </a:r>
          </a:p>
        </p:txBody>
      </p:sp>
      <p:sp>
        <p:nvSpPr>
          <p:cNvPr id="32" name="MVP + validación del modelo"/>
          <p:cNvSpPr txBox="1"/>
          <p:nvPr/>
        </p:nvSpPr>
        <p:spPr>
          <a:xfrm>
            <a:off x="2252133" y="1900830"/>
            <a:ext cx="1632347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MVP + validación del modelo</a:t>
            </a:r>
          </a:p>
        </p:txBody>
      </p:sp>
      <p:sp>
        <p:nvSpPr>
          <p:cNvPr id="33" name="Mejora de experiencia"/>
          <p:cNvSpPr txBox="1"/>
          <p:nvPr/>
        </p:nvSpPr>
        <p:spPr>
          <a:xfrm>
            <a:off x="4155414" y="1900830"/>
            <a:ext cx="1632347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Mejora de experiencia</a:t>
            </a:r>
          </a:p>
        </p:txBody>
      </p:sp>
      <p:sp>
        <p:nvSpPr>
          <p:cNvPr id="34" name="Reputación + recurrencia"/>
          <p:cNvSpPr txBox="1"/>
          <p:nvPr/>
        </p:nvSpPr>
        <p:spPr>
          <a:xfrm>
            <a:off x="6058694" y="1900830"/>
            <a:ext cx="1632347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Reputación + recurrencia</a:t>
            </a:r>
          </a:p>
        </p:txBody>
      </p:sp>
      <p:sp>
        <p:nvSpPr>
          <p:cNvPr id="35" name="Automatización / IA"/>
          <p:cNvSpPr txBox="1"/>
          <p:nvPr/>
        </p:nvSpPr>
        <p:spPr>
          <a:xfrm>
            <a:off x="7961974" y="1900830"/>
            <a:ext cx="1632347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Automatización / IA</a:t>
            </a:r>
          </a:p>
        </p:txBody>
      </p:sp>
      <p:sp>
        <p:nvSpPr>
          <p:cNvPr id="36" name="Ecosistema de servicios"/>
          <p:cNvSpPr txBox="1"/>
          <p:nvPr/>
        </p:nvSpPr>
        <p:spPr>
          <a:xfrm>
            <a:off x="9865254" y="1900830"/>
            <a:ext cx="1632479" cy="67647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Ecosistema de servicios</a:t>
            </a:r>
          </a:p>
        </p:txBody>
      </p:sp>
      <p:sp>
        <p:nvSpPr>
          <p:cNvPr id="37" name="CRECIMIENTO"/>
          <p:cNvSpPr txBox="1"/>
          <p:nvPr/>
        </p:nvSpPr>
        <p:spPr>
          <a:xfrm>
            <a:off x="880533" y="3150478"/>
            <a:ext cx="75035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CRECIMIENTO</a:t>
            </a:r>
          </a:p>
        </p:txBody>
      </p:sp>
      <p:sp>
        <p:nvSpPr>
          <p:cNvPr id="38" name="Lanzamiento + adquisición"/>
          <p:cNvSpPr txBox="1"/>
          <p:nvPr/>
        </p:nvSpPr>
        <p:spPr>
          <a:xfrm>
            <a:off x="2260600" y="2895399"/>
            <a:ext cx="3518694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Lanzamiento + adquisición</a:t>
            </a:r>
          </a:p>
        </p:txBody>
      </p:sp>
      <p:sp>
        <p:nvSpPr>
          <p:cNvPr id="39" name="Escalar usuarios"/>
          <p:cNvSpPr txBox="1"/>
          <p:nvPr/>
        </p:nvSpPr>
        <p:spPr>
          <a:xfrm>
            <a:off x="6067160" y="2895399"/>
            <a:ext cx="1615414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Escalar usuarios</a:t>
            </a:r>
          </a:p>
        </p:txBody>
      </p:sp>
      <p:sp>
        <p:nvSpPr>
          <p:cNvPr id="40" name="Consolidación nacional"/>
          <p:cNvSpPr txBox="1"/>
          <p:nvPr/>
        </p:nvSpPr>
        <p:spPr>
          <a:xfrm>
            <a:off x="7970441" y="2895399"/>
            <a:ext cx="3518826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Consolidación nacional</a:t>
            </a:r>
          </a:p>
        </p:txBody>
      </p:sp>
      <p:sp>
        <p:nvSpPr>
          <p:cNvPr id="41" name="PARTNERSHIPS"/>
          <p:cNvSpPr txBox="1"/>
          <p:nvPr/>
        </p:nvSpPr>
        <p:spPr>
          <a:xfrm>
            <a:off x="880533" y="4136713"/>
            <a:ext cx="8170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PARTNERSHIPS</a:t>
            </a:r>
          </a:p>
        </p:txBody>
      </p:sp>
      <p:sp>
        <p:nvSpPr>
          <p:cNvPr id="42" name="Primeras alianzas"/>
          <p:cNvSpPr txBox="1"/>
          <p:nvPr/>
        </p:nvSpPr>
        <p:spPr>
          <a:xfrm>
            <a:off x="2260600" y="3881634"/>
            <a:ext cx="1615414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Primeras alianzas</a:t>
            </a:r>
          </a:p>
        </p:txBody>
      </p:sp>
      <p:sp>
        <p:nvSpPr>
          <p:cNvPr id="43" name="Pagos · Geolocalización · Seguros"/>
          <p:cNvSpPr txBox="1"/>
          <p:nvPr/>
        </p:nvSpPr>
        <p:spPr>
          <a:xfrm>
            <a:off x="4163880" y="3881634"/>
            <a:ext cx="3518694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Pagos · Geolocalización · Seguros</a:t>
            </a:r>
          </a:p>
        </p:txBody>
      </p:sp>
      <p:sp>
        <p:nvSpPr>
          <p:cNvPr id="44" name="Integraciones B2B + partners estraté"/>
          <p:cNvSpPr txBox="1"/>
          <p:nvPr/>
        </p:nvSpPr>
        <p:spPr>
          <a:xfrm>
            <a:off x="7970441" y="3881634"/>
            <a:ext cx="3518826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Integraciones B2B + partners estratégicos</a:t>
            </a:r>
          </a:p>
        </p:txBody>
      </p:sp>
      <p:sp>
        <p:nvSpPr>
          <p:cNvPr id="45" name="TERRITORIO"/>
          <p:cNvSpPr txBox="1"/>
          <p:nvPr/>
        </p:nvSpPr>
        <p:spPr>
          <a:xfrm>
            <a:off x="880533" y="5122947"/>
            <a:ext cx="68368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TERRITORIO</a:t>
            </a:r>
          </a:p>
        </p:txBody>
      </p:sp>
      <p:sp>
        <p:nvSpPr>
          <p:cNvPr id="46" name="CABA + GBA"/>
          <p:cNvSpPr txBox="1"/>
          <p:nvPr/>
        </p:nvSpPr>
        <p:spPr>
          <a:xfrm>
            <a:off x="2260600" y="4867868"/>
            <a:ext cx="3518694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CABA + GBA</a:t>
            </a:r>
          </a:p>
        </p:txBody>
      </p:sp>
      <p:sp>
        <p:nvSpPr>
          <p:cNvPr id="47" name="Resto de Argentina"/>
          <p:cNvSpPr txBox="1"/>
          <p:nvPr/>
        </p:nvSpPr>
        <p:spPr>
          <a:xfrm>
            <a:off x="6067160" y="4867868"/>
            <a:ext cx="3518694" cy="6596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Resto de Argentina</a:t>
            </a:r>
          </a:p>
        </p:txBody>
      </p:sp>
      <p:sp>
        <p:nvSpPr>
          <p:cNvPr id="48" name="Preparación expansión regional"/>
          <p:cNvSpPr txBox="1"/>
          <p:nvPr/>
        </p:nvSpPr>
        <p:spPr>
          <a:xfrm>
            <a:off x="9839854" y="4867868"/>
            <a:ext cx="1683279" cy="65967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Preparación expansión regional</a:t>
            </a:r>
          </a:p>
        </p:txBody>
      </p:sp>
      <p:sp>
        <p:nvSpPr>
          <p:cNvPr id="49" name="Expansión regional priorizada: Urugu"/>
          <p:cNvSpPr txBox="1"/>
          <p:nvPr/>
        </p:nvSpPr>
        <p:spPr>
          <a:xfrm>
            <a:off x="4714214" y="5942327"/>
            <a:ext cx="3068373" cy="2188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Expansión regional priorizada: </a:t>
            </a:r>
            <a:r>
              <a:rPr b="0" i="0" sz="110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Uruguay y Chile</a:t>
            </a:r>
            <a:r>
              <a:rPr b="0" i="0" sz="11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.</a:t>
            </a:r>
          </a:p>
        </p:txBody>
      </p:sp>
      <p:sp>
        <p:nvSpPr>
          <p:cNvPr id="50" name="0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top"/>
          <p:cNvSpPr/>
          <p:nvPr/>
        </p:nvSpPr>
        <p:spPr>
          <a:xfrm>
            <a:off x="609600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right"/>
          <p:cNvSpPr/>
          <p:nvPr/>
        </p:nvSpPr>
        <p:spPr>
          <a:xfrm>
            <a:off x="4089400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imagen" descr="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933" y="2173817"/>
            <a:ext cx="1117600" cy="1117600"/>
          </a:xfrm>
          <a:prstGeom prst="rect">
            <a:avLst/>
          </a:prstGeom>
          <a:effectLst/>
        </p:spPr>
      </p:pic>
      <p:sp>
        <p:nvSpPr>
          <p:cNvPr id="10" name="caja"/>
          <p:cNvSpPr/>
          <p:nvPr/>
        </p:nvSpPr>
        <p:spPr>
          <a:xfrm>
            <a:off x="2001441" y="3854450"/>
            <a:ext cx="704585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4351867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4351867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right"/>
          <p:cNvSpPr/>
          <p:nvPr/>
        </p:nvSpPr>
        <p:spPr>
          <a:xfrm>
            <a:off x="7831667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4351867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left"/>
          <p:cNvSpPr/>
          <p:nvPr/>
        </p:nvSpPr>
        <p:spPr>
          <a:xfrm>
            <a:off x="4351867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imagen" descr="11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0" y="2173817"/>
            <a:ext cx="1117600" cy="1117600"/>
          </a:xfrm>
          <a:prstGeom prst="rect">
            <a:avLst/>
          </a:prstGeom>
          <a:effectLst/>
        </p:spPr>
      </p:pic>
      <p:sp>
        <p:nvSpPr>
          <p:cNvPr id="17" name="caja"/>
          <p:cNvSpPr/>
          <p:nvPr/>
        </p:nvSpPr>
        <p:spPr>
          <a:xfrm>
            <a:off x="5927725" y="3854450"/>
            <a:ext cx="336550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8094133" y="1456267"/>
            <a:ext cx="3488267" cy="3598333"/>
          </a:xfrm>
          <a:prstGeom prst="roundRect">
            <a:avLst>
              <a:gd name="adj" fmla="val 97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top"/>
          <p:cNvSpPr/>
          <p:nvPr/>
        </p:nvSpPr>
        <p:spPr>
          <a:xfrm>
            <a:off x="8094133" y="1456267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right"/>
          <p:cNvSpPr/>
          <p:nvPr/>
        </p:nvSpPr>
        <p:spPr>
          <a:xfrm>
            <a:off x="11573933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bottom"/>
          <p:cNvSpPr/>
          <p:nvPr/>
        </p:nvSpPr>
        <p:spPr>
          <a:xfrm>
            <a:off x="8094133" y="5046133"/>
            <a:ext cx="34882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left"/>
          <p:cNvSpPr/>
          <p:nvPr/>
        </p:nvSpPr>
        <p:spPr>
          <a:xfrm>
            <a:off x="8094133" y="1456267"/>
            <a:ext cx="8467" cy="3598333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imagen" descr="11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9467" y="2173817"/>
            <a:ext cx="1117600" cy="1117600"/>
          </a:xfrm>
          <a:prstGeom prst="rect">
            <a:avLst/>
          </a:prstGeom>
          <a:effectLst/>
        </p:spPr>
      </p:pic>
      <p:sp>
        <p:nvSpPr>
          <p:cNvPr id="24" name="caja"/>
          <p:cNvSpPr/>
          <p:nvPr/>
        </p:nvSpPr>
        <p:spPr>
          <a:xfrm>
            <a:off x="9393899" y="3854450"/>
            <a:ext cx="888603" cy="203200"/>
          </a:xfrm>
          <a:prstGeom prst="roundRect">
            <a:avLst>
              <a:gd name="adj" fmla="val 125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609600" y="5308600"/>
            <a:ext cx="10972800" cy="956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top"/>
          <p:cNvSpPr/>
          <p:nvPr/>
        </p:nvSpPr>
        <p:spPr>
          <a:xfrm>
            <a:off x="609600" y="5308600"/>
            <a:ext cx="109728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609600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grafico" descr="11_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67" y="5926667"/>
            <a:ext cx="203200" cy="203200"/>
          </a:xfrm>
          <a:prstGeom prst="rect">
            <a:avLst/>
          </a:prstGeom>
          <a:effectLst/>
        </p:spPr>
      </p:pic>
      <p:sp>
        <p:nvSpPr>
          <p:cNvPr id="29" name="caja"/>
          <p:cNvSpPr/>
          <p:nvPr/>
        </p:nvSpPr>
        <p:spPr>
          <a:xfrm>
            <a:off x="4351867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grafico" descr="11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8133" y="5926667"/>
            <a:ext cx="203200" cy="203200"/>
          </a:xfrm>
          <a:prstGeom prst="rect">
            <a:avLst/>
          </a:prstGeom>
          <a:effectLst/>
        </p:spPr>
      </p:pic>
      <p:sp>
        <p:nvSpPr>
          <p:cNvPr id="31" name="caja"/>
          <p:cNvSpPr/>
          <p:nvPr/>
        </p:nvSpPr>
        <p:spPr>
          <a:xfrm>
            <a:off x="8094133" y="5791200"/>
            <a:ext cx="3488267" cy="474133"/>
          </a:xfrm>
          <a:prstGeom prst="roundRect">
            <a:avLst>
              <a:gd name="adj" fmla="val 7142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grafico" descr="11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400" y="5926667"/>
            <a:ext cx="203200" cy="203200"/>
          </a:xfrm>
          <a:prstGeom prst="rect">
            <a:avLst/>
          </a:prstGeom>
          <a:effectLst/>
        </p:spPr>
      </p:pic>
      <p:sp>
        <p:nvSpPr>
          <p:cNvPr id="33" name="Equipo inicial"/>
          <p:cNvSpPr txBox="1"/>
          <p:nvPr/>
        </p:nvSpPr>
        <p:spPr>
          <a:xfrm>
            <a:off x="609600" y="469114"/>
            <a:ext cx="3014927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Equipo inicial</a:t>
            </a:r>
          </a:p>
        </p:txBody>
      </p:sp>
      <p:sp>
        <p:nvSpPr>
          <p:cNvPr id="3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35" name="Rocco Pellegrino"/>
          <p:cNvSpPr txBox="1"/>
          <p:nvPr/>
        </p:nvSpPr>
        <p:spPr>
          <a:xfrm>
            <a:off x="1507199" y="3504925"/>
            <a:ext cx="1692936" cy="2600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30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Rocco Pellegrino</a:t>
            </a:r>
          </a:p>
        </p:txBody>
      </p:sp>
      <p:sp>
        <p:nvSpPr>
          <p:cNvPr id="36" name="CEO / CPO"/>
          <p:cNvSpPr txBox="1"/>
          <p:nvPr/>
        </p:nvSpPr>
        <p:spPr>
          <a:xfrm>
            <a:off x="2060707" y="3899514"/>
            <a:ext cx="58605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63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CEO / CPO</a:t>
            </a:r>
          </a:p>
        </p:txBody>
      </p:sp>
      <p:sp>
        <p:nvSpPr>
          <p:cNvPr id="37" name="Estrategia · Producto · Negocio"/>
          <p:cNvSpPr txBox="1"/>
          <p:nvPr/>
        </p:nvSpPr>
        <p:spPr>
          <a:xfrm>
            <a:off x="1457722" y="4198887"/>
            <a:ext cx="1791891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Estrategia · Producto · Negocio</a:t>
            </a:r>
          </a:p>
        </p:txBody>
      </p:sp>
      <p:sp>
        <p:nvSpPr>
          <p:cNvPr id="38" name="Francisco Fontana"/>
          <p:cNvSpPr txBox="1"/>
          <p:nvPr/>
        </p:nvSpPr>
        <p:spPr>
          <a:xfrm>
            <a:off x="5173662" y="3504925"/>
            <a:ext cx="1844675" cy="2600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30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Francisco Fontana</a:t>
            </a:r>
          </a:p>
        </p:txBody>
      </p:sp>
      <p:sp>
        <p:nvSpPr>
          <p:cNvPr id="39" name="CTO"/>
          <p:cNvSpPr txBox="1"/>
          <p:nvPr/>
        </p:nvSpPr>
        <p:spPr>
          <a:xfrm>
            <a:off x="5986992" y="3899514"/>
            <a:ext cx="21801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63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CTO</a:t>
            </a:r>
          </a:p>
        </p:txBody>
      </p:sp>
      <p:sp>
        <p:nvSpPr>
          <p:cNvPr id="40" name="Tecnología · Arquitectura · Integrac"/>
          <p:cNvSpPr txBox="1"/>
          <p:nvPr/>
        </p:nvSpPr>
        <p:spPr>
          <a:xfrm>
            <a:off x="4920192" y="4198887"/>
            <a:ext cx="2351484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Tecnología · Arquitectura · Integraciones</a:t>
            </a:r>
          </a:p>
        </p:txBody>
      </p:sp>
      <p:sp>
        <p:nvSpPr>
          <p:cNvPr id="41" name="Priscilla Arslan"/>
          <p:cNvSpPr txBox="1"/>
          <p:nvPr/>
        </p:nvSpPr>
        <p:spPr>
          <a:xfrm>
            <a:off x="9095846" y="3504925"/>
            <a:ext cx="1484842" cy="2600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30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Priscilla Arslan</a:t>
            </a:r>
          </a:p>
        </p:txBody>
      </p:sp>
      <p:sp>
        <p:nvSpPr>
          <p:cNvPr id="42" name="COO / GROWTH"/>
          <p:cNvSpPr txBox="1"/>
          <p:nvPr/>
        </p:nvSpPr>
        <p:spPr>
          <a:xfrm>
            <a:off x="9453166" y="3899514"/>
            <a:ext cx="77007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63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COO / GROWTH</a:t>
            </a:r>
          </a:p>
        </p:txBody>
      </p:sp>
      <p:sp>
        <p:nvSpPr>
          <p:cNvPr id="43" name="Operaciones · Marketing · Crecimient"/>
          <p:cNvSpPr txBox="1"/>
          <p:nvPr/>
        </p:nvSpPr>
        <p:spPr>
          <a:xfrm>
            <a:off x="8732308" y="4198887"/>
            <a:ext cx="2211784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Operaciones · Marketing · Crecimiento</a:t>
            </a:r>
          </a:p>
        </p:txBody>
      </p:sp>
      <p:sp>
        <p:nvSpPr>
          <p:cNvPr id="44" name="SOPORTE TERCERIZADO INICIAL"/>
          <p:cNvSpPr txBox="1"/>
          <p:nvPr/>
        </p:nvSpPr>
        <p:spPr>
          <a:xfrm>
            <a:off x="609600" y="5539930"/>
            <a:ext cx="10989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SOPORTE TERCERIZADO INICIAL</a:t>
            </a:r>
          </a:p>
        </p:txBody>
      </p:sp>
      <p:sp>
        <p:nvSpPr>
          <p:cNvPr id="45" name="Desarrollo Full Stack"/>
          <p:cNvSpPr txBox="1"/>
          <p:nvPr/>
        </p:nvSpPr>
        <p:spPr>
          <a:xfrm>
            <a:off x="1117600" y="5950319"/>
            <a:ext cx="1317625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Desarrollo Full Stack</a:t>
            </a:r>
          </a:p>
        </p:txBody>
      </p:sp>
      <p:sp>
        <p:nvSpPr>
          <p:cNvPr id="46" name="Estudio jurídico"/>
          <p:cNvSpPr txBox="1"/>
          <p:nvPr/>
        </p:nvSpPr>
        <p:spPr>
          <a:xfrm>
            <a:off x="4859867" y="5950319"/>
            <a:ext cx="992849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Estudio jurídico</a:t>
            </a:r>
          </a:p>
        </p:txBody>
      </p:sp>
      <p:sp>
        <p:nvSpPr>
          <p:cNvPr id="47" name="Estudio contable"/>
          <p:cNvSpPr txBox="1"/>
          <p:nvPr/>
        </p:nvSpPr>
        <p:spPr>
          <a:xfrm>
            <a:off x="8602133" y="5950319"/>
            <a:ext cx="1069710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Estudio contable</a:t>
            </a:r>
          </a:p>
        </p:txBody>
      </p:sp>
      <p:sp>
        <p:nvSpPr>
          <p:cNvPr id="48" name="1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608667"/>
            <a:ext cx="4145227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inea"/>
          <p:cNvSpPr/>
          <p:nvPr/>
        </p:nvSpPr>
        <p:spPr>
          <a:xfrm>
            <a:off x="2677980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609600" y="2463800"/>
            <a:ext cx="2013347" cy="407458"/>
          </a:xfrm>
          <a:prstGeom prst="roundRect">
            <a:avLst>
              <a:gd name="adj" fmla="val 831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inea"/>
          <p:cNvSpPr/>
          <p:nvPr/>
        </p:nvSpPr>
        <p:spPr>
          <a:xfrm>
            <a:off x="1611974" y="2871258"/>
            <a:ext cx="8467" cy="1270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609600" y="2998258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463925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741480" y="2463800"/>
            <a:ext cx="2013347" cy="407458"/>
          </a:xfrm>
          <a:prstGeom prst="roundRect">
            <a:avLst>
              <a:gd name="adj" fmla="val 831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3743854" y="2871258"/>
            <a:ext cx="8467" cy="1270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2741480" y="2998258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2741480" y="3463925"/>
            <a:ext cx="2013347" cy="389467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5059627" y="1608667"/>
            <a:ext cx="3454400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linea"/>
          <p:cNvSpPr/>
          <p:nvPr/>
        </p:nvSpPr>
        <p:spPr>
          <a:xfrm>
            <a:off x="6782594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arco"/>
          <p:cNvSpPr/>
          <p:nvPr/>
        </p:nvSpPr>
        <p:spPr>
          <a:xfrm>
            <a:off x="5059627" y="24638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824927" y="24638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arco"/>
          <p:cNvSpPr/>
          <p:nvPr/>
        </p:nvSpPr>
        <p:spPr>
          <a:xfrm>
            <a:off x="5059627" y="29464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824927" y="2946400"/>
            <a:ext cx="1689100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8818827" y="1608667"/>
            <a:ext cx="2763573" cy="651933"/>
          </a:xfrm>
          <a:prstGeom prst="roundRect">
            <a:avLst>
              <a:gd name="adj" fmla="val 5194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linea"/>
          <p:cNvSpPr/>
          <p:nvPr/>
        </p:nvSpPr>
        <p:spPr>
          <a:xfrm>
            <a:off x="10196380" y="2260600"/>
            <a:ext cx="8467" cy="203200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rco"/>
          <p:cNvSpPr/>
          <p:nvPr/>
        </p:nvSpPr>
        <p:spPr>
          <a:xfrm>
            <a:off x="8818827" y="2463800"/>
            <a:ext cx="2763573" cy="406400"/>
          </a:xfrm>
          <a:prstGeom prst="roundRect">
            <a:avLst>
              <a:gd name="adj" fmla="val 8333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609600" y="5655733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top"/>
          <p:cNvSpPr/>
          <p:nvPr/>
        </p:nvSpPr>
        <p:spPr>
          <a:xfrm>
            <a:off x="609600" y="5655733"/>
            <a:ext cx="10972800" cy="8467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3713956" y="5850467"/>
            <a:ext cx="2532459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aja"/>
          <p:cNvSpPr/>
          <p:nvPr/>
        </p:nvSpPr>
        <p:spPr>
          <a:xfrm>
            <a:off x="6381882" y="5850467"/>
            <a:ext cx="2532459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9049808" y="5850467"/>
            <a:ext cx="2532592" cy="414867"/>
          </a:xfrm>
          <a:prstGeom prst="roundRect">
            <a:avLst>
              <a:gd name="adj" fmla="val 8163"/>
            </a:avLst>
          </a:prstGeom>
          <a:solidFill>
            <a:srgbClr val="FAEFE7"/>
          </a:solidFill>
          <a:ln w="8509">
            <a:solidFill>
              <a:srgbClr val="E0BF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QUIPO 4TO &amp; 5TO AÑO"/>
          <p:cNvSpPr txBox="1"/>
          <p:nvPr/>
        </p:nvSpPr>
        <p:spPr>
          <a:xfrm>
            <a:off x="609600" y="469114"/>
            <a:ext cx="5540243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EQUIPO 4TO &amp; 5TO AÑO</a:t>
            </a:r>
          </a:p>
        </p:txBody>
      </p:sp>
      <p:sp>
        <p:nvSpPr>
          <p:cNvPr id="2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30" name="EQUIPO INTERNO"/>
          <p:cNvSpPr txBox="1"/>
          <p:nvPr/>
        </p:nvSpPr>
        <p:spPr>
          <a:xfrm>
            <a:off x="609600" y="1357397"/>
            <a:ext cx="10989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EQUIPO INTERNO</a:t>
            </a:r>
          </a:p>
        </p:txBody>
      </p:sp>
      <p:sp>
        <p:nvSpPr>
          <p:cNvPr id="31" name="Rocco Pellegrino"/>
          <p:cNvSpPr txBox="1"/>
          <p:nvPr/>
        </p:nvSpPr>
        <p:spPr>
          <a:xfrm>
            <a:off x="745067" y="1768735"/>
            <a:ext cx="3874294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Rocco Pellegrino</a:t>
            </a:r>
          </a:p>
        </p:txBody>
      </p:sp>
      <p:sp>
        <p:nvSpPr>
          <p:cNvPr id="32" name="CEO / CPO"/>
          <p:cNvSpPr txBox="1"/>
          <p:nvPr/>
        </p:nvSpPr>
        <p:spPr>
          <a:xfrm>
            <a:off x="745067" y="1992397"/>
            <a:ext cx="387429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91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CEO / CPO</a:t>
            </a:r>
          </a:p>
        </p:txBody>
      </p:sp>
      <p:sp>
        <p:nvSpPr>
          <p:cNvPr id="33" name="Gerente de operaciones"/>
          <p:cNvSpPr txBox="1"/>
          <p:nvPr/>
        </p:nvSpPr>
        <p:spPr>
          <a:xfrm>
            <a:off x="694267" y="2599165"/>
            <a:ext cx="1844014" cy="1872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Gerente de operaciones</a:t>
            </a:r>
          </a:p>
        </p:txBody>
      </p:sp>
      <p:sp>
        <p:nvSpPr>
          <p:cNvPr id="34" name="Soporte al cliente"/>
          <p:cNvSpPr txBox="1"/>
          <p:nvPr/>
        </p:nvSpPr>
        <p:spPr>
          <a:xfrm>
            <a:off x="685800" y="3121138"/>
            <a:ext cx="1860947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Soporte al cliente</a:t>
            </a:r>
          </a:p>
        </p:txBody>
      </p:sp>
      <p:sp>
        <p:nvSpPr>
          <p:cNvPr id="35" name="Ventas"/>
          <p:cNvSpPr txBox="1"/>
          <p:nvPr/>
        </p:nvSpPr>
        <p:spPr>
          <a:xfrm>
            <a:off x="685800" y="3586805"/>
            <a:ext cx="1860947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Ventas</a:t>
            </a:r>
          </a:p>
        </p:txBody>
      </p:sp>
      <p:sp>
        <p:nvSpPr>
          <p:cNvPr id="36" name="Gerente de marketing"/>
          <p:cNvSpPr txBox="1"/>
          <p:nvPr/>
        </p:nvSpPr>
        <p:spPr>
          <a:xfrm>
            <a:off x="2826147" y="2599165"/>
            <a:ext cx="1844014" cy="1872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Gerente de marketing</a:t>
            </a:r>
          </a:p>
        </p:txBody>
      </p:sp>
      <p:sp>
        <p:nvSpPr>
          <p:cNvPr id="37" name="Growth / performance"/>
          <p:cNvSpPr txBox="1"/>
          <p:nvPr/>
        </p:nvSpPr>
        <p:spPr>
          <a:xfrm>
            <a:off x="2817680" y="3121138"/>
            <a:ext cx="1860947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Growth / performance</a:t>
            </a:r>
          </a:p>
        </p:txBody>
      </p:sp>
      <p:sp>
        <p:nvSpPr>
          <p:cNvPr id="38" name="Partnerships / alianzas"/>
          <p:cNvSpPr txBox="1"/>
          <p:nvPr/>
        </p:nvSpPr>
        <p:spPr>
          <a:xfrm>
            <a:off x="2817680" y="3586805"/>
            <a:ext cx="1860947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Partnerships / alianzas</a:t>
            </a:r>
          </a:p>
        </p:txBody>
      </p:sp>
      <p:sp>
        <p:nvSpPr>
          <p:cNvPr id="39" name="Francisco Fontana"/>
          <p:cNvSpPr txBox="1"/>
          <p:nvPr/>
        </p:nvSpPr>
        <p:spPr>
          <a:xfrm>
            <a:off x="5195094" y="1768735"/>
            <a:ext cx="3183467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Francisco Fontana</a:t>
            </a:r>
          </a:p>
        </p:txBody>
      </p:sp>
      <p:sp>
        <p:nvSpPr>
          <p:cNvPr id="40" name="CTO"/>
          <p:cNvSpPr txBox="1"/>
          <p:nvPr/>
        </p:nvSpPr>
        <p:spPr>
          <a:xfrm>
            <a:off x="5195094" y="1992397"/>
            <a:ext cx="31834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91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CTO</a:t>
            </a:r>
          </a:p>
        </p:txBody>
      </p:sp>
      <p:sp>
        <p:nvSpPr>
          <p:cNvPr id="41" name="Equipo de desarrollo"/>
          <p:cNvSpPr txBox="1"/>
          <p:nvPr/>
        </p:nvSpPr>
        <p:spPr>
          <a:xfrm>
            <a:off x="5135827" y="2595146"/>
            <a:ext cx="1536700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Equipo de desarrollo</a:t>
            </a:r>
          </a:p>
        </p:txBody>
      </p:sp>
      <p:sp>
        <p:nvSpPr>
          <p:cNvPr id="42" name="UX / UI"/>
          <p:cNvSpPr txBox="1"/>
          <p:nvPr/>
        </p:nvSpPr>
        <p:spPr>
          <a:xfrm>
            <a:off x="6901127" y="2595146"/>
            <a:ext cx="1536700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UX / UI</a:t>
            </a:r>
          </a:p>
        </p:txBody>
      </p:sp>
      <p:sp>
        <p:nvSpPr>
          <p:cNvPr id="43" name="DevOps / Infraestructura"/>
          <p:cNvSpPr txBox="1"/>
          <p:nvPr/>
        </p:nvSpPr>
        <p:spPr>
          <a:xfrm>
            <a:off x="5135827" y="3077746"/>
            <a:ext cx="1536700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DevOps / Infraestructura</a:t>
            </a:r>
          </a:p>
        </p:txBody>
      </p:sp>
      <p:sp>
        <p:nvSpPr>
          <p:cNvPr id="44" name="Pagos y cobros"/>
          <p:cNvSpPr txBox="1"/>
          <p:nvPr/>
        </p:nvSpPr>
        <p:spPr>
          <a:xfrm>
            <a:off x="6901127" y="3077746"/>
            <a:ext cx="1536700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Pagos y cobros</a:t>
            </a:r>
          </a:p>
        </p:txBody>
      </p:sp>
      <p:sp>
        <p:nvSpPr>
          <p:cNvPr id="45" name="Priscilla Arslan"/>
          <p:cNvSpPr txBox="1"/>
          <p:nvPr/>
        </p:nvSpPr>
        <p:spPr>
          <a:xfrm>
            <a:off x="8954294" y="1768735"/>
            <a:ext cx="2492640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Priscilla Arslan</a:t>
            </a:r>
          </a:p>
        </p:txBody>
      </p:sp>
      <p:sp>
        <p:nvSpPr>
          <p:cNvPr id="46" name="COO / Growth"/>
          <p:cNvSpPr txBox="1"/>
          <p:nvPr/>
        </p:nvSpPr>
        <p:spPr>
          <a:xfrm>
            <a:off x="8954294" y="1992397"/>
            <a:ext cx="249264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91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COO / Growth</a:t>
            </a:r>
          </a:p>
        </p:txBody>
      </p:sp>
      <p:sp>
        <p:nvSpPr>
          <p:cNvPr id="47" name="Product Manager"/>
          <p:cNvSpPr txBox="1"/>
          <p:nvPr/>
        </p:nvSpPr>
        <p:spPr>
          <a:xfrm>
            <a:off x="8895027" y="2595146"/>
            <a:ext cx="2611173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Product Manager</a:t>
            </a:r>
          </a:p>
        </p:txBody>
      </p:sp>
      <p:sp>
        <p:nvSpPr>
          <p:cNvPr id="48" name="SOPORTE EXTERNO"/>
          <p:cNvSpPr txBox="1"/>
          <p:nvPr/>
        </p:nvSpPr>
        <p:spPr>
          <a:xfrm>
            <a:off x="609600" y="5899764"/>
            <a:ext cx="2901156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SOPORTE EXTERNO</a:t>
            </a:r>
          </a:p>
        </p:txBody>
      </p:sp>
      <p:sp>
        <p:nvSpPr>
          <p:cNvPr id="49" name="Proveedores transversales · sin rela"/>
          <p:cNvSpPr txBox="1"/>
          <p:nvPr/>
        </p:nvSpPr>
        <p:spPr>
          <a:xfrm>
            <a:off x="609600" y="6070713"/>
            <a:ext cx="2901156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Proveedores transversales · sin relación de dependencia</a:t>
            </a:r>
          </a:p>
        </p:txBody>
      </p:sp>
      <p:sp>
        <p:nvSpPr>
          <p:cNvPr id="50" name="Estudio jurídico"/>
          <p:cNvSpPr txBox="1"/>
          <p:nvPr/>
        </p:nvSpPr>
        <p:spPr>
          <a:xfrm>
            <a:off x="3824023" y="5982762"/>
            <a:ext cx="2312326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B5561B"/>
                </a:solidFill>
                <a:latin typeface="IBM Plex Sans SemiBold"/>
                <a:cs typeface="IBM Plex Sans SemiBold"/>
                <a:ea typeface="IBM Plex Sans SemiBold"/>
              </a:rPr>
              <a:t>Estudio jurídico</a:t>
            </a:r>
          </a:p>
        </p:txBody>
      </p:sp>
      <p:sp>
        <p:nvSpPr>
          <p:cNvPr id="51" name="Estudio contable"/>
          <p:cNvSpPr txBox="1"/>
          <p:nvPr/>
        </p:nvSpPr>
        <p:spPr>
          <a:xfrm>
            <a:off x="6491949" y="5982762"/>
            <a:ext cx="2312326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B5561B"/>
                </a:solidFill>
                <a:latin typeface="IBM Plex Sans SemiBold"/>
                <a:cs typeface="IBM Plex Sans SemiBold"/>
                <a:ea typeface="IBM Plex Sans SemiBold"/>
              </a:rPr>
              <a:t>Estudio contable</a:t>
            </a:r>
          </a:p>
        </p:txBody>
      </p:sp>
      <p:sp>
        <p:nvSpPr>
          <p:cNvPr id="52" name="Desarrollo Full Stack"/>
          <p:cNvSpPr txBox="1"/>
          <p:nvPr/>
        </p:nvSpPr>
        <p:spPr>
          <a:xfrm>
            <a:off x="9159875" y="5982762"/>
            <a:ext cx="2312458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B5561B"/>
                </a:solidFill>
                <a:latin typeface="IBM Plex Sans SemiBold"/>
                <a:cs typeface="IBM Plex Sans SemiBold"/>
                <a:ea typeface="IBM Plex Sans SemiBold"/>
              </a:rPr>
              <a:t>Desarrollo Full Stack</a:t>
            </a:r>
          </a:p>
        </p:txBody>
      </p:sp>
      <p:sp>
        <p:nvSpPr>
          <p:cNvPr id="53" name="1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609600" y="1524000"/>
            <a:ext cx="5376333" cy="1470422"/>
          </a:xfrm>
          <a:prstGeom prst="roundRect">
            <a:avLst>
              <a:gd name="adj" fmla="val 2878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top"/>
          <p:cNvSpPr/>
          <p:nvPr/>
        </p:nvSpPr>
        <p:spPr>
          <a:xfrm>
            <a:off x="609600" y="1524000"/>
            <a:ext cx="5376333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right"/>
          <p:cNvSpPr/>
          <p:nvPr/>
        </p:nvSpPr>
        <p:spPr>
          <a:xfrm>
            <a:off x="5977467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2985955"/>
            <a:ext cx="53763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206067" y="1524000"/>
            <a:ext cx="5376333" cy="1470422"/>
          </a:xfrm>
          <a:prstGeom prst="roundRect">
            <a:avLst>
              <a:gd name="adj" fmla="val 2878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206067" y="1524000"/>
            <a:ext cx="5376333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right"/>
          <p:cNvSpPr/>
          <p:nvPr/>
        </p:nvSpPr>
        <p:spPr>
          <a:xfrm>
            <a:off x="11573933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206067" y="2985955"/>
            <a:ext cx="5376333" cy="8467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left"/>
          <p:cNvSpPr/>
          <p:nvPr/>
        </p:nvSpPr>
        <p:spPr>
          <a:xfrm>
            <a:off x="6206067" y="1524000"/>
            <a:ext cx="8467" cy="1470422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09600" y="3808016"/>
            <a:ext cx="2925630" cy="1296723"/>
          </a:xfrm>
          <a:prstGeom prst="roundRect">
            <a:avLst>
              <a:gd name="adj" fmla="val 3264"/>
            </a:avLst>
          </a:prstGeom>
          <a:solidFill>
            <a:srgbClr val="FFFFFF">
              <a:alpha val="6000"/>
            </a:srgbClr>
          </a:solidFill>
          <a:ln w="8509">
            <a:solidFill>
              <a:srgbClr val="FFFFFF">
                <a:alpha val="1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3755364" y="3808016"/>
            <a:ext cx="2925762" cy="1296723"/>
          </a:xfrm>
          <a:prstGeom prst="roundRect">
            <a:avLst>
              <a:gd name="adj" fmla="val 3264"/>
            </a:avLst>
          </a:prstGeom>
          <a:solidFill>
            <a:srgbClr val="FFFFFF">
              <a:alpha val="6000"/>
            </a:srgbClr>
          </a:solidFill>
          <a:ln w="8509">
            <a:solidFill>
              <a:srgbClr val="FFFFFF">
                <a:alpha val="12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901259" y="3808016"/>
            <a:ext cx="4681141" cy="1296723"/>
          </a:xfrm>
          <a:prstGeom prst="roundRect">
            <a:avLst>
              <a:gd name="adj" fmla="val 3264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5918200"/>
            <a:ext cx="10972800" cy="3471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5918200"/>
            <a:ext cx="10972800" cy="8467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inanzas"/>
          <p:cNvSpPr txBox="1"/>
          <p:nvPr/>
        </p:nvSpPr>
        <p:spPr>
          <a:xfrm>
            <a:off x="609600" y="469114"/>
            <a:ext cx="2736982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Finanzas</a:t>
            </a:r>
          </a:p>
        </p:txBody>
      </p:sp>
      <p:sp>
        <p:nvSpPr>
          <p:cNvPr id="20" name="Escenario base · sin valor de contin"/>
          <p:cNvSpPr txBox="1"/>
          <p:nvPr/>
        </p:nvSpPr>
        <p:spPr>
          <a:xfrm>
            <a:off x="609600" y="996667"/>
            <a:ext cx="2736982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9FBEFB"/>
                </a:solidFill>
                <a:latin typeface="Archivo Medium"/>
                <a:cs typeface="Archivo Medium"/>
                <a:ea typeface="Archivo Medium"/>
              </a:rPr>
              <a:t>Escenario base · sin valor de perpetuidad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2" name="TIR · RENTABILIDAD DEL PROYECTO"/>
          <p:cNvSpPr txBox="1"/>
          <p:nvPr/>
        </p:nvSpPr>
        <p:spPr>
          <a:xfrm>
            <a:off x="905933" y="1806130"/>
            <a:ext cx="48006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9FBEFB"/>
                </a:solidFill>
                <a:latin typeface="IBM Plex Mono SemiBold"/>
                <a:cs typeface="IBM Plex Mono SemiBold"/>
                <a:ea typeface="IBM Plex Mono SemiBold"/>
              </a:rPr>
              <a:t>TIR · RENTABILIDAD DEL PROYECTO</a:t>
            </a:r>
          </a:p>
        </p:txBody>
      </p:sp>
      <p:sp>
        <p:nvSpPr>
          <p:cNvPr id="23" name="48%"/>
          <p:cNvSpPr txBox="1"/>
          <p:nvPr/>
        </p:nvSpPr>
        <p:spPr>
          <a:xfrm>
            <a:off x="905933" y="2193591"/>
            <a:ext cx="4800600" cy="768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870" spc="-235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48%</a:t>
            </a:r>
          </a:p>
        </p:txBody>
      </p:sp>
      <p:sp>
        <p:nvSpPr>
          <p:cNvPr id="24" name="VAN · VALOR QUE GENERA"/>
          <p:cNvSpPr txBox="1"/>
          <p:nvPr/>
        </p:nvSpPr>
        <p:spPr>
          <a:xfrm>
            <a:off x="6502400" y="1806130"/>
            <a:ext cx="48006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9FBEFB"/>
                </a:solidFill>
                <a:latin typeface="IBM Plex Mono SemiBold"/>
                <a:cs typeface="IBM Plex Mono SemiBold"/>
                <a:ea typeface="IBM Plex Mono SemiBold"/>
              </a:rPr>
              <a:t>VAN · VALOR QUE GENERA</a:t>
            </a:r>
          </a:p>
        </p:txBody>
      </p:sp>
      <p:sp>
        <p:nvSpPr>
          <p:cNvPr id="25" name="USD 82.015"/>
          <p:cNvSpPr txBox="1"/>
          <p:nvPr/>
        </p:nvSpPr>
        <p:spPr>
          <a:xfrm>
            <a:off x="6502400" y="2207314"/>
            <a:ext cx="4800600" cy="6317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800" spc="-192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USD 82.015</a:t>
            </a:r>
          </a:p>
        </p:txBody>
      </p:sp>
      <p:sp>
        <p:nvSpPr>
          <p:cNvPr id="26" name="WACC · RENTABILIDAD EXIGIDA"/>
          <p:cNvSpPr txBox="1"/>
          <p:nvPr/>
        </p:nvSpPr>
        <p:spPr>
          <a:xfrm>
            <a:off x="855133" y="4022413"/>
            <a:ext cx="245149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WACC · RENTABILIDAD EXIGIDA</a:t>
            </a:r>
          </a:p>
        </p:txBody>
      </p:sp>
      <p:sp>
        <p:nvSpPr>
          <p:cNvPr id="27" name="27,3%"/>
          <p:cNvSpPr txBox="1"/>
          <p:nvPr/>
        </p:nvSpPr>
        <p:spPr>
          <a:xfrm>
            <a:off x="855133" y="4320611"/>
            <a:ext cx="2451497" cy="3926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930" spc="-11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27,3%</a:t>
            </a:r>
          </a:p>
        </p:txBody>
      </p:sp>
      <p:sp>
        <p:nvSpPr>
          <p:cNvPr id="28" name="PAYBACK · RECUPERO"/>
          <p:cNvSpPr txBox="1"/>
          <p:nvPr/>
        </p:nvSpPr>
        <p:spPr>
          <a:xfrm>
            <a:off x="4000897" y="4022413"/>
            <a:ext cx="245162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PAYBACK · RECUPERO</a:t>
            </a:r>
          </a:p>
        </p:txBody>
      </p:sp>
      <p:sp>
        <p:nvSpPr>
          <p:cNvPr id="29" name="3 años y 9 meses"/>
          <p:cNvSpPr txBox="1"/>
          <p:nvPr/>
        </p:nvSpPr>
        <p:spPr>
          <a:xfrm>
            <a:off x="4000897" y="4341888"/>
            <a:ext cx="2451629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3 años y 9 meses</a:t>
            </a:r>
          </a:p>
        </p:txBody>
      </p:sp>
      <p:sp>
        <p:nvSpPr>
          <p:cNvPr id="30" name="FONDOS TOTALES REQUERIDOS"/>
          <p:cNvSpPr txBox="1"/>
          <p:nvPr/>
        </p:nvSpPr>
        <p:spPr>
          <a:xfrm>
            <a:off x="7172193" y="4013946"/>
            <a:ext cx="415620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FONDOS TOTALES REQUERIDOS</a:t>
            </a:r>
          </a:p>
        </p:txBody>
      </p:sp>
      <p:sp>
        <p:nvSpPr>
          <p:cNvPr id="31" name="USD 122.303"/>
          <p:cNvSpPr txBox="1"/>
          <p:nvPr/>
        </p:nvSpPr>
        <p:spPr>
          <a:xfrm>
            <a:off x="7172193" y="4310319"/>
            <a:ext cx="4156207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USD 122.303</a:t>
            </a:r>
          </a:p>
        </p:txBody>
      </p:sp>
      <p:sp>
        <p:nvSpPr>
          <p:cNvPr id="32" name="USD 87.694 iniciales + USD 34.609 en"/>
          <p:cNvSpPr txBox="1"/>
          <p:nvPr/>
        </p:nvSpPr>
        <p:spPr>
          <a:xfrm>
            <a:off x="7172193" y="4761477"/>
            <a:ext cx="415620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USD 87.694 iniciales  +  USD 34.609 en el Año 1</a:t>
            </a:r>
          </a:p>
        </p:txBody>
      </p:sp>
      <p:sp>
        <p:nvSpPr>
          <p:cNvPr id="33" name="SI SE CONSIDERA LA CONTINUIDAD DEL N"/>
          <p:cNvSpPr txBox="1"/>
          <p:nvPr/>
        </p:nvSpPr>
        <p:spPr>
          <a:xfrm>
            <a:off x="609600" y="6124130"/>
            <a:ext cx="281728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SI SE CONSIDERA LA CONTINUIDAD DEL NEGOCIO</a:t>
            </a:r>
          </a:p>
        </p:txBody>
      </p:sp>
      <p:sp>
        <p:nvSpPr>
          <p:cNvPr id="34" name="VAN USD 345.724 · TIR 77%"/>
          <p:cNvSpPr txBox="1"/>
          <p:nvPr/>
        </p:nvSpPr>
        <p:spPr>
          <a:xfrm>
            <a:off x="3630083" y="6102245"/>
            <a:ext cx="1794933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VAN </a:t>
            </a:r>
            <a:r>
              <a:rPr b="0" i="0" sz="10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USD 345.724</a:t>
            </a:r>
            <a:r>
              <a:rPr b="0" i="0" sz="10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  ·  TIR </a:t>
            </a:r>
            <a:r>
              <a:rPr b="0" i="0" sz="1030">
                <a:solidFill>
                  <a:srgbClr val="FFFFFF"/>
                </a:solidFill>
                <a:latin typeface="IBM Plex Sans SemiBold"/>
                <a:cs typeface="IBM Plex Sans SemiBold"/>
                <a:ea typeface="IBM Plex Sans SemiBold"/>
              </a:rPr>
              <a:t>77%</a:t>
            </a:r>
          </a:p>
        </p:txBody>
      </p:sp>
      <p:sp>
        <p:nvSpPr>
          <p:cNvPr id="35" name="1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609600" y="1524000"/>
            <a:ext cx="118533" cy="118533"/>
          </a:xfrm>
          <a:prstGeom prst="roundRect">
            <a:avLst>
              <a:gd name="adj" fmla="val 14285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aja"/>
          <p:cNvSpPr/>
          <p:nvPr/>
        </p:nvSpPr>
        <p:spPr>
          <a:xfrm>
            <a:off x="1574800" y="1524000"/>
            <a:ext cx="118533" cy="118533"/>
          </a:xfrm>
          <a:prstGeom prst="roundRect">
            <a:avLst>
              <a:gd name="adj" fmla="val 14285"/>
            </a:avLst>
          </a:prstGeom>
          <a:solidFill>
            <a:srgbClr val="C6D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grafico" descr="14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27200"/>
            <a:ext cx="10972800" cy="3471333"/>
          </a:xfrm>
          <a:prstGeom prst="rect">
            <a:avLst/>
          </a:prstGeom>
          <a:effectLst/>
        </p:spPr>
      </p:pic>
      <p:sp>
        <p:nvSpPr>
          <p:cNvPr id="7" name="caja"/>
          <p:cNvSpPr/>
          <p:nvPr/>
        </p:nvSpPr>
        <p:spPr>
          <a:xfrm>
            <a:off x="609600" y="5461794"/>
            <a:ext cx="10972800" cy="718873"/>
          </a:xfrm>
          <a:prstGeom prst="roundRect">
            <a:avLst>
              <a:gd name="adj" fmla="val 5888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ngresos vs Costos"/>
          <p:cNvSpPr txBox="1"/>
          <p:nvPr/>
        </p:nvSpPr>
        <p:spPr>
          <a:xfrm>
            <a:off x="609600" y="469114"/>
            <a:ext cx="4279900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Ingresos vs Costos</a:t>
            </a:r>
          </a:p>
        </p:txBody>
      </p:sp>
      <p:sp>
        <p:nvSpPr>
          <p:cNvPr id="9" name="Resultado operativo positivo desde e"/>
          <p:cNvSpPr txBox="1"/>
          <p:nvPr/>
        </p:nvSpPr>
        <p:spPr>
          <a:xfrm>
            <a:off x="609600" y="996667"/>
            <a:ext cx="4279900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Resultado operativo positivo desde el Año 2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1" name="INGRESOS"/>
          <p:cNvSpPr txBox="1"/>
          <p:nvPr/>
        </p:nvSpPr>
        <p:spPr>
          <a:xfrm>
            <a:off x="804333" y="1526730"/>
            <a:ext cx="5503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INGRESOS</a:t>
            </a:r>
          </a:p>
        </p:txBody>
      </p:sp>
      <p:sp>
        <p:nvSpPr>
          <p:cNvPr id="12" name="COSTOS TOTALES"/>
          <p:cNvSpPr txBox="1"/>
          <p:nvPr/>
        </p:nvSpPr>
        <p:spPr>
          <a:xfrm>
            <a:off x="1769533" y="1526730"/>
            <a:ext cx="95038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E5C73"/>
                </a:solidFill>
                <a:latin typeface="IBM Plex Mono SemiBold"/>
                <a:cs typeface="IBM Plex Mono SemiBold"/>
                <a:ea typeface="IBM Plex Mono SemiBold"/>
              </a:rPr>
              <a:t>COSTOS TOTALES</a:t>
            </a:r>
          </a:p>
        </p:txBody>
      </p:sp>
      <p:sp>
        <p:nvSpPr>
          <p:cNvPr id="13" name="EN MILLONES DE USD"/>
          <p:cNvSpPr txBox="1"/>
          <p:nvPr/>
        </p:nvSpPr>
        <p:spPr>
          <a:xfrm>
            <a:off x="10382250" y="1526730"/>
            <a:ext cx="121708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EN MILLONES DE USD</a:t>
            </a:r>
          </a:p>
        </p:txBody>
      </p:sp>
      <p:sp>
        <p:nvSpPr>
          <p:cNvPr id="14" name="RESULTADO OPERATIVO · EN USD"/>
          <p:cNvSpPr txBox="1"/>
          <p:nvPr/>
        </p:nvSpPr>
        <p:spPr>
          <a:xfrm>
            <a:off x="863600" y="5633857"/>
            <a:ext cx="10481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9FBEFB"/>
                </a:solidFill>
                <a:latin typeface="IBM Plex Mono SemiBold"/>
                <a:cs typeface="IBM Plex Mono SemiBold"/>
                <a:ea typeface="IBM Plex Mono SemiBold"/>
              </a:rPr>
              <a:t>RESULTADO OPERATIVO · EN USD</a:t>
            </a:r>
          </a:p>
        </p:txBody>
      </p:sp>
      <p:sp>
        <p:nvSpPr>
          <p:cNvPr id="15" name="−49.368"/>
          <p:cNvSpPr txBox="1"/>
          <p:nvPr/>
        </p:nvSpPr>
        <p:spPr>
          <a:xfrm>
            <a:off x="846667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−49.368</a:t>
            </a:r>
          </a:p>
        </p:txBody>
      </p:sp>
      <p:sp>
        <p:nvSpPr>
          <p:cNvPr id="16" name="−20.291"/>
          <p:cNvSpPr txBox="1"/>
          <p:nvPr/>
        </p:nvSpPr>
        <p:spPr>
          <a:xfrm>
            <a:off x="2590800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−20.291</a:t>
            </a:r>
          </a:p>
        </p:txBody>
      </p:sp>
      <p:sp>
        <p:nvSpPr>
          <p:cNvPr id="17" name="+25.920"/>
          <p:cNvSpPr txBox="1"/>
          <p:nvPr/>
        </p:nvSpPr>
        <p:spPr>
          <a:xfrm>
            <a:off x="4334933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+25.920</a:t>
            </a:r>
          </a:p>
        </p:txBody>
      </p:sp>
      <p:sp>
        <p:nvSpPr>
          <p:cNvPr id="18" name="+224.668"/>
          <p:cNvSpPr txBox="1"/>
          <p:nvPr/>
        </p:nvSpPr>
        <p:spPr>
          <a:xfrm>
            <a:off x="6079067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+224.668</a:t>
            </a:r>
          </a:p>
        </p:txBody>
      </p:sp>
      <p:sp>
        <p:nvSpPr>
          <p:cNvPr id="19" name="+282.381"/>
          <p:cNvSpPr txBox="1"/>
          <p:nvPr/>
        </p:nvSpPr>
        <p:spPr>
          <a:xfrm>
            <a:off x="7823200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+282.381</a:t>
            </a:r>
          </a:p>
        </p:txBody>
      </p:sp>
      <p:sp>
        <p:nvSpPr>
          <p:cNvPr id="20" name="+331.083"/>
          <p:cNvSpPr txBox="1"/>
          <p:nvPr/>
        </p:nvSpPr>
        <p:spPr>
          <a:xfrm>
            <a:off x="9567333" y="5870492"/>
            <a:ext cx="1778000" cy="204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5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+331.083</a:t>
            </a:r>
          </a:p>
        </p:txBody>
      </p:sp>
      <p:sp>
        <p:nvSpPr>
          <p:cNvPr id="21" name="1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609600" y="1870340"/>
            <a:ext cx="10972800" cy="88145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borde left"/>
          <p:cNvSpPr/>
          <p:nvPr/>
        </p:nvSpPr>
        <p:spPr>
          <a:xfrm>
            <a:off x="609600" y="1870340"/>
            <a:ext cx="25400" cy="881459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3098271"/>
            <a:ext cx="10972800" cy="889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left"/>
          <p:cNvSpPr/>
          <p:nvPr/>
        </p:nvSpPr>
        <p:spPr>
          <a:xfrm>
            <a:off x="609600" y="3098271"/>
            <a:ext cx="25400" cy="8890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609600" y="4333743"/>
            <a:ext cx="10972800" cy="740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4333743"/>
            <a:ext cx="25400" cy="740833"/>
          </a:xfrm>
          <a:prstGeom prst="rect">
            <a:avLst/>
          </a:prstGeom>
          <a:solidFill>
            <a:srgbClr val="FFFFFF">
              <a:alpha val="3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5590381"/>
            <a:ext cx="10972800" cy="674952"/>
          </a:xfrm>
          <a:prstGeom prst="roundRect">
            <a:avLst>
              <a:gd name="adj" fmla="val 6272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Qué nos dicen los números"/>
          <p:cNvSpPr txBox="1"/>
          <p:nvPr/>
        </p:nvSpPr>
        <p:spPr>
          <a:xfrm>
            <a:off x="609600" y="469114"/>
            <a:ext cx="6021917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Qué nos dicen los números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3" name="01"/>
          <p:cNvSpPr txBox="1"/>
          <p:nvPr/>
        </p:nvSpPr>
        <p:spPr>
          <a:xfrm>
            <a:off x="889000" y="2193101"/>
            <a:ext cx="643467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01</a:t>
            </a:r>
          </a:p>
        </p:txBody>
      </p:sp>
      <p:sp>
        <p:nvSpPr>
          <p:cNvPr id="14" name="El proyecto crea valor"/>
          <p:cNvSpPr txBox="1"/>
          <p:nvPr/>
        </p:nvSpPr>
        <p:spPr>
          <a:xfrm>
            <a:off x="1803400" y="2144726"/>
            <a:ext cx="6629400" cy="327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000" spc="-44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El proyecto crea valor</a:t>
            </a:r>
          </a:p>
        </p:txBody>
      </p:sp>
      <p:sp>
        <p:nvSpPr>
          <p:cNvPr id="15" name="USD 82.015"/>
          <p:cNvSpPr txBox="1"/>
          <p:nvPr/>
        </p:nvSpPr>
        <p:spPr>
          <a:xfrm>
            <a:off x="8686800" y="2101017"/>
            <a:ext cx="2895600" cy="3755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800" spc="-112">
                <a:solidFill>
                  <a:srgbClr val="9FBEFB"/>
                </a:solidFill>
                <a:latin typeface="Archivo ExtraBold"/>
                <a:cs typeface="Archivo ExtraBold"/>
                <a:ea typeface="Archivo ExtraBold"/>
              </a:rPr>
              <a:t>USD 82.015</a:t>
            </a:r>
          </a:p>
        </p:txBody>
      </p:sp>
      <p:sp>
        <p:nvSpPr>
          <p:cNvPr id="16" name="VAN POSITIVO"/>
          <p:cNvSpPr txBox="1"/>
          <p:nvPr/>
        </p:nvSpPr>
        <p:spPr>
          <a:xfrm>
            <a:off x="8686800" y="2449729"/>
            <a:ext cx="28956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VAN POSITIVO</a:t>
            </a:r>
          </a:p>
        </p:txBody>
      </p:sp>
      <p:sp>
        <p:nvSpPr>
          <p:cNvPr id="17" name="02"/>
          <p:cNvSpPr txBox="1"/>
          <p:nvPr/>
        </p:nvSpPr>
        <p:spPr>
          <a:xfrm>
            <a:off x="889000" y="3424737"/>
            <a:ext cx="643467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02</a:t>
            </a:r>
          </a:p>
        </p:txBody>
      </p:sp>
      <p:sp>
        <p:nvSpPr>
          <p:cNvPr id="18" name="La rentabilidad supera el costo de c"/>
          <p:cNvSpPr txBox="1"/>
          <p:nvPr/>
        </p:nvSpPr>
        <p:spPr>
          <a:xfrm>
            <a:off x="1803400" y="3376494"/>
            <a:ext cx="6629400" cy="327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000" spc="-44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La rentabilidad supera el costo de capital</a:t>
            </a:r>
          </a:p>
        </p:txBody>
      </p:sp>
      <p:sp>
        <p:nvSpPr>
          <p:cNvPr id="19" name="48%"/>
          <p:cNvSpPr txBox="1"/>
          <p:nvPr/>
        </p:nvSpPr>
        <p:spPr>
          <a:xfrm>
            <a:off x="9373261" y="3328949"/>
            <a:ext cx="770202" cy="3755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800" spc="-112">
                <a:solidFill>
                  <a:srgbClr val="9FBEFB"/>
                </a:solidFill>
                <a:latin typeface="Archivo ExtraBold"/>
                <a:cs typeface="Archivo ExtraBold"/>
                <a:ea typeface="Archivo ExtraBold"/>
              </a:rPr>
              <a:t>48%</a:t>
            </a:r>
          </a:p>
        </p:txBody>
      </p:sp>
      <p:sp>
        <p:nvSpPr>
          <p:cNvPr id="20" name="vs"/>
          <p:cNvSpPr txBox="1"/>
          <p:nvPr/>
        </p:nvSpPr>
        <p:spPr>
          <a:xfrm>
            <a:off x="10245064" y="3419206"/>
            <a:ext cx="157956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vs</a:t>
            </a:r>
          </a:p>
        </p:txBody>
      </p:sp>
      <p:sp>
        <p:nvSpPr>
          <p:cNvPr id="21" name="27,3%"/>
          <p:cNvSpPr txBox="1"/>
          <p:nvPr/>
        </p:nvSpPr>
        <p:spPr>
          <a:xfrm>
            <a:off x="10504620" y="3328949"/>
            <a:ext cx="1077780" cy="3755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40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800" spc="-112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27,3%</a:t>
            </a:r>
          </a:p>
        </p:txBody>
      </p:sp>
      <p:sp>
        <p:nvSpPr>
          <p:cNvPr id="22" name="TIR FRENTE A WACC"/>
          <p:cNvSpPr txBox="1"/>
          <p:nvPr/>
        </p:nvSpPr>
        <p:spPr>
          <a:xfrm>
            <a:off x="8686800" y="3685201"/>
            <a:ext cx="28956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TIR FRENTE A WACC</a:t>
            </a:r>
          </a:p>
        </p:txBody>
      </p:sp>
      <p:sp>
        <p:nvSpPr>
          <p:cNvPr id="23" name="03"/>
          <p:cNvSpPr txBox="1"/>
          <p:nvPr/>
        </p:nvSpPr>
        <p:spPr>
          <a:xfrm>
            <a:off x="889000" y="4586125"/>
            <a:ext cx="643467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03</a:t>
            </a:r>
          </a:p>
        </p:txBody>
      </p:sp>
      <p:sp>
        <p:nvSpPr>
          <p:cNvPr id="24" name="El principal supuesto a validar es e"/>
          <p:cNvSpPr txBox="1"/>
          <p:nvPr/>
        </p:nvSpPr>
        <p:spPr>
          <a:xfrm>
            <a:off x="1803400" y="4537883"/>
            <a:ext cx="6629400" cy="327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000" spc="-44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El principal supuesto a validar es el volumen</a:t>
            </a:r>
          </a:p>
        </p:txBody>
      </p:sp>
      <p:sp>
        <p:nvSpPr>
          <p:cNvPr id="25" name="El modelo necesita alcanzar el nivel"/>
          <p:cNvSpPr txBox="1"/>
          <p:nvPr/>
        </p:nvSpPr>
        <p:spPr>
          <a:xfrm>
            <a:off x="8652933" y="4516254"/>
            <a:ext cx="292946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El modelo necesita alcanzar el nivel proyectado de usuarios y transacciones.</a:t>
            </a:r>
          </a:p>
        </p:txBody>
      </p:sp>
      <p:sp>
        <p:nvSpPr>
          <p:cNvPr id="26" name="Los números muestran viabilidad bajo"/>
          <p:cNvSpPr txBox="1"/>
          <p:nvPr/>
        </p:nvSpPr>
        <p:spPr>
          <a:xfrm>
            <a:off x="880533" y="5816887"/>
            <a:ext cx="10430933" cy="2664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2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Los números muestran viabilidad bajo los supuestos proyectados; el principal desafío es alcanzar el volumen previsto.</a:t>
            </a:r>
          </a:p>
        </p:txBody>
      </p:sp>
      <p:sp>
        <p:nvSpPr>
          <p:cNvPr id="27" name="1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32173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captura" descr="1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1913467"/>
            <a:ext cx="3702711" cy="2898775"/>
          </a:xfrm>
          <a:prstGeom prst="rect">
            <a:avLst/>
          </a:prstGeom>
          <a:effectLst/>
        </p:spPr>
      </p:pic>
      <p:sp>
        <p:nvSpPr>
          <p:cNvPr id="6" name="caja"/>
          <p:cNvSpPr/>
          <p:nvPr/>
        </p:nvSpPr>
        <p:spPr>
          <a:xfrm>
            <a:off x="4244578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captura" descr="1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578" y="1913467"/>
            <a:ext cx="3702711" cy="2898775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816742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captura" descr="1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423" y="1913467"/>
            <a:ext cx="3702844" cy="2898907"/>
          </a:xfrm>
          <a:prstGeom prst="rect">
            <a:avLst/>
          </a:prstGeom>
          <a:effectLst/>
        </p:spPr>
      </p:pic>
      <p:sp>
        <p:nvSpPr>
          <p:cNvPr id="10" name="linea"/>
          <p:cNvSpPr/>
          <p:nvPr/>
        </p:nvSpPr>
        <p:spPr>
          <a:xfrm>
            <a:off x="1304660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2692268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inea"/>
          <p:cNvSpPr/>
          <p:nvPr/>
        </p:nvSpPr>
        <p:spPr>
          <a:xfrm>
            <a:off x="3783145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4948238" y="6197600"/>
            <a:ext cx="2201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MVP"/>
          <p:cNvSpPr txBox="1"/>
          <p:nvPr/>
        </p:nvSpPr>
        <p:spPr>
          <a:xfrm>
            <a:off x="609600" y="469114"/>
            <a:ext cx="3690276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MVP</a:t>
            </a:r>
          </a:p>
        </p:txBody>
      </p:sp>
      <p:sp>
        <p:nvSpPr>
          <p:cNvPr id="15" name="Recorrido del cliente · Hogares y py"/>
          <p:cNvSpPr txBox="1"/>
          <p:nvPr/>
        </p:nvSpPr>
        <p:spPr>
          <a:xfrm>
            <a:off x="609600" y="996667"/>
            <a:ext cx="3690276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Recorrido del cliente · Hogares y pymes gastronómicas</a:t>
            </a:r>
          </a:p>
        </p:txBody>
      </p:sp>
      <p:sp>
        <p:nvSpPr>
          <p:cNvPr id="16" name="1 / 2"/>
          <p:cNvSpPr txBox="1"/>
          <p:nvPr/>
        </p:nvSpPr>
        <p:spPr>
          <a:xfrm>
            <a:off x="10323380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1 / 2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8" name="1"/>
          <p:cNvSpPr txBox="1"/>
          <p:nvPr/>
        </p:nvSpPr>
        <p:spPr>
          <a:xfrm>
            <a:off x="304800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9" name="Búsqueda"/>
          <p:cNvSpPr txBox="1"/>
          <p:nvPr/>
        </p:nvSpPr>
        <p:spPr>
          <a:xfrm>
            <a:off x="651933" y="1545793"/>
            <a:ext cx="819679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0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Búsqueda</a:t>
            </a:r>
          </a:p>
        </p:txBody>
      </p:sp>
      <p:sp>
        <p:nvSpPr>
          <p:cNvPr id="20" name="Por oficio, zona y disponibilidad re"/>
          <p:cNvSpPr txBox="1"/>
          <p:nvPr/>
        </p:nvSpPr>
        <p:spPr>
          <a:xfrm>
            <a:off x="321733" y="4938136"/>
            <a:ext cx="3719645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Por oficio, zona y disponibilidad real.</a:t>
            </a:r>
          </a:p>
        </p:txBody>
      </p:sp>
      <p:sp>
        <p:nvSpPr>
          <p:cNvPr id="21" name="2"/>
          <p:cNvSpPr txBox="1"/>
          <p:nvPr/>
        </p:nvSpPr>
        <p:spPr>
          <a:xfrm>
            <a:off x="4227645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22" name="Profesionales"/>
          <p:cNvSpPr txBox="1"/>
          <p:nvPr/>
        </p:nvSpPr>
        <p:spPr>
          <a:xfrm>
            <a:off x="4574778" y="1545793"/>
            <a:ext cx="1100402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0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Profesionales</a:t>
            </a:r>
          </a:p>
        </p:txBody>
      </p:sp>
      <p:sp>
        <p:nvSpPr>
          <p:cNvPr id="23" name="Verificados, con reputación y distan"/>
          <p:cNvSpPr txBox="1"/>
          <p:nvPr/>
        </p:nvSpPr>
        <p:spPr>
          <a:xfrm>
            <a:off x="4244578" y="4938136"/>
            <a:ext cx="3719645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Verificados, con reputación y distancia.</a:t>
            </a:r>
          </a:p>
        </p:txBody>
      </p:sp>
      <p:sp>
        <p:nvSpPr>
          <p:cNvPr id="24" name="3"/>
          <p:cNvSpPr txBox="1"/>
          <p:nvPr/>
        </p:nvSpPr>
        <p:spPr>
          <a:xfrm>
            <a:off x="8150490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5" name="Solicitud"/>
          <p:cNvSpPr txBox="1"/>
          <p:nvPr/>
        </p:nvSpPr>
        <p:spPr>
          <a:xfrm>
            <a:off x="8497623" y="1545793"/>
            <a:ext cx="708157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0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Solicitud</a:t>
            </a:r>
          </a:p>
        </p:txBody>
      </p:sp>
      <p:sp>
        <p:nvSpPr>
          <p:cNvPr id="26" name="Descripción, zona y presupuesto."/>
          <p:cNvSpPr txBox="1"/>
          <p:nvPr/>
        </p:nvSpPr>
        <p:spPr>
          <a:xfrm>
            <a:off x="8167423" y="4938268"/>
            <a:ext cx="3719777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Descripción, zona y presupuesto.</a:t>
            </a:r>
          </a:p>
        </p:txBody>
      </p:sp>
      <p:sp>
        <p:nvSpPr>
          <p:cNvPr id="27" name="BÚSQUEDA"/>
          <p:cNvSpPr txBox="1"/>
          <p:nvPr/>
        </p:nvSpPr>
        <p:spPr>
          <a:xfrm>
            <a:off x="609600" y="6142663"/>
            <a:ext cx="610394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 spc="104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BÚSQUEDA</a:t>
            </a:r>
          </a:p>
        </p:txBody>
      </p:sp>
      <p:sp>
        <p:nvSpPr>
          <p:cNvPr id="28" name="PROFESIONALES"/>
          <p:cNvSpPr txBox="1"/>
          <p:nvPr/>
        </p:nvSpPr>
        <p:spPr>
          <a:xfrm>
            <a:off x="1626394" y="6142663"/>
            <a:ext cx="981207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 spc="104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PROFESIONALES</a:t>
            </a:r>
          </a:p>
        </p:txBody>
      </p:sp>
      <p:sp>
        <p:nvSpPr>
          <p:cNvPr id="29" name="SOLICITUD"/>
          <p:cNvSpPr txBox="1"/>
          <p:nvPr/>
        </p:nvSpPr>
        <p:spPr>
          <a:xfrm>
            <a:off x="3014001" y="6142663"/>
            <a:ext cx="684477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 spc="104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SOLICITUD</a:t>
            </a:r>
          </a:p>
        </p:txBody>
      </p:sp>
      <p:sp>
        <p:nvSpPr>
          <p:cNvPr id="30" name="PROPUESTAS"/>
          <p:cNvSpPr txBox="1"/>
          <p:nvPr/>
        </p:nvSpPr>
        <p:spPr>
          <a:xfrm>
            <a:off x="4104878" y="6142663"/>
            <a:ext cx="758693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 spc="104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PROPUESTAS</a:t>
            </a:r>
          </a:p>
        </p:txBody>
      </p:sp>
      <p:sp>
        <p:nvSpPr>
          <p:cNvPr id="31" name="CONTRATACIÓN"/>
          <p:cNvSpPr txBox="1"/>
          <p:nvPr/>
        </p:nvSpPr>
        <p:spPr>
          <a:xfrm>
            <a:off x="5269971" y="6142663"/>
            <a:ext cx="906992" cy="156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 spc="104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CONTRATACIÓN</a:t>
            </a:r>
          </a:p>
        </p:txBody>
      </p:sp>
      <p:sp>
        <p:nvSpPr>
          <p:cNvPr id="32" name="1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321733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captura" descr="1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1913467"/>
            <a:ext cx="3702711" cy="2898510"/>
          </a:xfrm>
          <a:prstGeom prst="rect">
            <a:avLst/>
          </a:prstGeom>
          <a:effectLst/>
        </p:spPr>
      </p:pic>
      <p:sp>
        <p:nvSpPr>
          <p:cNvPr id="6" name="caja"/>
          <p:cNvSpPr/>
          <p:nvPr/>
        </p:nvSpPr>
        <p:spPr>
          <a:xfrm>
            <a:off x="4244578" y="1540933"/>
            <a:ext cx="237067" cy="2370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captura" descr="17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578" y="1913467"/>
            <a:ext cx="3702711" cy="2898775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8167423" y="1540933"/>
            <a:ext cx="3702844" cy="3564202"/>
          </a:xfrm>
          <a:prstGeom prst="roundRect">
            <a:avLst>
              <a:gd name="adj" fmla="val 1187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9341511" y="2394347"/>
            <a:ext cx="1354667" cy="1354667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imagen" descr="17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178" y="2479014"/>
            <a:ext cx="1185333" cy="1185333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321733" y="5405570"/>
            <a:ext cx="11548533" cy="859764"/>
          </a:xfrm>
          <a:prstGeom prst="roundRect">
            <a:avLst>
              <a:gd name="adj" fmla="val 4923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VP"/>
          <p:cNvSpPr txBox="1"/>
          <p:nvPr/>
        </p:nvSpPr>
        <p:spPr>
          <a:xfrm>
            <a:off x="609600" y="469114"/>
            <a:ext cx="3690276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MVP</a:t>
            </a:r>
          </a:p>
        </p:txBody>
      </p:sp>
      <p:sp>
        <p:nvSpPr>
          <p:cNvPr id="13" name="Recorrido del cliente · Hogares y py"/>
          <p:cNvSpPr txBox="1"/>
          <p:nvPr/>
        </p:nvSpPr>
        <p:spPr>
          <a:xfrm>
            <a:off x="609600" y="996667"/>
            <a:ext cx="3690276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Recorrido del cliente · Hogares y pymes gastronómicas</a:t>
            </a:r>
          </a:p>
        </p:txBody>
      </p:sp>
      <p:sp>
        <p:nvSpPr>
          <p:cNvPr id="14" name="2 / 2"/>
          <p:cNvSpPr txBox="1"/>
          <p:nvPr/>
        </p:nvSpPr>
        <p:spPr>
          <a:xfrm>
            <a:off x="10323380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2 / 2</a:t>
            </a:r>
          </a:p>
        </p:txBody>
      </p:sp>
      <p:sp>
        <p:nvSpPr>
          <p:cNvPr id="15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6" name="4"/>
          <p:cNvSpPr txBox="1"/>
          <p:nvPr/>
        </p:nvSpPr>
        <p:spPr>
          <a:xfrm>
            <a:off x="304800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17" name="Propuestas"/>
          <p:cNvSpPr txBox="1"/>
          <p:nvPr/>
        </p:nvSpPr>
        <p:spPr>
          <a:xfrm>
            <a:off x="651933" y="1545793"/>
            <a:ext cx="92141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0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Propuestas</a:t>
            </a:r>
          </a:p>
        </p:txBody>
      </p:sp>
      <p:sp>
        <p:nvSpPr>
          <p:cNvPr id="18" name="Precio y plazo comparables."/>
          <p:cNvSpPr txBox="1"/>
          <p:nvPr/>
        </p:nvSpPr>
        <p:spPr>
          <a:xfrm>
            <a:off x="321733" y="4937871"/>
            <a:ext cx="3719645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Precio y plazo comparables.</a:t>
            </a:r>
          </a:p>
        </p:txBody>
      </p:sp>
      <p:sp>
        <p:nvSpPr>
          <p:cNvPr id="19" name="5"/>
          <p:cNvSpPr txBox="1"/>
          <p:nvPr/>
        </p:nvSpPr>
        <p:spPr>
          <a:xfrm>
            <a:off x="4227645" y="1545263"/>
            <a:ext cx="270933" cy="26679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5</a:t>
            </a:r>
          </a:p>
        </p:txBody>
      </p:sp>
      <p:sp>
        <p:nvSpPr>
          <p:cNvPr id="20" name="Contratación"/>
          <p:cNvSpPr txBox="1"/>
          <p:nvPr/>
        </p:nvSpPr>
        <p:spPr>
          <a:xfrm>
            <a:off x="4574778" y="1545793"/>
            <a:ext cx="1039283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0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Contratación</a:t>
            </a:r>
          </a:p>
        </p:txBody>
      </p:sp>
      <p:sp>
        <p:nvSpPr>
          <p:cNvPr id="21" name="Pago y seguimiento."/>
          <p:cNvSpPr txBox="1"/>
          <p:nvPr/>
        </p:nvSpPr>
        <p:spPr>
          <a:xfrm>
            <a:off x="4244578" y="4938136"/>
            <a:ext cx="3719645" cy="1901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Pago y seguimiento.</a:t>
            </a:r>
          </a:p>
        </p:txBody>
      </p:sp>
      <p:sp>
        <p:nvSpPr>
          <p:cNvPr id="22" name="ESCANEÁ PARAPROBAR EL MVP"/>
          <p:cNvSpPr txBox="1"/>
          <p:nvPr/>
        </p:nvSpPr>
        <p:spPr>
          <a:xfrm>
            <a:off x="9519973" y="3919917"/>
            <a:ext cx="997611" cy="3402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ESCANEÁ PARA</a:t>
            </a:r>
          </a:p>
          <a:p>
            <a:pPr algn="ctr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FFFFFF"/>
                </a:solidFill>
                <a:latin typeface="IBM Plex Mono SemiBold"/>
                <a:cs typeface="IBM Plex Mono SemiBold"/>
                <a:ea typeface="IBM Plex Mono SemiBold"/>
              </a:rPr>
              <a:t>PROBAR EL MVP</a:t>
            </a:r>
          </a:p>
        </p:txBody>
      </p:sp>
      <p:sp>
        <p:nvSpPr>
          <p:cNvPr id="23" name="El MVP permite recorrer la experienc"/>
          <p:cNvSpPr txBox="1"/>
          <p:nvPr/>
        </p:nvSpPr>
        <p:spPr>
          <a:xfrm>
            <a:off x="609600" y="5608243"/>
            <a:ext cx="10989733" cy="241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FFFFFF"/>
                </a:solidFill>
                <a:latin typeface="IBM Plex Sans Medium"/>
                <a:cs typeface="IBM Plex Sans Medium"/>
                <a:ea typeface="IBM Plex Sans Medium"/>
              </a:rPr>
              <a:t>El MVP permite recorrer la experiencia principal del cliente, desde la búsqueda hasta la contratación.</a:t>
            </a:r>
          </a:p>
        </p:txBody>
      </p:sp>
      <p:sp>
        <p:nvSpPr>
          <p:cNvPr id="24" name="BÚSQUEDA · GEOLOCALIZACIÓN · SOLICIT"/>
          <p:cNvSpPr txBox="1"/>
          <p:nvPr/>
        </p:nvSpPr>
        <p:spPr>
          <a:xfrm>
            <a:off x="609600" y="5946863"/>
            <a:ext cx="10989733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BÚSQUEDA · GEOLOCALIZACIÓN · SOLICITUD · PROPUESTAS · CONTRATACIÓN · SEGUIMIENTO</a:t>
            </a:r>
          </a:p>
        </p:txBody>
      </p:sp>
      <p:sp>
        <p:nvSpPr>
          <p:cNvPr id="25" name="1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caja"/>
          <p:cNvSpPr/>
          <p:nvPr/>
        </p:nvSpPr>
        <p:spPr>
          <a:xfrm>
            <a:off x="5461000" y="2872714"/>
            <a:ext cx="1270000" cy="1270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imagen" descr="1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0" y="2948914"/>
            <a:ext cx="1117600" cy="1117600"/>
          </a:xfrm>
          <a:prstGeom prst="rect">
            <a:avLst/>
          </a:prstGeom>
          <a:effectLst/>
        </p:spPr>
      </p:pic>
      <p:pic>
        <p:nvPicPr>
          <p:cNvPr id="6" name="grafico" descr="1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848" y="4859734"/>
            <a:ext cx="287867" cy="287867"/>
          </a:xfrm>
          <a:prstGeom prst="rect">
            <a:avLst/>
          </a:prstGeom>
          <a:effectLst/>
        </p:spPr>
      </p:pic>
      <p:sp>
        <p:nvSpPr>
          <p:cNvPr id="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8" name="Muchas gracias"/>
          <p:cNvSpPr txBox="1"/>
          <p:nvPr/>
        </p:nvSpPr>
        <p:spPr>
          <a:xfrm>
            <a:off x="4086093" y="1450625"/>
            <a:ext cx="4036616" cy="601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270" spc="-149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Muchas gracias</a:t>
            </a:r>
          </a:p>
        </p:txBody>
      </p:sp>
      <p:sp>
        <p:nvSpPr>
          <p:cNvPr id="9" name="PROBÁ EL MVP"/>
          <p:cNvSpPr txBox="1"/>
          <p:nvPr/>
        </p:nvSpPr>
        <p:spPr>
          <a:xfrm>
            <a:off x="5671211" y="2605044"/>
            <a:ext cx="866378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17">
                <a:solidFill>
                  <a:srgbClr val="9FBEFB"/>
                </a:solidFill>
                <a:latin typeface="IBM Plex Mono SemiBold"/>
                <a:cs typeface="IBM Plex Mono SemiBold"/>
                <a:ea typeface="IBM Plex Mono SemiBold"/>
              </a:rPr>
              <a:t>PROBÁ EL MVP</a:t>
            </a:r>
          </a:p>
        </p:txBody>
      </p:sp>
      <p:sp>
        <p:nvSpPr>
          <p:cNvPr id="10" name="OFIX"/>
          <p:cNvSpPr txBox="1"/>
          <p:nvPr/>
        </p:nvSpPr>
        <p:spPr>
          <a:xfrm>
            <a:off x="5416285" y="4861705"/>
            <a:ext cx="969962" cy="41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5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11" name="TU HOGAR, EN BUENAS MANOS"/>
          <p:cNvSpPr txBox="1"/>
          <p:nvPr/>
        </p:nvSpPr>
        <p:spPr>
          <a:xfrm>
            <a:off x="4888177" y="5288432"/>
            <a:ext cx="2432579" cy="1614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 spc="140">
                <a:solidFill>
                  <a:srgbClr val="FFFFFF"/>
                </a:solidFill>
                <a:latin typeface="Archivo Medium"/>
                <a:cs typeface="Archivo Medium"/>
                <a:ea typeface="Archivo Medium"/>
              </a:rPr>
              <a:t>TU HOGAR, EN BUENAS MANOS</a:t>
            </a:r>
          </a:p>
        </p:txBody>
      </p:sp>
      <p:sp>
        <p:nvSpPr>
          <p:cNvPr id="12" name="1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degradado" descr="19_0.jpg"/>
          <p:cNvPicPr>
            <a:picLocks noMove="1" noResize="1" noChangeAspect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4" name="grafico" descr="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6" name="ANEXO"/>
          <p:cNvSpPr txBox="1"/>
          <p:nvPr/>
        </p:nvSpPr>
        <p:spPr>
          <a:xfrm>
            <a:off x="4141523" y="3077744"/>
            <a:ext cx="3925755" cy="11142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400" spc="-420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ANEXO</a:t>
            </a:r>
          </a:p>
        </p:txBody>
      </p:sp>
      <p:sp>
        <p:nvSpPr>
          <p:cNvPr id="7" name="1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5977467" y="1524000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24569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1524000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206067" y="1524000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6206067" y="1524000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right"/>
          <p:cNvSpPr/>
          <p:nvPr/>
        </p:nvSpPr>
        <p:spPr>
          <a:xfrm>
            <a:off x="11573933" y="1524000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bottom"/>
          <p:cNvSpPr/>
          <p:nvPr/>
        </p:nvSpPr>
        <p:spPr>
          <a:xfrm>
            <a:off x="6206067" y="24569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6206067" y="1524000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2685521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609600" y="26855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right"/>
          <p:cNvSpPr/>
          <p:nvPr/>
        </p:nvSpPr>
        <p:spPr>
          <a:xfrm>
            <a:off x="5977467" y="2685521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3618442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left"/>
          <p:cNvSpPr/>
          <p:nvPr/>
        </p:nvSpPr>
        <p:spPr>
          <a:xfrm>
            <a:off x="609600" y="2685521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206067" y="2685521"/>
            <a:ext cx="5376333" cy="941388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top"/>
          <p:cNvSpPr/>
          <p:nvPr/>
        </p:nvSpPr>
        <p:spPr>
          <a:xfrm>
            <a:off x="6206067" y="2685521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right"/>
          <p:cNvSpPr/>
          <p:nvPr/>
        </p:nvSpPr>
        <p:spPr>
          <a:xfrm>
            <a:off x="11573933" y="2685521"/>
            <a:ext cx="8467" cy="94138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bottom"/>
          <p:cNvSpPr/>
          <p:nvPr/>
        </p:nvSpPr>
        <p:spPr>
          <a:xfrm>
            <a:off x="6206067" y="3618442"/>
            <a:ext cx="5376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left"/>
          <p:cNvSpPr/>
          <p:nvPr/>
        </p:nvSpPr>
        <p:spPr>
          <a:xfrm>
            <a:off x="6206067" y="2685521"/>
            <a:ext cx="25400" cy="94138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609600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aja"/>
          <p:cNvSpPr/>
          <p:nvPr/>
        </p:nvSpPr>
        <p:spPr>
          <a:xfrm>
            <a:off x="2458111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4306623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aja"/>
          <p:cNvSpPr/>
          <p:nvPr/>
        </p:nvSpPr>
        <p:spPr>
          <a:xfrm>
            <a:off x="6155134" y="5842000"/>
            <a:ext cx="1730110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8003778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ja"/>
          <p:cNvSpPr/>
          <p:nvPr/>
        </p:nvSpPr>
        <p:spPr>
          <a:xfrm>
            <a:off x="9852290" y="5842000"/>
            <a:ext cx="1729978" cy="423333"/>
          </a:xfrm>
          <a:prstGeom prst="roundRect">
            <a:avLst>
              <a:gd name="adj" fmla="val 800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terial de respaldo"/>
          <p:cNvSpPr txBox="1"/>
          <p:nvPr/>
        </p:nvSpPr>
        <p:spPr>
          <a:xfrm>
            <a:off x="609600" y="457120"/>
            <a:ext cx="3106605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Material de respaldo</a:t>
            </a:r>
          </a:p>
        </p:txBody>
      </p:sp>
      <p:sp>
        <p:nvSpPr>
          <p:cNvPr id="32" name="Documentos y recursos del proyecto"/>
          <p:cNvSpPr txBox="1"/>
          <p:nvPr/>
        </p:nvSpPr>
        <p:spPr>
          <a:xfrm>
            <a:off x="609600" y="844871"/>
            <a:ext cx="3106605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Documentos y recursos del proyecto</a:t>
            </a:r>
          </a:p>
        </p:txBody>
      </p:sp>
      <p:sp>
        <p:nvSpPr>
          <p:cNvPr id="3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3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35" name="Modelo financiero"/>
          <p:cNvSpPr txBox="1"/>
          <p:nvPr/>
        </p:nvSpPr>
        <p:spPr>
          <a:xfrm>
            <a:off x="905933" y="1757280"/>
            <a:ext cx="4817533" cy="2339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Modelo financiero</a:t>
            </a:r>
          </a:p>
        </p:txBody>
      </p:sp>
      <p:sp>
        <p:nvSpPr>
          <p:cNvPr id="36" name="Planilla con proyecciones, VAN, TIR "/>
          <p:cNvSpPr txBox="1"/>
          <p:nvPr/>
        </p:nvSpPr>
        <p:spPr>
          <a:xfrm>
            <a:off x="905933" y="2064283"/>
            <a:ext cx="4817533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Planilla con proyecciones, VAN, TIR y payback.</a:t>
            </a:r>
          </a:p>
        </p:txBody>
      </p:sp>
      <p:sp>
        <p:nvSpPr>
          <p:cNvPr id="37" name="Trabajo Final de Graduación"/>
          <p:cNvSpPr txBox="1"/>
          <p:nvPr/>
        </p:nvSpPr>
        <p:spPr>
          <a:xfrm>
            <a:off x="6502400" y="1757280"/>
            <a:ext cx="4817533" cy="2339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Trabajo Final de Graduación</a:t>
            </a:r>
          </a:p>
        </p:txBody>
      </p:sp>
      <p:sp>
        <p:nvSpPr>
          <p:cNvPr id="38" name="Documento completo de la tesis."/>
          <p:cNvSpPr txBox="1"/>
          <p:nvPr/>
        </p:nvSpPr>
        <p:spPr>
          <a:xfrm>
            <a:off x="6502400" y="2064283"/>
            <a:ext cx="4817533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Documento completo de la tesis.</a:t>
            </a:r>
          </a:p>
        </p:txBody>
      </p:sp>
      <p:sp>
        <p:nvSpPr>
          <p:cNvPr id="39" name="MVP online"/>
          <p:cNvSpPr txBox="1"/>
          <p:nvPr/>
        </p:nvSpPr>
        <p:spPr>
          <a:xfrm>
            <a:off x="905933" y="2918800"/>
            <a:ext cx="4817533" cy="2339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MVP online</a:t>
            </a:r>
          </a:p>
        </p:txBody>
      </p:sp>
      <p:sp>
        <p:nvSpPr>
          <p:cNvPr id="40" name="Prototipo navegable de la plataforma"/>
          <p:cNvSpPr txBox="1"/>
          <p:nvPr/>
        </p:nvSpPr>
        <p:spPr>
          <a:xfrm>
            <a:off x="905933" y="3225804"/>
            <a:ext cx="4817533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Prototipo navegable de la plataforma.</a:t>
            </a:r>
          </a:p>
        </p:txBody>
      </p:sp>
      <p:sp>
        <p:nvSpPr>
          <p:cNvPr id="41" name="One Pager"/>
          <p:cNvSpPr txBox="1"/>
          <p:nvPr/>
        </p:nvSpPr>
        <p:spPr>
          <a:xfrm>
            <a:off x="6502400" y="2918800"/>
            <a:ext cx="4817533" cy="2339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One Pager</a:t>
            </a:r>
          </a:p>
        </p:txBody>
      </p:sp>
      <p:sp>
        <p:nvSpPr>
          <p:cNvPr id="42" name="Resumen ejecutivo del proyecto."/>
          <p:cNvSpPr txBox="1"/>
          <p:nvPr/>
        </p:nvSpPr>
        <p:spPr>
          <a:xfrm>
            <a:off x="6502400" y="3225804"/>
            <a:ext cx="4817533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Resumen ejecutivo del proyecto.</a:t>
            </a:r>
          </a:p>
        </p:txBody>
      </p:sp>
      <p:sp>
        <p:nvSpPr>
          <p:cNvPr id="43" name="CÓMO ESTÁ ORGANIZADO EL ANEXO"/>
          <p:cNvSpPr txBox="1"/>
          <p:nvPr/>
        </p:nvSpPr>
        <p:spPr>
          <a:xfrm>
            <a:off x="609600" y="5590730"/>
            <a:ext cx="10989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CÓMO ESTÁ ORGANIZADO EL ANEXO</a:t>
            </a:r>
          </a:p>
        </p:txBody>
      </p:sp>
      <p:sp>
        <p:nvSpPr>
          <p:cNvPr id="44" name="Investigación"/>
          <p:cNvSpPr txBox="1"/>
          <p:nvPr/>
        </p:nvSpPr>
        <p:spPr>
          <a:xfrm>
            <a:off x="694267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Investigación</a:t>
            </a:r>
          </a:p>
        </p:txBody>
      </p:sp>
      <p:sp>
        <p:nvSpPr>
          <p:cNvPr id="45" name="Solución"/>
          <p:cNvSpPr txBox="1"/>
          <p:nvPr/>
        </p:nvSpPr>
        <p:spPr>
          <a:xfrm>
            <a:off x="2542778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Solución</a:t>
            </a:r>
          </a:p>
        </p:txBody>
      </p:sp>
      <p:sp>
        <p:nvSpPr>
          <p:cNvPr id="46" name="Competencia"/>
          <p:cNvSpPr txBox="1"/>
          <p:nvPr/>
        </p:nvSpPr>
        <p:spPr>
          <a:xfrm>
            <a:off x="4391290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Competencia</a:t>
            </a:r>
          </a:p>
        </p:txBody>
      </p:sp>
      <p:sp>
        <p:nvSpPr>
          <p:cNvPr id="47" name="Finanzas"/>
          <p:cNvSpPr txBox="1"/>
          <p:nvPr/>
        </p:nvSpPr>
        <p:spPr>
          <a:xfrm>
            <a:off x="6239801" y="5982288"/>
            <a:ext cx="1560777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Finanzas</a:t>
            </a:r>
          </a:p>
        </p:txBody>
      </p:sp>
      <p:sp>
        <p:nvSpPr>
          <p:cNvPr id="48" name="MVP"/>
          <p:cNvSpPr txBox="1"/>
          <p:nvPr/>
        </p:nvSpPr>
        <p:spPr>
          <a:xfrm>
            <a:off x="8088445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MVP</a:t>
            </a:r>
          </a:p>
        </p:txBody>
      </p:sp>
      <p:sp>
        <p:nvSpPr>
          <p:cNvPr id="49" name="Preguntas"/>
          <p:cNvSpPr txBox="1"/>
          <p:nvPr/>
        </p:nvSpPr>
        <p:spPr>
          <a:xfrm>
            <a:off x="9936956" y="5982288"/>
            <a:ext cx="1560645" cy="1826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1B54D6"/>
                </a:solidFill>
                <a:latin typeface="IBM Plex Sans SemiBold"/>
                <a:cs typeface="IBM Plex Sans SemiBold"/>
                <a:ea typeface="IBM Plex Sans SemiBold"/>
              </a:rPr>
              <a:t>Preguntas</a:t>
            </a:r>
          </a:p>
        </p:txBody>
      </p:sp>
      <p:sp>
        <p:nvSpPr>
          <p:cNvPr id="50" name="1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5" name="SPRINT 1"/>
          <p:cNvSpPr txBox="1"/>
          <p:nvPr/>
        </p:nvSpPr>
        <p:spPr>
          <a:xfrm>
            <a:off x="4151577" y="2987633"/>
            <a:ext cx="3905779" cy="8878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670" spc="-33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SPRINT 1</a:t>
            </a:r>
          </a:p>
        </p:txBody>
      </p:sp>
      <p:sp>
        <p:nvSpPr>
          <p:cNvPr id="6" name="EVIDENCIA DEL PROBLEMA"/>
          <p:cNvSpPr txBox="1"/>
          <p:nvPr/>
        </p:nvSpPr>
        <p:spPr>
          <a:xfrm>
            <a:off x="5000625" y="3824929"/>
            <a:ext cx="2207551" cy="1842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224">
                <a:solidFill>
                  <a:srgbClr val="D97A38"/>
                </a:solidFill>
                <a:latin typeface="IBM Plex Mono SemiBold"/>
                <a:cs typeface="IBM Plex Mono SemiBold"/>
                <a:ea typeface="IBM Plex Mono SemiBold"/>
              </a:rPr>
              <a:t>EVIDENCIA DEL PROBLEMA</a:t>
            </a:r>
          </a:p>
        </p:txBody>
      </p:sp>
      <p:sp>
        <p:nvSpPr>
          <p:cNvPr id="7" name="2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015067"/>
            <a:ext cx="5317067" cy="4250267"/>
          </a:xfrm>
          <a:prstGeom prst="roundRect">
            <a:avLst>
              <a:gd name="adj" fmla="val 7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15067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5918200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6256867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956733" y="2362200"/>
            <a:ext cx="389467" cy="389467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grafico" descr="22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67" y="2455333"/>
            <a:ext cx="203200" cy="203200"/>
          </a:xfrm>
          <a:prstGeom prst="rect">
            <a:avLst/>
          </a:prstGeom>
          <a:effectLst/>
        </p:spPr>
      </p:pic>
      <p:sp>
        <p:nvSpPr>
          <p:cNvPr id="12" name="caja"/>
          <p:cNvSpPr/>
          <p:nvPr/>
        </p:nvSpPr>
        <p:spPr>
          <a:xfrm>
            <a:off x="6265333" y="2015067"/>
            <a:ext cx="5317067" cy="4250267"/>
          </a:xfrm>
          <a:prstGeom prst="roundRect">
            <a:avLst>
              <a:gd name="adj" fmla="val 796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265333" y="2015067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right"/>
          <p:cNvSpPr/>
          <p:nvPr/>
        </p:nvSpPr>
        <p:spPr>
          <a:xfrm>
            <a:off x="11573933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bottom"/>
          <p:cNvSpPr/>
          <p:nvPr/>
        </p:nvSpPr>
        <p:spPr>
          <a:xfrm>
            <a:off x="6265333" y="6256867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265333" y="2015067"/>
            <a:ext cx="8467" cy="42502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612467" y="2362200"/>
            <a:ext cx="389467" cy="389467"/>
          </a:xfrm>
          <a:prstGeom prst="ellipse">
            <a:avLst/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grafico" descr="22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455333"/>
            <a:ext cx="203200" cy="203200"/>
          </a:xfrm>
          <a:prstGeom prst="rect">
            <a:avLst/>
          </a:prstGeom>
          <a:effectLst/>
        </p:spPr>
      </p:pic>
      <p:sp>
        <p:nvSpPr>
          <p:cNvPr id="19" name="Problema validado por usuarios"/>
          <p:cNvSpPr txBox="1"/>
          <p:nvPr/>
        </p:nvSpPr>
        <p:spPr>
          <a:xfrm>
            <a:off x="609600" y="454662"/>
            <a:ext cx="4868333" cy="84968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Problema validado por usuarios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2" name="VICTORIA"/>
          <p:cNvSpPr txBox="1"/>
          <p:nvPr/>
        </p:nvSpPr>
        <p:spPr>
          <a:xfrm>
            <a:off x="1464733" y="2349523"/>
            <a:ext cx="2175007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28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VICTORIA</a:t>
            </a:r>
          </a:p>
        </p:txBody>
      </p:sp>
      <p:sp>
        <p:nvSpPr>
          <p:cNvPr id="23" name="Madre de dos hijos, trabaja home off"/>
          <p:cNvSpPr txBox="1"/>
          <p:nvPr/>
        </p:nvSpPr>
        <p:spPr>
          <a:xfrm>
            <a:off x="1464733" y="2587629"/>
            <a:ext cx="2175007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Madre de dos hijos, trabaja home office</a:t>
            </a:r>
          </a:p>
        </p:txBody>
      </p:sp>
      <p:sp>
        <p:nvSpPr>
          <p:cNvPr id="24" name="“Se me rompió el caño del baño. ¿Cóm"/>
          <p:cNvSpPr txBox="1"/>
          <p:nvPr/>
        </p:nvSpPr>
        <p:spPr>
          <a:xfrm>
            <a:off x="956733" y="3923123"/>
            <a:ext cx="4622800" cy="10256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000" spc="-36">
                <a:solidFill>
                  <a:srgbClr val="0D1520"/>
                </a:solidFill>
                <a:latin typeface="Archivo SemiBold"/>
                <a:cs typeface="Archivo SemiBold"/>
                <a:ea typeface="Archivo SemiBold"/>
              </a:rPr>
              <a:t>“Se me rompió el caño del baño. ¿Cómo se van a bañar mis hijos para ir mañana al colegio?”</a:t>
            </a:r>
          </a:p>
        </p:txBody>
      </p:sp>
      <p:sp>
        <p:nvSpPr>
          <p:cNvPr id="25" name="MANUEL"/>
          <p:cNvSpPr txBox="1"/>
          <p:nvPr/>
        </p:nvSpPr>
        <p:spPr>
          <a:xfrm>
            <a:off x="7120467" y="2349523"/>
            <a:ext cx="1290770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28">
                <a:solidFill>
                  <a:srgbClr val="B5561B"/>
                </a:solidFill>
                <a:latin typeface="Archivo ExtraBold"/>
                <a:cs typeface="Archivo ExtraBold"/>
                <a:ea typeface="Archivo ExtraBold"/>
              </a:rPr>
              <a:t>MANUEL</a:t>
            </a:r>
          </a:p>
        </p:txBody>
      </p:sp>
      <p:sp>
        <p:nvSpPr>
          <p:cNvPr id="26" name="Dueño de una cafetería"/>
          <p:cNvSpPr txBox="1"/>
          <p:nvPr/>
        </p:nvSpPr>
        <p:spPr>
          <a:xfrm>
            <a:off x="7120467" y="2587629"/>
            <a:ext cx="1290770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Dueño de una cafetería</a:t>
            </a:r>
          </a:p>
        </p:txBody>
      </p:sp>
      <p:sp>
        <p:nvSpPr>
          <p:cNvPr id="27" name="“Se pinchó un caño y se está inundan"/>
          <p:cNvSpPr txBox="1"/>
          <p:nvPr/>
        </p:nvSpPr>
        <p:spPr>
          <a:xfrm>
            <a:off x="6612467" y="3923123"/>
            <a:ext cx="4622800" cy="10256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000" spc="-36">
                <a:solidFill>
                  <a:srgbClr val="0D1520"/>
                </a:solidFill>
                <a:latin typeface="Archivo SemiBold"/>
                <a:cs typeface="Archivo SemiBold"/>
                <a:ea typeface="Archivo SemiBold"/>
              </a:rPr>
              <a:t>“Se pinchó un caño y se está inundando la cocina. ¿Cómo vamos a abrir el local hoy?”</a:t>
            </a:r>
          </a:p>
        </p:txBody>
      </p:sp>
      <p:sp>
        <p:nvSpPr>
          <p:cNvPr id="28" name="2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02933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left"/>
          <p:cNvSpPr/>
          <p:nvPr/>
        </p:nvSpPr>
        <p:spPr>
          <a:xfrm>
            <a:off x="609600" y="2302933"/>
            <a:ext cx="25400" cy="51011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982383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982383"/>
            <a:ext cx="25400" cy="51011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419718" y="2015067"/>
            <a:ext cx="5162682" cy="4250267"/>
          </a:xfrm>
          <a:prstGeom prst="roundRect">
            <a:avLst>
              <a:gd name="adj" fmla="val 79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724518" y="2286000"/>
            <a:ext cx="1116145" cy="237067"/>
          </a:xfrm>
          <a:prstGeom prst="roundRect">
            <a:avLst>
              <a:gd name="adj" fmla="val 10714"/>
            </a:avLst>
          </a:prstGeom>
          <a:solidFill>
            <a:srgbClr val="9FBEFB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724518" y="395181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724518" y="3951817"/>
            <a:ext cx="3801798" cy="50800"/>
          </a:xfrm>
          <a:prstGeom prst="roundRect">
            <a:avLst>
              <a:gd name="adj" fmla="val 33333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6724518" y="4557183"/>
            <a:ext cx="455308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724518" y="541866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724518" y="5418667"/>
            <a:ext cx="3619632" cy="50800"/>
          </a:xfrm>
          <a:prstGeom prst="roundRect">
            <a:avLst>
              <a:gd name="adj" fmla="val 33333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roblema validado por Usuarios"/>
          <p:cNvSpPr txBox="1"/>
          <p:nvPr/>
        </p:nvSpPr>
        <p:spPr>
          <a:xfrm>
            <a:off x="609600" y="454662"/>
            <a:ext cx="4868333" cy="84968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Problema validado por Usuarios</a:t>
            </a:r>
          </a:p>
        </p:txBody>
      </p:sp>
      <p:sp>
        <p:nvSpPr>
          <p:cNvPr id="17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9" name="INSIGHTS"/>
          <p:cNvSpPr txBox="1"/>
          <p:nvPr/>
        </p:nvSpPr>
        <p:spPr>
          <a:xfrm>
            <a:off x="609600" y="2017797"/>
            <a:ext cx="543758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INSIGHTS</a:t>
            </a:r>
          </a:p>
        </p:txBody>
      </p:sp>
      <p:sp>
        <p:nvSpPr>
          <p:cNvPr id="20" name="“Nunca sabés si confiar, cuánto te v"/>
          <p:cNvSpPr txBox="1"/>
          <p:nvPr/>
        </p:nvSpPr>
        <p:spPr>
          <a:xfrm>
            <a:off x="804333" y="2295167"/>
            <a:ext cx="5225918" cy="5094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0D1520"/>
                </a:solidFill>
                <a:latin typeface="Archivo SemiBold"/>
                <a:cs typeface="Archivo SemiBold"/>
                <a:ea typeface="Archivo SemiBold"/>
              </a:rPr>
              <a:t>“Nunca sabés si confiar, cuánto te van a cobrar o si el trabajo va a quedar bien.”</a:t>
            </a:r>
          </a:p>
        </p:txBody>
      </p:sp>
      <p:sp>
        <p:nvSpPr>
          <p:cNvPr id="21" name="“Nunca estoy seguro de a quién llama"/>
          <p:cNvSpPr txBox="1"/>
          <p:nvPr/>
        </p:nvSpPr>
        <p:spPr>
          <a:xfrm>
            <a:off x="804333" y="2974617"/>
            <a:ext cx="5225918" cy="5094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0D1520"/>
                </a:solidFill>
                <a:latin typeface="Archivo SemiBold"/>
                <a:cs typeface="Archivo SemiBold"/>
                <a:ea typeface="Archivo SemiBold"/>
              </a:rPr>
              <a:t>“Nunca estoy seguro de a quién llamar cuando necesito un técnico.”</a:t>
            </a:r>
          </a:p>
        </p:txBody>
      </p:sp>
      <p:sp>
        <p:nvSpPr>
          <p:cNvPr id="22" name="NATALIA FERNÁNDEZ"/>
          <p:cNvSpPr txBox="1"/>
          <p:nvPr/>
        </p:nvSpPr>
        <p:spPr>
          <a:xfrm>
            <a:off x="609600" y="6150063"/>
            <a:ext cx="5437584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9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NATALIA FERNÁNDEZ</a:t>
            </a:r>
          </a:p>
        </p:txBody>
      </p:sp>
      <p:sp>
        <p:nvSpPr>
          <p:cNvPr id="23" name="400 ENCUESTAS"/>
          <p:cNvSpPr txBox="1"/>
          <p:nvPr/>
        </p:nvSpPr>
        <p:spPr>
          <a:xfrm>
            <a:off x="6834584" y="2348530"/>
            <a:ext cx="912945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9FBEFB"/>
                </a:solidFill>
                <a:latin typeface="IBM Plex Mono SemiBold"/>
                <a:cs typeface="IBM Plex Mono SemiBold"/>
                <a:ea typeface="IBM Plex Mono SemiBold"/>
              </a:rPr>
              <a:t>400 ENCUESTAS</a:t>
            </a:r>
          </a:p>
        </p:txBody>
      </p:sp>
      <p:sp>
        <p:nvSpPr>
          <p:cNvPr id="24" name="83,5%"/>
          <p:cNvSpPr txBox="1"/>
          <p:nvPr/>
        </p:nvSpPr>
        <p:spPr>
          <a:xfrm>
            <a:off x="6724518" y="3410494"/>
            <a:ext cx="4570016" cy="580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400" spc="-176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83,5%</a:t>
            </a:r>
          </a:p>
        </p:txBody>
      </p:sp>
      <p:sp>
        <p:nvSpPr>
          <p:cNvPr id="25" name="Encuentra trabajadores principalment"/>
          <p:cNvSpPr txBox="1"/>
          <p:nvPr/>
        </p:nvSpPr>
        <p:spPr>
          <a:xfrm>
            <a:off x="6724518" y="4113418"/>
            <a:ext cx="4570016" cy="23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Encuentra trabajadores principalmente por recomendación.</a:t>
            </a:r>
          </a:p>
        </p:txBody>
      </p:sp>
      <p:sp>
        <p:nvSpPr>
          <p:cNvPr id="26" name="79,5%"/>
          <p:cNvSpPr txBox="1"/>
          <p:nvPr/>
        </p:nvSpPr>
        <p:spPr>
          <a:xfrm>
            <a:off x="6724518" y="4877344"/>
            <a:ext cx="4570016" cy="580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400" spc="-176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79,5%</a:t>
            </a:r>
          </a:p>
        </p:txBody>
      </p:sp>
      <p:sp>
        <p:nvSpPr>
          <p:cNvPr id="27" name="Considera la seguridad y la confianz"/>
          <p:cNvSpPr txBox="1"/>
          <p:nvPr/>
        </p:nvSpPr>
        <p:spPr>
          <a:xfrm>
            <a:off x="6724518" y="5580268"/>
            <a:ext cx="4553082" cy="4410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Considera la seguridad y la confianza como factores clave al contratar.</a:t>
            </a:r>
          </a:p>
        </p:txBody>
      </p:sp>
      <p:sp>
        <p:nvSpPr>
          <p:cNvPr id="28" name="2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02933"/>
            <a:ext cx="5420651" cy="27199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left"/>
          <p:cNvSpPr/>
          <p:nvPr/>
        </p:nvSpPr>
        <p:spPr>
          <a:xfrm>
            <a:off x="609600" y="2302933"/>
            <a:ext cx="25400" cy="27199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744258"/>
            <a:ext cx="5420651" cy="51011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744258"/>
            <a:ext cx="25400" cy="510117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419718" y="2015067"/>
            <a:ext cx="5162682" cy="4250267"/>
          </a:xfrm>
          <a:prstGeom prst="roundRect">
            <a:avLst>
              <a:gd name="adj" fmla="val 79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724518" y="2286000"/>
            <a:ext cx="1116145" cy="237067"/>
          </a:xfrm>
          <a:prstGeom prst="roundRect">
            <a:avLst>
              <a:gd name="adj" fmla="val 10714"/>
            </a:avLst>
          </a:prstGeom>
          <a:solidFill>
            <a:srgbClr val="D97A38">
              <a:alpha val="20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724518" y="395181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724518" y="3951817"/>
            <a:ext cx="3901943" cy="50800"/>
          </a:xfrm>
          <a:prstGeom prst="roundRect">
            <a:avLst>
              <a:gd name="adj" fmla="val 33333"/>
            </a:avLst>
          </a:prstGeom>
          <a:solidFill>
            <a:srgbClr val="D9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6724518" y="4557183"/>
            <a:ext cx="455308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724518" y="5418667"/>
            <a:ext cx="4553082" cy="50800"/>
          </a:xfrm>
          <a:prstGeom prst="roundRect">
            <a:avLst>
              <a:gd name="adj" fmla="val 33333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724518" y="5418667"/>
            <a:ext cx="4097734" cy="50800"/>
          </a:xfrm>
          <a:prstGeom prst="roundRect">
            <a:avLst>
              <a:gd name="adj" fmla="val 33333"/>
            </a:avLst>
          </a:prstGeom>
          <a:solidFill>
            <a:srgbClr val="D97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roblema validado por Trabajadores"/>
          <p:cNvSpPr txBox="1"/>
          <p:nvPr/>
        </p:nvSpPr>
        <p:spPr>
          <a:xfrm>
            <a:off x="609600" y="454662"/>
            <a:ext cx="4868333" cy="84968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86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Problema validado por Trabajadores</a:t>
            </a:r>
          </a:p>
        </p:txBody>
      </p:sp>
      <p:sp>
        <p:nvSpPr>
          <p:cNvPr id="17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8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9" name="INSIGHTS"/>
          <p:cNvSpPr txBox="1"/>
          <p:nvPr/>
        </p:nvSpPr>
        <p:spPr>
          <a:xfrm>
            <a:off x="609600" y="2017797"/>
            <a:ext cx="543758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INSIGHTS</a:t>
            </a:r>
          </a:p>
        </p:txBody>
      </p:sp>
      <p:sp>
        <p:nvSpPr>
          <p:cNvPr id="20" name="“Sin recomendaciones es muy difícil "/>
          <p:cNvSpPr txBox="1"/>
          <p:nvPr/>
        </p:nvSpPr>
        <p:spPr>
          <a:xfrm>
            <a:off x="804333" y="2295167"/>
            <a:ext cx="5242851" cy="2712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0D1520"/>
                </a:solidFill>
                <a:latin typeface="Archivo SemiBold"/>
                <a:cs typeface="Archivo SemiBold"/>
                <a:ea typeface="Archivo SemiBold"/>
              </a:rPr>
              <a:t>“Sin recomendaciones es muy difícil conseguir trabajo.”</a:t>
            </a:r>
          </a:p>
        </p:txBody>
      </p:sp>
      <p:sp>
        <p:nvSpPr>
          <p:cNvPr id="21" name="“Ir a un trabajo lejos me hace perde"/>
          <p:cNvSpPr txBox="1"/>
          <p:nvPr/>
        </p:nvSpPr>
        <p:spPr>
          <a:xfrm>
            <a:off x="804333" y="2736492"/>
            <a:ext cx="5225918" cy="5094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17">
                <a:solidFill>
                  <a:srgbClr val="0D1520"/>
                </a:solidFill>
                <a:latin typeface="Archivo SemiBold"/>
                <a:cs typeface="Archivo SemiBold"/>
                <a:ea typeface="Archivo SemiBold"/>
              </a:rPr>
              <a:t>“Ir a un trabajo lejos me hace perder tiempo y plata, prefiero decir que no.”</a:t>
            </a:r>
          </a:p>
        </p:txBody>
      </p:sp>
      <p:sp>
        <p:nvSpPr>
          <p:cNvPr id="22" name="JORGE SALVADOR"/>
          <p:cNvSpPr txBox="1"/>
          <p:nvPr/>
        </p:nvSpPr>
        <p:spPr>
          <a:xfrm>
            <a:off x="609600" y="6150063"/>
            <a:ext cx="5437584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95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JORGE SALVADOR</a:t>
            </a:r>
          </a:p>
        </p:txBody>
      </p:sp>
      <p:sp>
        <p:nvSpPr>
          <p:cNvPr id="23" name="300 ENCUESTAS"/>
          <p:cNvSpPr txBox="1"/>
          <p:nvPr/>
        </p:nvSpPr>
        <p:spPr>
          <a:xfrm>
            <a:off x="6834584" y="2348530"/>
            <a:ext cx="912945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D97A38"/>
                </a:solidFill>
                <a:latin typeface="IBM Plex Mono SemiBold"/>
                <a:cs typeface="IBM Plex Mono SemiBold"/>
                <a:ea typeface="IBM Plex Mono SemiBold"/>
              </a:rPr>
              <a:t>300 ENCUESTAS</a:t>
            </a:r>
          </a:p>
        </p:txBody>
      </p:sp>
      <p:sp>
        <p:nvSpPr>
          <p:cNvPr id="24" name="85,7%"/>
          <p:cNvSpPr txBox="1"/>
          <p:nvPr/>
        </p:nvSpPr>
        <p:spPr>
          <a:xfrm>
            <a:off x="6724518" y="3410494"/>
            <a:ext cx="4570016" cy="580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400" spc="-176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85,7%</a:t>
            </a:r>
          </a:p>
        </p:txBody>
      </p:sp>
      <p:sp>
        <p:nvSpPr>
          <p:cNvPr id="25" name="Consigue nuevos trabajos principalme"/>
          <p:cNvSpPr txBox="1"/>
          <p:nvPr/>
        </p:nvSpPr>
        <p:spPr>
          <a:xfrm>
            <a:off x="6724518" y="4113418"/>
            <a:ext cx="4570016" cy="2335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Consigue nuevos trabajos principalmente por recomendaciones.</a:t>
            </a:r>
          </a:p>
        </p:txBody>
      </p:sp>
      <p:sp>
        <p:nvSpPr>
          <p:cNvPr id="26" name="90%"/>
          <p:cNvSpPr txBox="1"/>
          <p:nvPr/>
        </p:nvSpPr>
        <p:spPr>
          <a:xfrm>
            <a:off x="6724518" y="4877344"/>
            <a:ext cx="4570016" cy="5805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4400" spc="-176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90%</a:t>
            </a:r>
          </a:p>
        </p:txBody>
      </p:sp>
      <p:sp>
        <p:nvSpPr>
          <p:cNvPr id="27" name="Usaría una plataforma para ganar vis"/>
          <p:cNvSpPr txBox="1"/>
          <p:nvPr/>
        </p:nvSpPr>
        <p:spPr>
          <a:xfrm>
            <a:off x="6724518" y="5580268"/>
            <a:ext cx="4553082" cy="44100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7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Usaría una plataforma para ganar visibilidad y acceder a nuevos clientes.</a:t>
            </a:r>
          </a:p>
        </p:txBody>
      </p:sp>
      <p:sp>
        <p:nvSpPr>
          <p:cNvPr id="28" name="2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3231356" y="2660121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3231356" y="2660121"/>
            <a:ext cx="7129462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3231356" y="3065198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3231356" y="3065198"/>
            <a:ext cx="577982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3231356" y="3470275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3231356" y="3470275"/>
            <a:ext cx="50098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3231356" y="3808942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3231356" y="3808942"/>
            <a:ext cx="331391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3231356" y="4147608"/>
            <a:ext cx="7707577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3231356" y="4147608"/>
            <a:ext cx="46170" cy="186267"/>
          </a:xfrm>
          <a:prstGeom prst="roundRect">
            <a:avLst>
              <a:gd name="adj" fmla="val 36676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4697942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ymes / Hogares"/>
          <p:cNvSpPr txBox="1"/>
          <p:nvPr/>
        </p:nvSpPr>
        <p:spPr>
          <a:xfrm>
            <a:off x="609600" y="457120"/>
            <a:ext cx="2568972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Pymes / Hogares</a:t>
            </a:r>
          </a:p>
        </p:txBody>
      </p:sp>
      <p:sp>
        <p:nvSpPr>
          <p:cNvPr id="17" name="Cómo encuentran trabajo"/>
          <p:cNvSpPr txBox="1"/>
          <p:nvPr/>
        </p:nvSpPr>
        <p:spPr>
          <a:xfrm>
            <a:off x="609600" y="844267"/>
            <a:ext cx="2568972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4E5C73"/>
                </a:solidFill>
                <a:latin typeface="Archivo SemiBold"/>
                <a:cs typeface="Archivo SemiBold"/>
                <a:ea typeface="Archivo SemiBold"/>
              </a:rPr>
              <a:t>Cómo encuentran trabajo</a:t>
            </a:r>
          </a:p>
        </p:txBody>
      </p:sp>
      <p:sp>
        <p:nvSpPr>
          <p:cNvPr id="18" name="N = 400 · RESPUESTA MÚLTIPLE"/>
          <p:cNvSpPr txBox="1"/>
          <p:nvPr/>
        </p:nvSpPr>
        <p:spPr>
          <a:xfrm>
            <a:off x="609600" y="1120330"/>
            <a:ext cx="256897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N = 400 · RESPUESTA MÚLTIPLE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1" name="Recomendación de conocidos"/>
          <p:cNvSpPr txBox="1"/>
          <p:nvPr/>
        </p:nvSpPr>
        <p:spPr>
          <a:xfrm>
            <a:off x="609600" y="2678778"/>
            <a:ext cx="2503223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Recomendación de conocidos</a:t>
            </a:r>
          </a:p>
        </p:txBody>
      </p:sp>
      <p:sp>
        <p:nvSpPr>
          <p:cNvPr id="22" name="92,5%"/>
          <p:cNvSpPr txBox="1"/>
          <p:nvPr/>
        </p:nvSpPr>
        <p:spPr>
          <a:xfrm>
            <a:off x="11057467" y="2663162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92,5%</a:t>
            </a:r>
          </a:p>
        </p:txBody>
      </p:sp>
      <p:sp>
        <p:nvSpPr>
          <p:cNvPr id="23" name="Redes sociales (Facebook, Instagram,"/>
          <p:cNvSpPr txBox="1"/>
          <p:nvPr/>
        </p:nvSpPr>
        <p:spPr>
          <a:xfrm>
            <a:off x="609600" y="3004083"/>
            <a:ext cx="2486290" cy="3497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Redes sociales (Facebook, Instagram, WhatsApp)</a:t>
            </a:r>
          </a:p>
        </p:txBody>
      </p:sp>
      <p:sp>
        <p:nvSpPr>
          <p:cNvPr id="24" name="7,5%"/>
          <p:cNvSpPr txBox="1"/>
          <p:nvPr/>
        </p:nvSpPr>
        <p:spPr>
          <a:xfrm>
            <a:off x="11057467" y="3068239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7,5%</a:t>
            </a:r>
          </a:p>
        </p:txBody>
      </p:sp>
      <p:sp>
        <p:nvSpPr>
          <p:cNvPr id="25" name="Google / búsquedas online"/>
          <p:cNvSpPr txBox="1"/>
          <p:nvPr/>
        </p:nvSpPr>
        <p:spPr>
          <a:xfrm>
            <a:off x="609600" y="3488932"/>
            <a:ext cx="2503223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Google / búsquedas online</a:t>
            </a:r>
          </a:p>
        </p:txBody>
      </p:sp>
      <p:sp>
        <p:nvSpPr>
          <p:cNvPr id="26" name="6,5%"/>
          <p:cNvSpPr txBox="1"/>
          <p:nvPr/>
        </p:nvSpPr>
        <p:spPr>
          <a:xfrm>
            <a:off x="11057467" y="3473316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6,5%</a:t>
            </a:r>
          </a:p>
        </p:txBody>
      </p:sp>
      <p:sp>
        <p:nvSpPr>
          <p:cNvPr id="27" name="Otros (carteles, empresa, conocidos)"/>
          <p:cNvSpPr txBox="1"/>
          <p:nvPr/>
        </p:nvSpPr>
        <p:spPr>
          <a:xfrm>
            <a:off x="609600" y="3827599"/>
            <a:ext cx="2503223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Otros (carteles, empresa, conocidos)</a:t>
            </a:r>
          </a:p>
        </p:txBody>
      </p:sp>
      <p:sp>
        <p:nvSpPr>
          <p:cNvPr id="28" name="4,3%"/>
          <p:cNvSpPr txBox="1"/>
          <p:nvPr/>
        </p:nvSpPr>
        <p:spPr>
          <a:xfrm>
            <a:off x="11057467" y="3811983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4,3%</a:t>
            </a:r>
          </a:p>
        </p:txBody>
      </p:sp>
      <p:sp>
        <p:nvSpPr>
          <p:cNvPr id="29" name="Aplicaciones específicas"/>
          <p:cNvSpPr txBox="1"/>
          <p:nvPr/>
        </p:nvSpPr>
        <p:spPr>
          <a:xfrm>
            <a:off x="609600" y="4166265"/>
            <a:ext cx="2503223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Aplicaciones específicas</a:t>
            </a:r>
          </a:p>
        </p:txBody>
      </p:sp>
      <p:sp>
        <p:nvSpPr>
          <p:cNvPr id="30" name="0,0%"/>
          <p:cNvSpPr txBox="1"/>
          <p:nvPr/>
        </p:nvSpPr>
        <p:spPr>
          <a:xfrm>
            <a:off x="11057467" y="4150650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0,0%</a:t>
            </a:r>
          </a:p>
        </p:txBody>
      </p:sp>
      <p:sp>
        <p:nvSpPr>
          <p:cNvPr id="31" name="Esto refleja una fuerte dependencia "/>
          <p:cNvSpPr txBox="1"/>
          <p:nvPr/>
        </p:nvSpPr>
        <p:spPr>
          <a:xfrm>
            <a:off x="812800" y="4860287"/>
            <a:ext cx="10583333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Esto refleja una fuerte dependencia del boca a boca y la falta de soluciones confiables en el mundo digital.</a:t>
            </a:r>
          </a:p>
        </p:txBody>
      </p:sp>
      <p:sp>
        <p:nvSpPr>
          <p:cNvPr id="32" name="2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262055" y="2887398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262055" y="2887398"/>
            <a:ext cx="99456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2262055" y="3292475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2262055" y="3292475"/>
            <a:ext cx="957924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2262055" y="3631142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262055" y="3631142"/>
            <a:ext cx="88780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2262055" y="3969808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2262055" y="3969808"/>
            <a:ext cx="56739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2262055" y="4308475"/>
            <a:ext cx="3337719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2262055" y="4308475"/>
            <a:ext cx="1348317" cy="186267"/>
          </a:xfrm>
          <a:prstGeom prst="roundRect">
            <a:avLst>
              <a:gd name="adj" fmla="val 9090"/>
            </a:avLst>
          </a:prstGeom>
          <a:solidFill>
            <a:srgbClr val="C6D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grafico" descr="26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507" y="2701131"/>
            <a:ext cx="4898760" cy="1947333"/>
          </a:xfrm>
          <a:prstGeom prst="rect">
            <a:avLst/>
          </a:prstGeom>
          <a:effectLst/>
        </p:spPr>
      </p:pic>
      <p:sp>
        <p:nvSpPr>
          <p:cNvPr id="16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rincipales dificultades"/>
          <p:cNvSpPr txBox="1"/>
          <p:nvPr/>
        </p:nvSpPr>
        <p:spPr>
          <a:xfrm>
            <a:off x="609600" y="457120"/>
            <a:ext cx="3586956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Principales dificultades</a:t>
            </a:r>
          </a:p>
        </p:txBody>
      </p:sp>
      <p:sp>
        <p:nvSpPr>
          <p:cNvPr id="18" name="Hogares y pymes · n = 400 · respuest"/>
          <p:cNvSpPr txBox="1"/>
          <p:nvPr/>
        </p:nvSpPr>
        <p:spPr>
          <a:xfrm>
            <a:off x="609600" y="844871"/>
            <a:ext cx="3586956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 Medium"/>
                <a:cs typeface="Archivo Medium"/>
                <a:ea typeface="Archivo Medium"/>
              </a:rPr>
              <a:t>Hogares y pymes · n = 400 · respuesta múltiple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1" name="DIFICULTAD AL CONTRATAR TRABAJADORES"/>
          <p:cNvSpPr txBox="1"/>
          <p:nvPr/>
        </p:nvSpPr>
        <p:spPr>
          <a:xfrm>
            <a:off x="609600" y="2527384"/>
            <a:ext cx="565057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DIFICULTAD AL CONTRATAR TRABAJADORES</a:t>
            </a:r>
          </a:p>
        </p:txBody>
      </p:sp>
      <p:sp>
        <p:nvSpPr>
          <p:cNvPr id="22" name="Demoras en respuesta o llegada"/>
          <p:cNvSpPr txBox="1"/>
          <p:nvPr/>
        </p:nvSpPr>
        <p:spPr>
          <a:xfrm>
            <a:off x="609600" y="2826283"/>
            <a:ext cx="1516989" cy="3497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Demoras en respuesta o llegada</a:t>
            </a:r>
          </a:p>
        </p:txBody>
      </p:sp>
      <p:sp>
        <p:nvSpPr>
          <p:cNvPr id="23" name="29,8%"/>
          <p:cNvSpPr txBox="1"/>
          <p:nvPr/>
        </p:nvSpPr>
        <p:spPr>
          <a:xfrm>
            <a:off x="5718307" y="2890439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29,8%</a:t>
            </a:r>
          </a:p>
        </p:txBody>
      </p:sp>
      <p:sp>
        <p:nvSpPr>
          <p:cNvPr id="24" name="Falta de claridad en precios"/>
          <p:cNvSpPr txBox="1"/>
          <p:nvPr/>
        </p:nvSpPr>
        <p:spPr>
          <a:xfrm>
            <a:off x="609600" y="3311132"/>
            <a:ext cx="1533922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Falta de claridad en precios</a:t>
            </a:r>
          </a:p>
        </p:txBody>
      </p:sp>
      <p:sp>
        <p:nvSpPr>
          <p:cNvPr id="25" name="28,7%"/>
          <p:cNvSpPr txBox="1"/>
          <p:nvPr/>
        </p:nvSpPr>
        <p:spPr>
          <a:xfrm>
            <a:off x="5718307" y="3295516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28,7%</a:t>
            </a:r>
          </a:p>
        </p:txBody>
      </p:sp>
      <p:sp>
        <p:nvSpPr>
          <p:cNvPr id="26" name="Desconfianza en la persona"/>
          <p:cNvSpPr txBox="1"/>
          <p:nvPr/>
        </p:nvSpPr>
        <p:spPr>
          <a:xfrm>
            <a:off x="609600" y="3649799"/>
            <a:ext cx="1533922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Desconfianza en la persona</a:t>
            </a:r>
          </a:p>
        </p:txBody>
      </p:sp>
      <p:sp>
        <p:nvSpPr>
          <p:cNvPr id="27" name="26,6%"/>
          <p:cNvSpPr txBox="1"/>
          <p:nvPr/>
        </p:nvSpPr>
        <p:spPr>
          <a:xfrm>
            <a:off x="5718307" y="3634183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26,6%</a:t>
            </a:r>
          </a:p>
        </p:txBody>
      </p:sp>
      <p:sp>
        <p:nvSpPr>
          <p:cNvPr id="28" name="No cumplió lo acordado"/>
          <p:cNvSpPr txBox="1"/>
          <p:nvPr/>
        </p:nvSpPr>
        <p:spPr>
          <a:xfrm>
            <a:off x="609600" y="3988465"/>
            <a:ext cx="1533922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cumplió lo acordado</a:t>
            </a:r>
          </a:p>
        </p:txBody>
      </p:sp>
      <p:sp>
        <p:nvSpPr>
          <p:cNvPr id="29" name="17,0%"/>
          <p:cNvSpPr txBox="1"/>
          <p:nvPr/>
        </p:nvSpPr>
        <p:spPr>
          <a:xfrm>
            <a:off x="5718307" y="3972850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17,0%</a:t>
            </a:r>
          </a:p>
        </p:txBody>
      </p:sp>
      <p:sp>
        <p:nvSpPr>
          <p:cNvPr id="30" name="No tuvo dificultades"/>
          <p:cNvSpPr txBox="1"/>
          <p:nvPr/>
        </p:nvSpPr>
        <p:spPr>
          <a:xfrm>
            <a:off x="609600" y="4327132"/>
            <a:ext cx="1533922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No tuvo dificultades</a:t>
            </a:r>
          </a:p>
        </p:txBody>
      </p:sp>
      <p:sp>
        <p:nvSpPr>
          <p:cNvPr id="31" name="40,4%"/>
          <p:cNvSpPr txBox="1"/>
          <p:nvPr/>
        </p:nvSpPr>
        <p:spPr>
          <a:xfrm>
            <a:off x="5718307" y="4311516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7A879C"/>
                </a:solidFill>
                <a:latin typeface="Archivo Bold"/>
                <a:cs typeface="Archivo Bold"/>
                <a:ea typeface="Archivo Bold"/>
              </a:rPr>
              <a:t>40,4%</a:t>
            </a:r>
          </a:p>
        </p:txBody>
      </p:sp>
      <p:sp>
        <p:nvSpPr>
          <p:cNvPr id="32" name="DIFICULTAD PARA ENCONTRAR UN TRABAJA"/>
          <p:cNvSpPr txBox="1"/>
          <p:nvPr/>
        </p:nvSpPr>
        <p:spPr>
          <a:xfrm>
            <a:off x="6683507" y="2449862"/>
            <a:ext cx="491569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DIFICULTAD PARA ENCONTRAR UN TRABAJADOR DE CONFIANZA</a:t>
            </a:r>
          </a:p>
        </p:txBody>
      </p:sp>
      <p:sp>
        <p:nvSpPr>
          <p:cNvPr id="33" name="Tiempo, precios y confianza son los "/>
          <p:cNvSpPr txBox="1"/>
          <p:nvPr/>
        </p:nvSpPr>
        <p:spPr>
          <a:xfrm>
            <a:off x="812800" y="5920340"/>
            <a:ext cx="10583333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Tiempo, precios y confianza son los problemas más frecuentes; </a:t>
            </a:r>
            <a:r>
              <a:rPr b="0" i="0" sz="11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7 de cada 10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considera difícil o muy difícil encontrar un trabajador confiable.</a:t>
            </a:r>
          </a:p>
        </p:txBody>
      </p:sp>
      <p:sp>
        <p:nvSpPr>
          <p:cNvPr id="34" name="2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463403" y="3133328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463403" y="3133328"/>
            <a:ext cx="2814505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2463403" y="3471995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2463403" y="3471995"/>
            <a:ext cx="1972601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2463403" y="3810661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463403" y="3810661"/>
            <a:ext cx="1096169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2463403" y="4149328"/>
            <a:ext cx="343667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2463403" y="4149328"/>
            <a:ext cx="1061905" cy="186267"/>
          </a:xfrm>
          <a:prstGeom prst="roundRect">
            <a:avLst>
              <a:gd name="adj" fmla="val 9090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7017676" y="3116395"/>
            <a:ext cx="3154098" cy="38946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10171774" y="3116395"/>
            <a:ext cx="1264311" cy="389467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11436085" y="3116395"/>
            <a:ext cx="146050" cy="389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7017676" y="37048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7017676" y="39842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7017676" y="426362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5555456"/>
            <a:ext cx="10972800" cy="709877"/>
          </a:xfrm>
          <a:prstGeom prst="roundRect">
            <a:avLst>
              <a:gd name="adj" fmla="val 477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o que más valoran y su apertura dig"/>
          <p:cNvSpPr txBox="1"/>
          <p:nvPr/>
        </p:nvSpPr>
        <p:spPr>
          <a:xfrm>
            <a:off x="609600" y="457120"/>
            <a:ext cx="5949156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Lo que más valoran y su apertura digital</a:t>
            </a:r>
          </a:p>
        </p:txBody>
      </p:sp>
      <p:sp>
        <p:nvSpPr>
          <p:cNvPr id="21" name="Hogares y pymes · n = 400 · respuest"/>
          <p:cNvSpPr txBox="1"/>
          <p:nvPr/>
        </p:nvSpPr>
        <p:spPr>
          <a:xfrm>
            <a:off x="609600" y="844871"/>
            <a:ext cx="5949156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 Medium"/>
                <a:cs typeface="Archivo Medium"/>
                <a:ea typeface="Archivo Medium"/>
              </a:rPr>
              <a:t>Hogares y pymes · n = 400 · respuesta múltiple</a:t>
            </a:r>
          </a:p>
        </p:txBody>
      </p:sp>
      <p:sp>
        <p:nvSpPr>
          <p:cNvPr id="22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3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4" name="LO QUE MÁS VALORAN"/>
          <p:cNvSpPr txBox="1"/>
          <p:nvPr/>
        </p:nvSpPr>
        <p:spPr>
          <a:xfrm>
            <a:off x="609600" y="2839725"/>
            <a:ext cx="5950876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LO QUE MÁS VALORAN</a:t>
            </a:r>
          </a:p>
        </p:txBody>
      </p:sp>
      <p:sp>
        <p:nvSpPr>
          <p:cNvPr id="25" name="Seguridad y confianza"/>
          <p:cNvSpPr txBox="1"/>
          <p:nvPr/>
        </p:nvSpPr>
        <p:spPr>
          <a:xfrm>
            <a:off x="609600" y="3151985"/>
            <a:ext cx="1735270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Seguridad y confianza</a:t>
            </a:r>
          </a:p>
        </p:txBody>
      </p:sp>
      <p:sp>
        <p:nvSpPr>
          <p:cNvPr id="26" name="81,9%"/>
          <p:cNvSpPr txBox="1"/>
          <p:nvPr/>
        </p:nvSpPr>
        <p:spPr>
          <a:xfrm>
            <a:off x="6018609" y="3136369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1B54D6"/>
                </a:solidFill>
                <a:latin typeface="Archivo Bold"/>
                <a:cs typeface="Archivo Bold"/>
                <a:ea typeface="Archivo Bold"/>
              </a:rPr>
              <a:t>81,9%</a:t>
            </a:r>
          </a:p>
        </p:txBody>
      </p:sp>
      <p:sp>
        <p:nvSpPr>
          <p:cNvPr id="27" name="Recomendaciones de otros"/>
          <p:cNvSpPr txBox="1"/>
          <p:nvPr/>
        </p:nvSpPr>
        <p:spPr>
          <a:xfrm>
            <a:off x="609600" y="3490652"/>
            <a:ext cx="1735270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Recomendaciones de otros</a:t>
            </a:r>
          </a:p>
        </p:txBody>
      </p:sp>
      <p:sp>
        <p:nvSpPr>
          <p:cNvPr id="28" name="57,4%"/>
          <p:cNvSpPr txBox="1"/>
          <p:nvPr/>
        </p:nvSpPr>
        <p:spPr>
          <a:xfrm>
            <a:off x="6018609" y="3475036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57,4%</a:t>
            </a:r>
          </a:p>
        </p:txBody>
      </p:sp>
      <p:sp>
        <p:nvSpPr>
          <p:cNvPr id="29" name="Precio claro"/>
          <p:cNvSpPr txBox="1"/>
          <p:nvPr/>
        </p:nvSpPr>
        <p:spPr>
          <a:xfrm>
            <a:off x="609600" y="3829318"/>
            <a:ext cx="1735270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 claro</a:t>
            </a:r>
          </a:p>
        </p:txBody>
      </p:sp>
      <p:sp>
        <p:nvSpPr>
          <p:cNvPr id="30" name="31,9%"/>
          <p:cNvSpPr txBox="1"/>
          <p:nvPr/>
        </p:nvSpPr>
        <p:spPr>
          <a:xfrm>
            <a:off x="6018609" y="3813703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31,9%</a:t>
            </a:r>
          </a:p>
        </p:txBody>
      </p:sp>
      <p:sp>
        <p:nvSpPr>
          <p:cNvPr id="31" name="Rapidez en la respuesta"/>
          <p:cNvSpPr txBox="1"/>
          <p:nvPr/>
        </p:nvSpPr>
        <p:spPr>
          <a:xfrm>
            <a:off x="609600" y="4167985"/>
            <a:ext cx="1735270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Rapidez en la respuesta</a:t>
            </a:r>
          </a:p>
        </p:txBody>
      </p:sp>
      <p:sp>
        <p:nvSpPr>
          <p:cNvPr id="32" name="30,9%"/>
          <p:cNvSpPr txBox="1"/>
          <p:nvPr/>
        </p:nvSpPr>
        <p:spPr>
          <a:xfrm>
            <a:off x="6018609" y="4152369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30,9%</a:t>
            </a:r>
          </a:p>
        </p:txBody>
      </p:sp>
      <p:sp>
        <p:nvSpPr>
          <p:cNvPr id="33" name="QUÉ APP USARÍAN"/>
          <p:cNvSpPr txBox="1"/>
          <p:nvPr/>
        </p:nvSpPr>
        <p:spPr>
          <a:xfrm>
            <a:off x="7017676" y="2848192"/>
            <a:ext cx="458152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QUÉ APP USARÍAN</a:t>
            </a:r>
          </a:p>
        </p:txBody>
      </p:sp>
      <p:sp>
        <p:nvSpPr>
          <p:cNvPr id="34" name="69,1%"/>
          <p:cNvSpPr txBox="1"/>
          <p:nvPr/>
        </p:nvSpPr>
        <p:spPr>
          <a:xfrm>
            <a:off x="7229343" y="3696611"/>
            <a:ext cx="592667" cy="213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6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69,1%</a:t>
            </a:r>
          </a:p>
        </p:txBody>
      </p:sp>
      <p:sp>
        <p:nvSpPr>
          <p:cNvPr id="35" name="Sí, seguro"/>
          <p:cNvSpPr txBox="1"/>
          <p:nvPr/>
        </p:nvSpPr>
        <p:spPr>
          <a:xfrm>
            <a:off x="7906676" y="3681914"/>
            <a:ext cx="611584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Sí, seguro</a:t>
            </a:r>
          </a:p>
        </p:txBody>
      </p:sp>
      <p:sp>
        <p:nvSpPr>
          <p:cNvPr id="36" name="27,7%"/>
          <p:cNvSpPr txBox="1"/>
          <p:nvPr/>
        </p:nvSpPr>
        <p:spPr>
          <a:xfrm>
            <a:off x="7229343" y="3976011"/>
            <a:ext cx="592667" cy="213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61">
                <a:solidFill>
                  <a:srgbClr val="4C82F7"/>
                </a:solidFill>
                <a:latin typeface="Archivo ExtraBold"/>
                <a:cs typeface="Archivo ExtraBold"/>
                <a:ea typeface="Archivo ExtraBold"/>
              </a:rPr>
              <a:t>27,7%</a:t>
            </a:r>
          </a:p>
        </p:txBody>
      </p:sp>
      <p:sp>
        <p:nvSpPr>
          <p:cNvPr id="37" name="Tal vez"/>
          <p:cNvSpPr txBox="1"/>
          <p:nvPr/>
        </p:nvSpPr>
        <p:spPr>
          <a:xfrm>
            <a:off x="7906676" y="3961314"/>
            <a:ext cx="428228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Tal vez</a:t>
            </a:r>
          </a:p>
        </p:txBody>
      </p:sp>
      <p:sp>
        <p:nvSpPr>
          <p:cNvPr id="38" name="3,2%"/>
          <p:cNvSpPr txBox="1"/>
          <p:nvPr/>
        </p:nvSpPr>
        <p:spPr>
          <a:xfrm>
            <a:off x="7229343" y="4255411"/>
            <a:ext cx="592667" cy="213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530" spc="-61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3,2%</a:t>
            </a:r>
          </a:p>
        </p:txBody>
      </p:sp>
      <p:sp>
        <p:nvSpPr>
          <p:cNvPr id="39" name="No"/>
          <p:cNvSpPr txBox="1"/>
          <p:nvPr/>
        </p:nvSpPr>
        <p:spPr>
          <a:xfrm>
            <a:off x="7906676" y="4240714"/>
            <a:ext cx="188648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No</a:t>
            </a:r>
          </a:p>
        </p:txBody>
      </p:sp>
      <p:sp>
        <p:nvSpPr>
          <p:cNvPr id="40" name="La confianza pesa más que el precio "/>
          <p:cNvSpPr txBox="1"/>
          <p:nvPr/>
        </p:nvSpPr>
        <p:spPr>
          <a:xfrm>
            <a:off x="812800" y="5717802"/>
            <a:ext cx="10566400" cy="44042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confianza pesa más que el precio (82%). Recomendaciones (57%) y precios claros (32%) también son relevantes. </a:t>
            </a:r>
            <a:r>
              <a:rPr b="0" i="0" sz="11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97% muestra predisposición positiva a usar una app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(sí o tal vez).</a:t>
            </a:r>
          </a:p>
        </p:txBody>
      </p:sp>
      <p:sp>
        <p:nvSpPr>
          <p:cNvPr id="41" name="2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693333"/>
            <a:ext cx="5266267" cy="192219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693333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316133" y="1693333"/>
            <a:ext cx="5266267" cy="192219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top"/>
          <p:cNvSpPr/>
          <p:nvPr/>
        </p:nvSpPr>
        <p:spPr>
          <a:xfrm>
            <a:off x="6316133" y="1693333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835665"/>
            <a:ext cx="5266267" cy="192233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835665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316133" y="3835665"/>
            <a:ext cx="5266267" cy="192233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6316133" y="3835665"/>
            <a:ext cx="52662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rabajadores"/>
          <p:cNvSpPr txBox="1"/>
          <p:nvPr/>
        </p:nvSpPr>
        <p:spPr>
          <a:xfrm>
            <a:off x="609600" y="457120"/>
            <a:ext cx="204258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Trabajadores</a:t>
            </a:r>
          </a:p>
        </p:txBody>
      </p:sp>
      <p:sp>
        <p:nvSpPr>
          <p:cNvPr id="15" name="Trabajadores de oficio · n = 300"/>
          <p:cNvSpPr txBox="1"/>
          <p:nvPr/>
        </p:nvSpPr>
        <p:spPr>
          <a:xfrm>
            <a:off x="609600" y="844871"/>
            <a:ext cx="2042583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 Medium"/>
                <a:cs typeface="Archivo Medium"/>
                <a:ea typeface="Archivo Medium"/>
              </a:rPr>
              <a:t>Trabajadores de oficio · n = 300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8" name="47,6%"/>
          <p:cNvSpPr txBox="1"/>
          <p:nvPr/>
        </p:nvSpPr>
        <p:spPr>
          <a:xfrm>
            <a:off x="609600" y="1950104"/>
            <a:ext cx="5283200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47,6%</a:t>
            </a:r>
          </a:p>
        </p:txBody>
      </p:sp>
      <p:sp>
        <p:nvSpPr>
          <p:cNvPr id="19" name="con +10 años en el oficio"/>
          <p:cNvSpPr txBox="1"/>
          <p:nvPr/>
        </p:nvSpPr>
        <p:spPr>
          <a:xfrm>
            <a:off x="609600" y="2413525"/>
            <a:ext cx="5283200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 </a:t>
            </a:r>
            <a:r>
              <a:rPr b="0" i="0" sz="11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+10 años</a:t>
            </a: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en el oficio</a:t>
            </a:r>
          </a:p>
        </p:txBody>
      </p:sp>
      <p:sp>
        <p:nvSpPr>
          <p:cNvPr id="20" name="33,3%"/>
          <p:cNvSpPr txBox="1"/>
          <p:nvPr/>
        </p:nvSpPr>
        <p:spPr>
          <a:xfrm>
            <a:off x="6316133" y="1950104"/>
            <a:ext cx="5283200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33,3%</a:t>
            </a:r>
          </a:p>
        </p:txBody>
      </p:sp>
      <p:sp>
        <p:nvSpPr>
          <p:cNvPr id="21" name="entre 4 y 10 años"/>
          <p:cNvSpPr txBox="1"/>
          <p:nvPr/>
        </p:nvSpPr>
        <p:spPr>
          <a:xfrm>
            <a:off x="6316133" y="2413525"/>
            <a:ext cx="5283200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entre </a:t>
            </a:r>
            <a:r>
              <a:rPr b="0" i="0" sz="11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4 y 10 años</a:t>
            </a:r>
          </a:p>
        </p:txBody>
      </p:sp>
      <p:sp>
        <p:nvSpPr>
          <p:cNvPr id="22" name="85,7%"/>
          <p:cNvSpPr txBox="1"/>
          <p:nvPr/>
        </p:nvSpPr>
        <p:spPr>
          <a:xfrm>
            <a:off x="609600" y="4092435"/>
            <a:ext cx="5283200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B5561B"/>
                </a:solidFill>
                <a:latin typeface="Archivo ExtraBold"/>
                <a:cs typeface="Archivo ExtraBold"/>
                <a:ea typeface="Archivo ExtraBold"/>
              </a:rPr>
              <a:t>85,7%</a:t>
            </a:r>
          </a:p>
        </p:txBody>
      </p:sp>
      <p:sp>
        <p:nvSpPr>
          <p:cNvPr id="23" name="consigue clientes por recomendación"/>
          <p:cNvSpPr txBox="1"/>
          <p:nvPr/>
        </p:nvSpPr>
        <p:spPr>
          <a:xfrm>
            <a:off x="609600" y="4555856"/>
            <a:ext cx="5283200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consigue clientes </a:t>
            </a:r>
            <a:r>
              <a:rPr b="0" i="0" sz="11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por recomendación</a:t>
            </a:r>
          </a:p>
        </p:txBody>
      </p:sp>
      <p:sp>
        <p:nvSpPr>
          <p:cNvPr id="24" name="&lt; 5%"/>
          <p:cNvSpPr txBox="1"/>
          <p:nvPr/>
        </p:nvSpPr>
        <p:spPr>
          <a:xfrm>
            <a:off x="6316133" y="4092435"/>
            <a:ext cx="5283200" cy="495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1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49">
                <a:solidFill>
                  <a:srgbClr val="B5561B"/>
                </a:solidFill>
                <a:latin typeface="Archivo ExtraBold"/>
                <a:cs typeface="Archivo ExtraBold"/>
                <a:ea typeface="Archivo ExtraBold"/>
              </a:rPr>
              <a:t>&lt; 5%</a:t>
            </a:r>
          </a:p>
        </p:txBody>
      </p:sp>
      <p:sp>
        <p:nvSpPr>
          <p:cNvPr id="25" name="usa plataformas digitales"/>
          <p:cNvSpPr txBox="1"/>
          <p:nvPr/>
        </p:nvSpPr>
        <p:spPr>
          <a:xfrm>
            <a:off x="6316133" y="4555856"/>
            <a:ext cx="5283200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usa </a:t>
            </a:r>
            <a:r>
              <a:rPr b="0" i="0" sz="11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plataformas digitales</a:t>
            </a:r>
          </a:p>
        </p:txBody>
      </p:sp>
      <p:sp>
        <p:nvSpPr>
          <p:cNvPr id="26" name="Trabajadores experimentados pero inv"/>
          <p:cNvSpPr txBox="1"/>
          <p:nvPr/>
        </p:nvSpPr>
        <p:spPr>
          <a:xfrm>
            <a:off x="812800" y="5920340"/>
            <a:ext cx="10583333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 experimentados pero invisibles: dependen del boca a boca y carecen de canales formales.</a:t>
            </a:r>
          </a:p>
        </p:txBody>
      </p:sp>
      <p:sp>
        <p:nvSpPr>
          <p:cNvPr id="27" name="2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760398" y="3050910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760398" y="3050910"/>
            <a:ext cx="1668198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2760398" y="3455988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2760398" y="3455988"/>
            <a:ext cx="1503495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2760398" y="3861065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760398" y="3861065"/>
            <a:ext cx="1002242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2760398" y="4266142"/>
            <a:ext cx="3504803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2760398" y="4266142"/>
            <a:ext cx="1002242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382933" y="3197886"/>
            <a:ext cx="4199467" cy="117408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7382933" y="3197886"/>
            <a:ext cx="8467" cy="1174089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7797800" y="4278842"/>
            <a:ext cx="709480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8566547" y="4278842"/>
            <a:ext cx="709612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9335426" y="4278842"/>
            <a:ext cx="709480" cy="93133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degradado" descr="29_14.png"/>
          <p:cNvPicPr>
            <a:picLocks noMove="1" noResize="1" noChangeAspect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73" y="4278842"/>
            <a:ext cx="709480" cy="93133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10872920" y="4278842"/>
            <a:ext cx="709480" cy="931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oblemas más frecuentes para los tr"/>
          <p:cNvSpPr txBox="1"/>
          <p:nvPr/>
        </p:nvSpPr>
        <p:spPr>
          <a:xfrm>
            <a:off x="609600" y="447468"/>
            <a:ext cx="4922520" cy="71443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Problemas más frecuentes para los trabajadores</a:t>
            </a:r>
          </a:p>
        </p:txBody>
      </p:sp>
      <p:sp>
        <p:nvSpPr>
          <p:cNvPr id="22" name="n = 300 · respuesta múltiple"/>
          <p:cNvSpPr txBox="1"/>
          <p:nvPr/>
        </p:nvSpPr>
        <p:spPr>
          <a:xfrm>
            <a:off x="609600" y="1204969"/>
            <a:ext cx="4842933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 Medium"/>
                <a:cs typeface="Archivo Medium"/>
                <a:ea typeface="Archivo Medium"/>
              </a:rPr>
              <a:t>n = 300 · respuesta múltiple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5" name="Falta de difusión de sus servicios"/>
          <p:cNvSpPr txBox="1"/>
          <p:nvPr/>
        </p:nvSpPr>
        <p:spPr>
          <a:xfrm>
            <a:off x="609600" y="3069567"/>
            <a:ext cx="2032265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Falta de difusión de sus servicios</a:t>
            </a:r>
          </a:p>
        </p:txBody>
      </p:sp>
      <p:sp>
        <p:nvSpPr>
          <p:cNvPr id="26" name="47,6%"/>
          <p:cNvSpPr txBox="1"/>
          <p:nvPr/>
        </p:nvSpPr>
        <p:spPr>
          <a:xfrm>
            <a:off x="6383734" y="3053952"/>
            <a:ext cx="525066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47,6%</a:t>
            </a:r>
          </a:p>
        </p:txBody>
      </p:sp>
      <p:sp>
        <p:nvSpPr>
          <p:cNvPr id="27" name="Mucha competencia y pocos trabajos"/>
          <p:cNvSpPr txBox="1"/>
          <p:nvPr/>
        </p:nvSpPr>
        <p:spPr>
          <a:xfrm>
            <a:off x="609600" y="3394873"/>
            <a:ext cx="2015331" cy="3497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Mucha competencia y pocos trabajos</a:t>
            </a:r>
          </a:p>
        </p:txBody>
      </p:sp>
      <p:sp>
        <p:nvSpPr>
          <p:cNvPr id="28" name="42,9%"/>
          <p:cNvSpPr txBox="1"/>
          <p:nvPr/>
        </p:nvSpPr>
        <p:spPr>
          <a:xfrm>
            <a:off x="6383734" y="3459029"/>
            <a:ext cx="525066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42,9%</a:t>
            </a:r>
          </a:p>
        </p:txBody>
      </p:sp>
      <p:sp>
        <p:nvSpPr>
          <p:cNvPr id="29" name="Desconfianza del cliente"/>
          <p:cNvSpPr txBox="1"/>
          <p:nvPr/>
        </p:nvSpPr>
        <p:spPr>
          <a:xfrm>
            <a:off x="609600" y="3879722"/>
            <a:ext cx="2032265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Desconfianza del cliente</a:t>
            </a:r>
          </a:p>
        </p:txBody>
      </p:sp>
      <p:sp>
        <p:nvSpPr>
          <p:cNvPr id="30" name="28,6%"/>
          <p:cNvSpPr txBox="1"/>
          <p:nvPr/>
        </p:nvSpPr>
        <p:spPr>
          <a:xfrm>
            <a:off x="6383734" y="3864106"/>
            <a:ext cx="525066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28,6%</a:t>
            </a:r>
          </a:p>
        </p:txBody>
      </p:sp>
      <p:sp>
        <p:nvSpPr>
          <p:cNvPr id="31" name="Problemas con el pago (demora o inse"/>
          <p:cNvSpPr txBox="1"/>
          <p:nvPr/>
        </p:nvSpPr>
        <p:spPr>
          <a:xfrm>
            <a:off x="609600" y="4205027"/>
            <a:ext cx="2015331" cy="34978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Problemas con el pago (demora o inseguridad)</a:t>
            </a:r>
          </a:p>
        </p:txBody>
      </p:sp>
      <p:sp>
        <p:nvSpPr>
          <p:cNvPr id="32" name="28,6%"/>
          <p:cNvSpPr txBox="1"/>
          <p:nvPr/>
        </p:nvSpPr>
        <p:spPr>
          <a:xfrm>
            <a:off x="6383734" y="4269183"/>
            <a:ext cx="525066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28,6%</a:t>
            </a:r>
          </a:p>
        </p:txBody>
      </p:sp>
      <p:sp>
        <p:nvSpPr>
          <p:cNvPr id="33" name="DIFICULTAD PROMEDIO PARA CONSEGUIR C"/>
          <p:cNvSpPr txBox="1"/>
          <p:nvPr/>
        </p:nvSpPr>
        <p:spPr>
          <a:xfrm>
            <a:off x="7797800" y="3200617"/>
            <a:ext cx="38015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DIFICULTAD PROMEDIO PARA CONSEGUIR CLIENTES</a:t>
            </a:r>
          </a:p>
        </p:txBody>
      </p:sp>
      <p:sp>
        <p:nvSpPr>
          <p:cNvPr id="34" name="3,5"/>
          <p:cNvSpPr txBox="1"/>
          <p:nvPr/>
        </p:nvSpPr>
        <p:spPr>
          <a:xfrm>
            <a:off x="7797800" y="3554211"/>
            <a:ext cx="1098815" cy="768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4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870" spc="-235">
                <a:solidFill>
                  <a:srgbClr val="B5561B"/>
                </a:solidFill>
                <a:latin typeface="Archivo ExtraBold"/>
                <a:cs typeface="Archivo ExtraBold"/>
                <a:ea typeface="Archivo ExtraBold"/>
              </a:rPr>
              <a:t>3,5</a:t>
            </a:r>
          </a:p>
        </p:txBody>
      </p:sp>
      <p:sp>
        <p:nvSpPr>
          <p:cNvPr id="35" name="/5"/>
          <p:cNvSpPr txBox="1"/>
          <p:nvPr/>
        </p:nvSpPr>
        <p:spPr>
          <a:xfrm>
            <a:off x="8964348" y="3847774"/>
            <a:ext cx="246989" cy="2901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130" spc="-85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/5</a:t>
            </a:r>
          </a:p>
        </p:txBody>
      </p:sp>
      <p:sp>
        <p:nvSpPr>
          <p:cNvPr id="36" name="La falta de visibilidad y la insegur"/>
          <p:cNvSpPr txBox="1"/>
          <p:nvPr/>
        </p:nvSpPr>
        <p:spPr>
          <a:xfrm>
            <a:off x="812800" y="5920340"/>
            <a:ext cx="10583333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falta de visibilidad y la inseguridad en los pagos son los principales obstáculos que enfrentan los trabajadores para crecer.</a:t>
            </a:r>
          </a:p>
        </p:txBody>
      </p:sp>
      <p:sp>
        <p:nvSpPr>
          <p:cNvPr id="37" name="2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2495682" y="3293798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495682" y="3293798"/>
            <a:ext cx="116588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2495682" y="3632465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2495682" y="3632465"/>
            <a:ext cx="100131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2495682" y="3971131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2495682" y="3971131"/>
            <a:ext cx="1001316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2495682" y="4309798"/>
            <a:ext cx="3501496" cy="186267"/>
          </a:xfrm>
          <a:prstGeom prst="roundRect">
            <a:avLst>
              <a:gd name="adj" fmla="val 9090"/>
            </a:avLst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2495682" y="4309798"/>
            <a:ext cx="332581" cy="186267"/>
          </a:xfrm>
          <a:prstGeom prst="roundRect">
            <a:avLst>
              <a:gd name="adj" fmla="val 9090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7114778" y="3403865"/>
            <a:ext cx="4020741" cy="389467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11135519" y="3403865"/>
            <a:ext cx="446749" cy="389467"/>
          </a:xfrm>
          <a:prstGeom prst="rect">
            <a:avLst/>
          </a:prstGeom>
          <a:solidFill>
            <a:srgbClr val="A9D4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7114778" y="399864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7114778" y="4290748"/>
            <a:ext cx="110067" cy="110067"/>
          </a:xfrm>
          <a:prstGeom prst="roundRect">
            <a:avLst>
              <a:gd name="adj" fmla="val 15384"/>
            </a:avLst>
          </a:prstGeom>
          <a:solidFill>
            <a:srgbClr val="A9D4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09600" y="5757995"/>
            <a:ext cx="10972800" cy="507339"/>
          </a:xfrm>
          <a:prstGeom prst="roundRect">
            <a:avLst>
              <a:gd name="adj" fmla="val 6675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Lo que más valoran y su predisposici"/>
          <p:cNvSpPr txBox="1"/>
          <p:nvPr/>
        </p:nvSpPr>
        <p:spPr>
          <a:xfrm>
            <a:off x="609600" y="447468"/>
            <a:ext cx="5228167" cy="71443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8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Lo que más valoran y su predisposición digital</a:t>
            </a:r>
          </a:p>
        </p:txBody>
      </p:sp>
      <p:sp>
        <p:nvSpPr>
          <p:cNvPr id="19" name="Trabajadores de oficio · n = 300 · r"/>
          <p:cNvSpPr txBox="1"/>
          <p:nvPr/>
        </p:nvSpPr>
        <p:spPr>
          <a:xfrm>
            <a:off x="609600" y="1204969"/>
            <a:ext cx="5245100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7A879C"/>
                </a:solidFill>
                <a:latin typeface="Archivo Medium"/>
                <a:cs typeface="Archivo Medium"/>
                <a:ea typeface="Archivo Medium"/>
              </a:rPr>
              <a:t>Trabajadores de oficio · n = 300 · respuesta múltiple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2" name="LO MÁS IMPORTANTE AL CONSEGUIR UN TR"/>
          <p:cNvSpPr txBox="1"/>
          <p:nvPr/>
        </p:nvSpPr>
        <p:spPr>
          <a:xfrm>
            <a:off x="609600" y="3000195"/>
            <a:ext cx="604797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LO MÁS IMPORTANTE AL CONSEGUIR UN TRABAJO NUEVO</a:t>
            </a:r>
          </a:p>
        </p:txBody>
      </p:sp>
      <p:sp>
        <p:nvSpPr>
          <p:cNvPr id="23" name="Más pedidos frecuentes"/>
          <p:cNvSpPr txBox="1"/>
          <p:nvPr/>
        </p:nvSpPr>
        <p:spPr>
          <a:xfrm>
            <a:off x="609600" y="3312455"/>
            <a:ext cx="1767549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Más pedidos frecuentes</a:t>
            </a:r>
          </a:p>
        </p:txBody>
      </p:sp>
      <p:sp>
        <p:nvSpPr>
          <p:cNvPr id="24" name="33,3%"/>
          <p:cNvSpPr txBox="1"/>
          <p:nvPr/>
        </p:nvSpPr>
        <p:spPr>
          <a:xfrm>
            <a:off x="6115711" y="3296839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33,3%</a:t>
            </a:r>
          </a:p>
        </p:txBody>
      </p:sp>
      <p:sp>
        <p:nvSpPr>
          <p:cNvPr id="25" name="Mostrar experiencia y reseñas"/>
          <p:cNvSpPr txBox="1"/>
          <p:nvPr/>
        </p:nvSpPr>
        <p:spPr>
          <a:xfrm>
            <a:off x="609600" y="3651122"/>
            <a:ext cx="1767549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Mostrar experiencia y reseñas</a:t>
            </a:r>
          </a:p>
        </p:txBody>
      </p:sp>
      <p:sp>
        <p:nvSpPr>
          <p:cNvPr id="26" name="28,6%"/>
          <p:cNvSpPr txBox="1"/>
          <p:nvPr/>
        </p:nvSpPr>
        <p:spPr>
          <a:xfrm>
            <a:off x="6115711" y="3635506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28,6%</a:t>
            </a:r>
          </a:p>
        </p:txBody>
      </p:sp>
      <p:sp>
        <p:nvSpPr>
          <p:cNvPr id="27" name="Confianza del cliente"/>
          <p:cNvSpPr txBox="1"/>
          <p:nvPr/>
        </p:nvSpPr>
        <p:spPr>
          <a:xfrm>
            <a:off x="609600" y="3989788"/>
            <a:ext cx="1767549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Confianza del cliente</a:t>
            </a:r>
          </a:p>
        </p:txBody>
      </p:sp>
      <p:sp>
        <p:nvSpPr>
          <p:cNvPr id="28" name="28,6%"/>
          <p:cNvSpPr txBox="1"/>
          <p:nvPr/>
        </p:nvSpPr>
        <p:spPr>
          <a:xfrm>
            <a:off x="6115711" y="3974172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28,6%</a:t>
            </a:r>
          </a:p>
        </p:txBody>
      </p:sp>
      <p:sp>
        <p:nvSpPr>
          <p:cNvPr id="29" name="Pago rápido y protegido"/>
          <p:cNvSpPr txBox="1"/>
          <p:nvPr/>
        </p:nvSpPr>
        <p:spPr>
          <a:xfrm>
            <a:off x="609600" y="4328455"/>
            <a:ext cx="1767549" cy="1902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 rápido y protegido</a:t>
            </a:r>
          </a:p>
        </p:txBody>
      </p:sp>
      <p:sp>
        <p:nvSpPr>
          <p:cNvPr id="30" name="9,5%"/>
          <p:cNvSpPr txBox="1"/>
          <p:nvPr/>
        </p:nvSpPr>
        <p:spPr>
          <a:xfrm>
            <a:off x="6115711" y="4312839"/>
            <a:ext cx="524933" cy="1705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2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9,5%</a:t>
            </a:r>
          </a:p>
        </p:txBody>
      </p:sp>
      <p:sp>
        <p:nvSpPr>
          <p:cNvPr id="31" name="¿USARÍAN UNA APP PARA CONSEGUIR CLIE"/>
          <p:cNvSpPr txBox="1"/>
          <p:nvPr/>
        </p:nvSpPr>
        <p:spPr>
          <a:xfrm>
            <a:off x="7114778" y="3135662"/>
            <a:ext cx="4484555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¿USARÍAN UNA APP PARA CONSEGUIR CLIENTES?</a:t>
            </a:r>
          </a:p>
        </p:txBody>
      </p:sp>
      <p:sp>
        <p:nvSpPr>
          <p:cNvPr id="32" name="90%"/>
          <p:cNvSpPr txBox="1"/>
          <p:nvPr/>
        </p:nvSpPr>
        <p:spPr>
          <a:xfrm>
            <a:off x="7326445" y="3985673"/>
            <a:ext cx="541867" cy="2304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67">
                <a:solidFill>
                  <a:srgbClr val="0E7A55"/>
                </a:solidFill>
                <a:latin typeface="Archivo ExtraBold"/>
                <a:cs typeface="Archivo ExtraBold"/>
                <a:ea typeface="Archivo ExtraBold"/>
              </a:rPr>
              <a:t>90%</a:t>
            </a:r>
          </a:p>
        </p:txBody>
      </p:sp>
      <p:sp>
        <p:nvSpPr>
          <p:cNvPr id="33" name="Sí"/>
          <p:cNvSpPr txBox="1"/>
          <p:nvPr/>
        </p:nvSpPr>
        <p:spPr>
          <a:xfrm>
            <a:off x="7952978" y="3975734"/>
            <a:ext cx="129514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Sí</a:t>
            </a:r>
          </a:p>
        </p:txBody>
      </p:sp>
      <p:sp>
        <p:nvSpPr>
          <p:cNvPr id="34" name="10%"/>
          <p:cNvSpPr txBox="1"/>
          <p:nvPr/>
        </p:nvSpPr>
        <p:spPr>
          <a:xfrm>
            <a:off x="7326445" y="4277773"/>
            <a:ext cx="541867" cy="2304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670" spc="-67">
                <a:solidFill>
                  <a:srgbClr val="5D9C83"/>
                </a:solidFill>
                <a:latin typeface="Archivo ExtraBold"/>
                <a:cs typeface="Archivo ExtraBold"/>
                <a:ea typeface="Archivo ExtraBold"/>
              </a:rPr>
              <a:t>10%</a:t>
            </a:r>
          </a:p>
        </p:txBody>
      </p:sp>
      <p:sp>
        <p:nvSpPr>
          <p:cNvPr id="35" name="Tal vez"/>
          <p:cNvSpPr txBox="1"/>
          <p:nvPr/>
        </p:nvSpPr>
        <p:spPr>
          <a:xfrm>
            <a:off x="7952978" y="4267834"/>
            <a:ext cx="428228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Tal vez</a:t>
            </a:r>
          </a:p>
        </p:txBody>
      </p:sp>
      <p:sp>
        <p:nvSpPr>
          <p:cNvPr id="36" name="Existe una alta predisposición a ado"/>
          <p:cNvSpPr txBox="1"/>
          <p:nvPr/>
        </p:nvSpPr>
        <p:spPr>
          <a:xfrm>
            <a:off x="812800" y="5920340"/>
            <a:ext cx="10583333" cy="2378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Existe una alta predisposición a adoptar apps si garantizan clientes, confianza y seguridad en los cobros.</a:t>
            </a:r>
          </a:p>
        </p:txBody>
      </p:sp>
      <p:sp>
        <p:nvSpPr>
          <p:cNvPr id="37" name="2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598083"/>
          </a:xfrm>
          <a:prstGeom prst="roundRect">
            <a:avLst>
              <a:gd name="adj" fmla="val 211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3705225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4351867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top"/>
          <p:cNvSpPr/>
          <p:nvPr/>
        </p:nvSpPr>
        <p:spPr>
          <a:xfrm>
            <a:off x="4351867" y="3705225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8094133" y="3705225"/>
            <a:ext cx="3488267" cy="17399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8094133" y="3705225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User Persona - Hogar"/>
          <p:cNvSpPr txBox="1"/>
          <p:nvPr/>
        </p:nvSpPr>
        <p:spPr>
          <a:xfrm>
            <a:off x="609600" y="457120"/>
            <a:ext cx="3219185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User Persona - Hogar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5" name="PROTOPERSONA 3 · PERSONA PARTICULAR"/>
          <p:cNvSpPr txBox="1"/>
          <p:nvPr/>
        </p:nvSpPr>
        <p:spPr>
          <a:xfrm>
            <a:off x="863600" y="1492864"/>
            <a:ext cx="10481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PROTOPERSONA 3 · PERSONA PARTICULAR</a:t>
            </a:r>
          </a:p>
        </p:txBody>
      </p:sp>
      <p:sp>
        <p:nvSpPr>
          <p:cNvPr id="16" name="Camila Torres"/>
          <p:cNvSpPr txBox="1"/>
          <p:nvPr/>
        </p:nvSpPr>
        <p:spPr>
          <a:xfrm>
            <a:off x="863600" y="1665549"/>
            <a:ext cx="1803268" cy="332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130" spc="-53">
                <a:solidFill>
                  <a:srgbClr val="0D1520"/>
                </a:solidFill>
                <a:latin typeface="Archivo ExtraBold"/>
                <a:cs typeface="Archivo ExtraBold"/>
                <a:ea typeface="Archivo ExtraBold"/>
              </a:rPr>
              <a:t>Camila Torres</a:t>
            </a:r>
          </a:p>
        </p:txBody>
      </p:sp>
      <p:sp>
        <p:nvSpPr>
          <p:cNvPr id="17" name="24 años · Villa Urquiza, CABA · Dise"/>
          <p:cNvSpPr txBox="1"/>
          <p:nvPr/>
        </p:nvSpPr>
        <p:spPr>
          <a:xfrm>
            <a:off x="2819268" y="1801178"/>
            <a:ext cx="4824412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24 años · Villa Urquiza, CABA · Diseñadora gráfica en una agencia (trabajo híbrido)</a:t>
            </a:r>
          </a:p>
        </p:txBody>
      </p:sp>
      <p:sp>
        <p:nvSpPr>
          <p:cNvPr id="18" name="Se mudó sola recientemente a un depa"/>
          <p:cNvSpPr txBox="1"/>
          <p:nvPr/>
        </p:nvSpPr>
        <p:spPr>
          <a:xfrm>
            <a:off x="863600" y="2084388"/>
            <a:ext cx="7874000" cy="60907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 mudó sola recientemente a un departamento. Al mudarse por primera vez sin compañía, se enfrenta al desafío de resolver por su cuenta los problemas del hogar. No cuenta con contactos de confianza para contratar trabajadores y le preocupa tanto la seguridad como la falta de claridad en los precios.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902689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16568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1" name="Resolver de manera rápida y confiabl"/>
          <p:cNvSpPr txBox="1"/>
          <p:nvPr/>
        </p:nvSpPr>
        <p:spPr>
          <a:xfrm>
            <a:off x="767159" y="41332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Resolver de manera rápida y confiable problemas en el hogar (plomería, electricidad, mantenimiento).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63558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23" name="Acceder a trabajadores de confianza "/>
          <p:cNvSpPr txBox="1"/>
          <p:nvPr/>
        </p:nvSpPr>
        <p:spPr>
          <a:xfrm>
            <a:off x="767159" y="46031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Acceder a trabajadores de confianza sin depender de conocidos.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510548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25" name="Tener claridad en los precios para p"/>
          <p:cNvSpPr txBox="1"/>
          <p:nvPr/>
        </p:nvSpPr>
        <p:spPr>
          <a:xfrm>
            <a:off x="767159" y="50730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Tener claridad en los precios para poder organizar su presupuesto.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902689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16568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8" name="No cuenta con una red de contactos q"/>
          <p:cNvSpPr txBox="1"/>
          <p:nvPr/>
        </p:nvSpPr>
        <p:spPr>
          <a:xfrm>
            <a:off x="4509426" y="41332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cuenta con una red de contactos que la ayude a recomendar trabajadores.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63558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0" name="Le genera desconfianza contratar a p"/>
          <p:cNvSpPr txBox="1"/>
          <p:nvPr/>
        </p:nvSpPr>
        <p:spPr>
          <a:xfrm>
            <a:off x="4509426" y="46031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Le genera desconfianza contratar a personas por redes sociales o grupos barriales.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510548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2" name="Ha perdido tiempo y dinero en soluci"/>
          <p:cNvSpPr txBox="1"/>
          <p:nvPr/>
        </p:nvSpPr>
        <p:spPr>
          <a:xfrm>
            <a:off x="4509426" y="50730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Ha perdido tiempo y dinero en soluciones improvisadas que no siempre funcionaron bien.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902689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16568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35" name="Sentirse segura al contratar a algui"/>
          <p:cNvSpPr txBox="1"/>
          <p:nvPr/>
        </p:nvSpPr>
        <p:spPr>
          <a:xfrm>
            <a:off x="8251693" y="4133270"/>
            <a:ext cx="3296444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Sentirse segura al contratar a alguien que entre a su casa.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45143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7" name="Ahorrar tiempo y estrés cuando surge"/>
          <p:cNvSpPr txBox="1"/>
          <p:nvPr/>
        </p:nvSpPr>
        <p:spPr>
          <a:xfrm>
            <a:off x="8251693" y="4419020"/>
            <a:ext cx="2988601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Ahorrar tiempo y estrés cuando surge un imprevisto.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73718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9" name="Poder resolver de manera práctica y "/>
          <p:cNvSpPr txBox="1"/>
          <p:nvPr/>
        </p:nvSpPr>
        <p:spPr>
          <a:xfrm>
            <a:off x="8251693" y="470477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Poder resolver de manera práctica y transparente los arreglos del hogar, sin tener que posponerlos.</a:t>
            </a:r>
          </a:p>
        </p:txBody>
      </p:sp>
      <p:sp>
        <p:nvSpPr>
          <p:cNvPr id="40" name="3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401233"/>
          </a:xfrm>
          <a:prstGeom prst="roundRect">
            <a:avLst>
              <a:gd name="adj" fmla="val 2416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3698875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4351867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top"/>
          <p:cNvSpPr/>
          <p:nvPr/>
        </p:nvSpPr>
        <p:spPr>
          <a:xfrm>
            <a:off x="4351867" y="3698875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8094133" y="3698875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8094133" y="3698875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User Persona - PyMe"/>
          <p:cNvSpPr txBox="1"/>
          <p:nvPr/>
        </p:nvSpPr>
        <p:spPr>
          <a:xfrm>
            <a:off x="609600" y="457120"/>
            <a:ext cx="3140736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User Persona - PyMe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5" name="PROTOPERSONA 1 · PYME"/>
          <p:cNvSpPr txBox="1"/>
          <p:nvPr/>
        </p:nvSpPr>
        <p:spPr>
          <a:xfrm>
            <a:off x="863600" y="1492864"/>
            <a:ext cx="10481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PROTOPERSONA 1 · PYME</a:t>
            </a:r>
          </a:p>
        </p:txBody>
      </p:sp>
      <p:sp>
        <p:nvSpPr>
          <p:cNvPr id="16" name="María López"/>
          <p:cNvSpPr txBox="1"/>
          <p:nvPr/>
        </p:nvSpPr>
        <p:spPr>
          <a:xfrm>
            <a:off x="863600" y="1665549"/>
            <a:ext cx="1588426" cy="332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130" spc="-53">
                <a:solidFill>
                  <a:srgbClr val="0D1520"/>
                </a:solidFill>
                <a:latin typeface="Archivo ExtraBold"/>
                <a:cs typeface="Archivo ExtraBold"/>
                <a:ea typeface="Archivo ExtraBold"/>
              </a:rPr>
              <a:t>María López</a:t>
            </a:r>
          </a:p>
        </p:txBody>
      </p:sp>
      <p:sp>
        <p:nvSpPr>
          <p:cNvPr id="17" name="38 años · Palermo, CABA · Administra"/>
          <p:cNvSpPr txBox="1"/>
          <p:nvPr/>
        </p:nvSpPr>
        <p:spPr>
          <a:xfrm>
            <a:off x="2604426" y="1801178"/>
            <a:ext cx="6219825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38 años · Palermo, CABA · Administradora de un restaurante pequeño · Vive con sus dos hijos (6 y 9 años)</a:t>
            </a:r>
          </a:p>
        </p:txBody>
      </p:sp>
      <p:sp>
        <p:nvSpPr>
          <p:cNvPr id="18" name="Busca practicidad y confianza al con"/>
          <p:cNvSpPr txBox="1"/>
          <p:nvPr/>
        </p:nvSpPr>
        <p:spPr>
          <a:xfrm>
            <a:off x="863600" y="2084388"/>
            <a:ext cx="7874000" cy="4122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Busca practicidad y confianza al contratar trabajadores, ya que no siempre puede supervisar personalmente y le preocupa la seguridad y la claridad en los costos.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896339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15933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1" name="Resolver rápido problemas en su casa"/>
          <p:cNvSpPr txBox="1"/>
          <p:nvPr/>
        </p:nvSpPr>
        <p:spPr>
          <a:xfrm>
            <a:off x="767159" y="412692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Resolver rápido problemas en su casa y en el restaurante (plomería, electricidad).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629238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23" name="Contar con alguien de confianza, por"/>
          <p:cNvSpPr txBox="1"/>
          <p:nvPr/>
        </p:nvSpPr>
        <p:spPr>
          <a:xfrm>
            <a:off x="767159" y="4596820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Contar con alguien de confianza, porque no siempre puede estar presente.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509913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25" name="Saber de antemano cuánto le va a cos"/>
          <p:cNvSpPr txBox="1"/>
          <p:nvPr/>
        </p:nvSpPr>
        <p:spPr>
          <a:xfrm>
            <a:off x="767159" y="5066720"/>
            <a:ext cx="2348442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Saber de antemano cuánto le va a costar.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896339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15933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8" name="Pierde tiempo buscando recomendacion"/>
          <p:cNvSpPr txBox="1"/>
          <p:nvPr/>
        </p:nvSpPr>
        <p:spPr>
          <a:xfrm>
            <a:off x="4509426" y="4126920"/>
            <a:ext cx="3264165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Pierde tiempo buscando recomendaciones de conocidos.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44508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0" name="Miedo a que el trabajador no cumpla "/>
          <p:cNvSpPr txBox="1"/>
          <p:nvPr/>
        </p:nvSpPr>
        <p:spPr>
          <a:xfrm>
            <a:off x="4509426" y="4412670"/>
            <a:ext cx="2822707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Miedo a que el trabajador no cumpla lo acordado.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473083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2" name="Ha tenido malas experiencias con pre"/>
          <p:cNvSpPr txBox="1"/>
          <p:nvPr/>
        </p:nvSpPr>
        <p:spPr>
          <a:xfrm>
            <a:off x="4509426" y="4698420"/>
            <a:ext cx="2893483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Ha tenido malas experiencias con precios inflados.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896339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15933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35" name="Resolver imprevistos sin afectar la "/>
          <p:cNvSpPr txBox="1"/>
          <p:nvPr/>
        </p:nvSpPr>
        <p:spPr>
          <a:xfrm>
            <a:off x="8251693" y="4126920"/>
            <a:ext cx="3275542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Resolver imprevistos sin afectar la operación del negocio.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44508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7" name="Contar con trabajadores confiables c"/>
          <p:cNvSpPr txBox="1"/>
          <p:nvPr/>
        </p:nvSpPr>
        <p:spPr>
          <a:xfrm>
            <a:off x="8251693" y="4412670"/>
            <a:ext cx="3196960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Contar con trabajadores confiables cuando los necesita.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730838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9" name="Tener claridad en precios, tiempos y"/>
          <p:cNvSpPr txBox="1"/>
          <p:nvPr/>
        </p:nvSpPr>
        <p:spPr>
          <a:xfrm>
            <a:off x="8251693" y="4698420"/>
            <a:ext cx="2918354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Tener claridad en precios, tiempos y cumplimiento.</a:t>
            </a:r>
          </a:p>
        </p:txBody>
      </p:sp>
      <p:sp>
        <p:nvSpPr>
          <p:cNvPr id="40" name="3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286933"/>
            <a:ext cx="10972800" cy="1598083"/>
          </a:xfrm>
          <a:prstGeom prst="roundRect">
            <a:avLst>
              <a:gd name="adj" fmla="val 2119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3797300"/>
            <a:ext cx="34882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marco"/>
          <p:cNvSpPr/>
          <p:nvPr/>
        </p:nvSpPr>
        <p:spPr>
          <a:xfrm>
            <a:off x="4351867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top"/>
          <p:cNvSpPr/>
          <p:nvPr/>
        </p:nvSpPr>
        <p:spPr>
          <a:xfrm>
            <a:off x="4351867" y="3797300"/>
            <a:ext cx="34882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8094133" y="3797300"/>
            <a:ext cx="3488267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8094133" y="3797300"/>
            <a:ext cx="34882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User Persona - Trabajador"/>
          <p:cNvSpPr txBox="1"/>
          <p:nvPr/>
        </p:nvSpPr>
        <p:spPr>
          <a:xfrm>
            <a:off x="609600" y="457120"/>
            <a:ext cx="3935677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User Persona - Trabajador</a:t>
            </a:r>
          </a:p>
        </p:txBody>
      </p:sp>
      <p:sp>
        <p:nvSpPr>
          <p:cNvPr id="1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5" name="PROTOPERSONA 2 · TRABAJADOR DE OFICI"/>
          <p:cNvSpPr txBox="1"/>
          <p:nvPr/>
        </p:nvSpPr>
        <p:spPr>
          <a:xfrm>
            <a:off x="863600" y="1492864"/>
            <a:ext cx="10481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PROTOPERSONA 2 · TRABAJADOR DE OFICIO</a:t>
            </a:r>
          </a:p>
        </p:txBody>
      </p:sp>
      <p:sp>
        <p:nvSpPr>
          <p:cNvPr id="16" name="Juan Pérez"/>
          <p:cNvSpPr txBox="1"/>
          <p:nvPr/>
        </p:nvSpPr>
        <p:spPr>
          <a:xfrm>
            <a:off x="863600" y="1665549"/>
            <a:ext cx="1451901" cy="332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130" spc="-53">
                <a:solidFill>
                  <a:srgbClr val="0D1520"/>
                </a:solidFill>
                <a:latin typeface="Archivo ExtraBold"/>
                <a:cs typeface="Archivo ExtraBold"/>
                <a:ea typeface="Archivo ExtraBold"/>
              </a:rPr>
              <a:t>Juan Pérez</a:t>
            </a:r>
          </a:p>
        </p:txBody>
      </p:sp>
      <p:sp>
        <p:nvSpPr>
          <p:cNvPr id="17" name="29 años · Zona Sur, Gran Buenos Aire"/>
          <p:cNvSpPr txBox="1"/>
          <p:nvPr/>
        </p:nvSpPr>
        <p:spPr>
          <a:xfrm>
            <a:off x="2467901" y="1801178"/>
            <a:ext cx="6403975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29 años · Zona Sur, Gran Buenos Aires · Electricista independiente · Trabaja por su cuenta desde hace 4 años</a:t>
            </a:r>
          </a:p>
        </p:txBody>
      </p:sp>
      <p:sp>
        <p:nvSpPr>
          <p:cNvPr id="18" name="Muchas veces pierde oportunidades po"/>
          <p:cNvSpPr txBox="1"/>
          <p:nvPr/>
        </p:nvSpPr>
        <p:spPr>
          <a:xfrm>
            <a:off x="863600" y="2084388"/>
            <a:ext cx="7874000" cy="60907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Muchas veces pierde oportunidades porque no tiene cómo mostrar su experiencia ni reseñas de trabajos anteriores, y también ha tenido problemas con pagos demorados o inseguros. Busca crecer profesionalmente, tener mayor visibilidad y garantizar que su trabajo sea reconocido y pagado de forma justa y puntual.</a:t>
            </a:r>
          </a:p>
        </p:txBody>
      </p:sp>
      <p:sp>
        <p:nvSpPr>
          <p:cNvPr id="19" name="NECESIDADES"/>
          <p:cNvSpPr txBox="1"/>
          <p:nvPr/>
        </p:nvSpPr>
        <p:spPr>
          <a:xfrm>
            <a:off x="609600" y="3994764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NECESIDADES</a:t>
            </a:r>
          </a:p>
        </p:txBody>
      </p:sp>
      <p:sp>
        <p:nvSpPr>
          <p:cNvPr id="20" name="1"/>
          <p:cNvSpPr txBox="1"/>
          <p:nvPr/>
        </p:nvSpPr>
        <p:spPr>
          <a:xfrm>
            <a:off x="609600" y="4257763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1" name="Conseguir más clientes de manera est"/>
          <p:cNvSpPr txBox="1"/>
          <p:nvPr/>
        </p:nvSpPr>
        <p:spPr>
          <a:xfrm>
            <a:off x="767159" y="4225345"/>
            <a:ext cx="2456656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Conseguir más clientes de manera estable.</a:t>
            </a:r>
          </a:p>
        </p:txBody>
      </p:sp>
      <p:sp>
        <p:nvSpPr>
          <p:cNvPr id="22" name="2"/>
          <p:cNvSpPr txBox="1"/>
          <p:nvPr/>
        </p:nvSpPr>
        <p:spPr>
          <a:xfrm>
            <a:off x="609600" y="4543513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23" name="Que los clientes lo conozcan más all"/>
          <p:cNvSpPr txBox="1"/>
          <p:nvPr/>
        </p:nvSpPr>
        <p:spPr>
          <a:xfrm>
            <a:off x="767159" y="4511095"/>
            <a:ext cx="3086894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Que los clientes lo conozcan más allá del boca a boca.</a:t>
            </a:r>
          </a:p>
        </p:txBody>
      </p:sp>
      <p:sp>
        <p:nvSpPr>
          <p:cNvPr id="24" name="3"/>
          <p:cNvSpPr txBox="1"/>
          <p:nvPr/>
        </p:nvSpPr>
        <p:spPr>
          <a:xfrm>
            <a:off x="609600" y="4829263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1B54D6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25" name="Garantizar que le paguen lo que corr"/>
          <p:cNvSpPr txBox="1"/>
          <p:nvPr/>
        </p:nvSpPr>
        <p:spPr>
          <a:xfrm>
            <a:off x="767159" y="4796845"/>
            <a:ext cx="3299222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Garantizar que le paguen lo que corresponde y en tiempo.</a:t>
            </a:r>
          </a:p>
        </p:txBody>
      </p:sp>
      <p:sp>
        <p:nvSpPr>
          <p:cNvPr id="26" name="FRUSTRACIONES"/>
          <p:cNvSpPr txBox="1"/>
          <p:nvPr/>
        </p:nvSpPr>
        <p:spPr>
          <a:xfrm>
            <a:off x="4351867" y="3994764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FRUSTRACIONES</a:t>
            </a:r>
          </a:p>
        </p:txBody>
      </p:sp>
      <p:sp>
        <p:nvSpPr>
          <p:cNvPr id="27" name="1"/>
          <p:cNvSpPr txBox="1"/>
          <p:nvPr/>
        </p:nvSpPr>
        <p:spPr>
          <a:xfrm>
            <a:off x="4351867" y="4257763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28" name="Muchas veces lo llaman solo cuando a"/>
          <p:cNvSpPr txBox="1"/>
          <p:nvPr/>
        </p:nvSpPr>
        <p:spPr>
          <a:xfrm>
            <a:off x="4509426" y="4225345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Muchas veces lo llaman solo cuando alguien lo recomienda.</a:t>
            </a:r>
          </a:p>
        </p:txBody>
      </p:sp>
      <p:sp>
        <p:nvSpPr>
          <p:cNvPr id="29" name="2"/>
          <p:cNvSpPr txBox="1"/>
          <p:nvPr/>
        </p:nvSpPr>
        <p:spPr>
          <a:xfrm>
            <a:off x="4351867" y="4727663"/>
            <a:ext cx="72893" cy="3715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0" name="Pierde trabajos porque no tiene form"/>
          <p:cNvSpPr txBox="1"/>
          <p:nvPr/>
        </p:nvSpPr>
        <p:spPr>
          <a:xfrm>
            <a:off x="4509426" y="4695245"/>
            <a:ext cx="3330707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Pierde trabajos porque no tiene forma de mostrar reseñas o su experiencia.</a:t>
            </a:r>
          </a:p>
        </p:txBody>
      </p:sp>
      <p:sp>
        <p:nvSpPr>
          <p:cNvPr id="31" name="3"/>
          <p:cNvSpPr txBox="1"/>
          <p:nvPr/>
        </p:nvSpPr>
        <p:spPr>
          <a:xfrm>
            <a:off x="4351867" y="5197563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2" name="Le han quedado pagos pendientes o de"/>
          <p:cNvSpPr txBox="1"/>
          <p:nvPr/>
        </p:nvSpPr>
        <p:spPr>
          <a:xfrm>
            <a:off x="4509426" y="5165145"/>
            <a:ext cx="2772833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Le han quedado pagos pendientes o demorados.</a:t>
            </a:r>
          </a:p>
        </p:txBody>
      </p:sp>
      <p:sp>
        <p:nvSpPr>
          <p:cNvPr id="33" name="OBJETIVOS"/>
          <p:cNvSpPr txBox="1"/>
          <p:nvPr/>
        </p:nvSpPr>
        <p:spPr>
          <a:xfrm>
            <a:off x="8094133" y="3994764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OBJETIVOS</a:t>
            </a:r>
          </a:p>
        </p:txBody>
      </p:sp>
      <p:sp>
        <p:nvSpPr>
          <p:cNvPr id="34" name="1"/>
          <p:cNvSpPr txBox="1"/>
          <p:nvPr/>
        </p:nvSpPr>
        <p:spPr>
          <a:xfrm>
            <a:off x="8094133" y="4257763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</a:t>
            </a:r>
          </a:p>
        </p:txBody>
      </p:sp>
      <p:sp>
        <p:nvSpPr>
          <p:cNvPr id="35" name="Aumentar sus ingresos con más trabaj"/>
          <p:cNvSpPr txBox="1"/>
          <p:nvPr/>
        </p:nvSpPr>
        <p:spPr>
          <a:xfrm>
            <a:off x="8251693" y="4225345"/>
            <a:ext cx="2354924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Aumentar sus ingresos con más trabajos.</a:t>
            </a:r>
          </a:p>
        </p:txBody>
      </p:sp>
      <p:sp>
        <p:nvSpPr>
          <p:cNvPr id="36" name="2"/>
          <p:cNvSpPr txBox="1"/>
          <p:nvPr/>
        </p:nvSpPr>
        <p:spPr>
          <a:xfrm>
            <a:off x="8094133" y="4543513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2</a:t>
            </a:r>
          </a:p>
        </p:txBody>
      </p:sp>
      <p:sp>
        <p:nvSpPr>
          <p:cNvPr id="37" name="Construir reputación digital para de"/>
          <p:cNvSpPr txBox="1"/>
          <p:nvPr/>
        </p:nvSpPr>
        <p:spPr>
          <a:xfrm>
            <a:off x="8251693" y="4511095"/>
            <a:ext cx="2539603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Construir reputación digital para destacarse.</a:t>
            </a:r>
          </a:p>
        </p:txBody>
      </p:sp>
      <p:sp>
        <p:nvSpPr>
          <p:cNvPr id="38" name="3"/>
          <p:cNvSpPr txBox="1"/>
          <p:nvPr/>
        </p:nvSpPr>
        <p:spPr>
          <a:xfrm>
            <a:off x="8094133" y="4829263"/>
            <a:ext cx="72893" cy="1874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</a:t>
            </a:r>
          </a:p>
        </p:txBody>
      </p:sp>
      <p:sp>
        <p:nvSpPr>
          <p:cNvPr id="39" name="Reducir el riesgo de clientes que no"/>
          <p:cNvSpPr txBox="1"/>
          <p:nvPr/>
        </p:nvSpPr>
        <p:spPr>
          <a:xfrm>
            <a:off x="8251693" y="4796845"/>
            <a:ext cx="2446734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Reducir el riesgo de clientes que no pagan.</a:t>
            </a:r>
          </a:p>
        </p:txBody>
      </p:sp>
      <p:sp>
        <p:nvSpPr>
          <p:cNvPr id="40" name="3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505869"/>
            <a:ext cx="2269067" cy="333640"/>
          </a:xfrm>
          <a:prstGeom prst="roundRect">
            <a:avLst>
              <a:gd name="adj" fmla="val 761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left"/>
          <p:cNvSpPr/>
          <p:nvPr/>
        </p:nvSpPr>
        <p:spPr>
          <a:xfrm>
            <a:off x="609600" y="2505869"/>
            <a:ext cx="25400" cy="33364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2907242"/>
            <a:ext cx="2269067" cy="333640"/>
          </a:xfrm>
          <a:prstGeom prst="roundRect">
            <a:avLst>
              <a:gd name="adj" fmla="val 761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907242"/>
            <a:ext cx="25400" cy="33364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308615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left"/>
          <p:cNvSpPr/>
          <p:nvPr/>
        </p:nvSpPr>
        <p:spPr>
          <a:xfrm>
            <a:off x="609600" y="3308615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" y="3857360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857360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4406106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609600" y="4406106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4954852"/>
            <a:ext cx="2269067" cy="481012"/>
          </a:xfrm>
          <a:prstGeom prst="roundRect">
            <a:avLst>
              <a:gd name="adj" fmla="val 5280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954852"/>
            <a:ext cx="25400" cy="481012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inea"/>
          <p:cNvSpPr/>
          <p:nvPr/>
        </p:nvSpPr>
        <p:spPr>
          <a:xfrm>
            <a:off x="2878667" y="3860800"/>
            <a:ext cx="2032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grafico" descr="34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0" y="3818467"/>
            <a:ext cx="76200" cy="84667"/>
          </a:xfrm>
          <a:prstGeom prst="rect">
            <a:avLst/>
          </a:prstGeom>
          <a:effectLst/>
        </p:spPr>
      </p:pic>
      <p:sp>
        <p:nvSpPr>
          <p:cNvPr id="19" name="caja"/>
          <p:cNvSpPr/>
          <p:nvPr/>
        </p:nvSpPr>
        <p:spPr>
          <a:xfrm>
            <a:off x="3166533" y="3207544"/>
            <a:ext cx="1574800" cy="1306512"/>
          </a:xfrm>
          <a:prstGeom prst="roundRect">
            <a:avLst>
              <a:gd name="adj" fmla="val 3240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inea"/>
          <p:cNvSpPr/>
          <p:nvPr/>
        </p:nvSpPr>
        <p:spPr>
          <a:xfrm>
            <a:off x="4809067" y="3860800"/>
            <a:ext cx="762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linea"/>
          <p:cNvSpPr/>
          <p:nvPr/>
        </p:nvSpPr>
        <p:spPr>
          <a:xfrm>
            <a:off x="4876800" y="2514203"/>
            <a:ext cx="8467" cy="2885546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linea"/>
          <p:cNvSpPr/>
          <p:nvPr/>
        </p:nvSpPr>
        <p:spPr>
          <a:xfrm>
            <a:off x="4876800" y="2514203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linea"/>
          <p:cNvSpPr/>
          <p:nvPr/>
        </p:nvSpPr>
        <p:spPr>
          <a:xfrm>
            <a:off x="4876800" y="3860800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linea"/>
          <p:cNvSpPr/>
          <p:nvPr/>
        </p:nvSpPr>
        <p:spPr>
          <a:xfrm>
            <a:off x="4876800" y="5399617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5029200" y="2351088"/>
            <a:ext cx="880533" cy="355600"/>
          </a:xfrm>
          <a:prstGeom prst="roundRect">
            <a:avLst>
              <a:gd name="adj" fmla="val 952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linea"/>
          <p:cNvSpPr/>
          <p:nvPr/>
        </p:nvSpPr>
        <p:spPr>
          <a:xfrm>
            <a:off x="5909733" y="2528888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grafico" descr="34_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133" y="2490787"/>
            <a:ext cx="67733" cy="76200"/>
          </a:xfrm>
          <a:prstGeom prst="rect">
            <a:avLst/>
          </a:prstGeom>
          <a:effectLst/>
        </p:spPr>
      </p:pic>
      <p:sp>
        <p:nvSpPr>
          <p:cNvPr id="28" name="caja"/>
          <p:cNvSpPr/>
          <p:nvPr/>
        </p:nvSpPr>
        <p:spPr>
          <a:xfrm>
            <a:off x="6129867" y="1867165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6129867" y="2212843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ja"/>
          <p:cNvSpPr/>
          <p:nvPr/>
        </p:nvSpPr>
        <p:spPr>
          <a:xfrm>
            <a:off x="6129867" y="2558521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ja"/>
          <p:cNvSpPr/>
          <p:nvPr/>
        </p:nvSpPr>
        <p:spPr>
          <a:xfrm>
            <a:off x="6129867" y="2904199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aja"/>
          <p:cNvSpPr/>
          <p:nvPr/>
        </p:nvSpPr>
        <p:spPr>
          <a:xfrm>
            <a:off x="5029200" y="3793067"/>
            <a:ext cx="880533" cy="355600"/>
          </a:xfrm>
          <a:prstGeom prst="roundRect">
            <a:avLst>
              <a:gd name="adj" fmla="val 9523"/>
            </a:avLst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linea"/>
          <p:cNvSpPr/>
          <p:nvPr/>
        </p:nvSpPr>
        <p:spPr>
          <a:xfrm>
            <a:off x="5909733" y="3970867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grafico" descr="34_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3932767"/>
            <a:ext cx="67733" cy="76200"/>
          </a:xfrm>
          <a:prstGeom prst="rect">
            <a:avLst/>
          </a:prstGeom>
          <a:effectLst/>
        </p:spPr>
      </p:pic>
      <p:sp>
        <p:nvSpPr>
          <p:cNvPr id="35" name="caja"/>
          <p:cNvSpPr/>
          <p:nvPr/>
        </p:nvSpPr>
        <p:spPr>
          <a:xfrm>
            <a:off x="6129867" y="3309144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aja"/>
          <p:cNvSpPr/>
          <p:nvPr/>
        </p:nvSpPr>
        <p:spPr>
          <a:xfrm>
            <a:off x="6129867" y="3654822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aja"/>
          <p:cNvSpPr/>
          <p:nvPr/>
        </p:nvSpPr>
        <p:spPr>
          <a:xfrm>
            <a:off x="6129867" y="4000500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aja"/>
          <p:cNvSpPr/>
          <p:nvPr/>
        </p:nvSpPr>
        <p:spPr>
          <a:xfrm>
            <a:off x="6129867" y="4346178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aja"/>
          <p:cNvSpPr/>
          <p:nvPr/>
        </p:nvSpPr>
        <p:spPr>
          <a:xfrm>
            <a:off x="5029200" y="5235046"/>
            <a:ext cx="880533" cy="355600"/>
          </a:xfrm>
          <a:prstGeom prst="roundRect">
            <a:avLst>
              <a:gd name="adj" fmla="val 9523"/>
            </a:avLst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linea"/>
          <p:cNvSpPr/>
          <p:nvPr/>
        </p:nvSpPr>
        <p:spPr>
          <a:xfrm>
            <a:off x="5909733" y="5412846"/>
            <a:ext cx="15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grafico" descr="34_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133" y="5374746"/>
            <a:ext cx="67733" cy="76200"/>
          </a:xfrm>
          <a:prstGeom prst="rect">
            <a:avLst/>
          </a:prstGeom>
          <a:effectLst/>
        </p:spPr>
      </p:pic>
      <p:sp>
        <p:nvSpPr>
          <p:cNvPr id="42" name="caja"/>
          <p:cNvSpPr/>
          <p:nvPr/>
        </p:nvSpPr>
        <p:spPr>
          <a:xfrm>
            <a:off x="6129867" y="4751123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aja"/>
          <p:cNvSpPr/>
          <p:nvPr/>
        </p:nvSpPr>
        <p:spPr>
          <a:xfrm>
            <a:off x="6129867" y="5096801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aja"/>
          <p:cNvSpPr/>
          <p:nvPr/>
        </p:nvSpPr>
        <p:spPr>
          <a:xfrm>
            <a:off x="6129867" y="5442479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aja"/>
          <p:cNvSpPr/>
          <p:nvPr/>
        </p:nvSpPr>
        <p:spPr>
          <a:xfrm>
            <a:off x="6129867" y="5788157"/>
            <a:ext cx="5452533" cy="286411"/>
          </a:xfrm>
          <a:prstGeom prst="roundRect">
            <a:avLst>
              <a:gd name="adj" fmla="val 8868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Mapeo del problema"/>
          <p:cNvSpPr txBox="1"/>
          <p:nvPr/>
        </p:nvSpPr>
        <p:spPr>
          <a:xfrm>
            <a:off x="609600" y="457120"/>
            <a:ext cx="3102107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Mapeo del problema</a:t>
            </a:r>
          </a:p>
        </p:txBody>
      </p:sp>
      <p:sp>
        <p:nvSpPr>
          <p:cNvPr id="47" name="Causas y consecuencias"/>
          <p:cNvSpPr txBox="1"/>
          <p:nvPr/>
        </p:nvSpPr>
        <p:spPr>
          <a:xfrm>
            <a:off x="609600" y="844871"/>
            <a:ext cx="3102107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Causas y consecuencias</a:t>
            </a:r>
          </a:p>
        </p:txBody>
      </p:sp>
      <p:sp>
        <p:nvSpPr>
          <p:cNvPr id="48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4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50" name="CAUSAS"/>
          <p:cNvSpPr txBox="1"/>
          <p:nvPr/>
        </p:nvSpPr>
        <p:spPr>
          <a:xfrm>
            <a:off x="609600" y="2288466"/>
            <a:ext cx="22860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CAUSAS</a:t>
            </a:r>
          </a:p>
        </p:txBody>
      </p:sp>
      <p:sp>
        <p:nvSpPr>
          <p:cNvPr id="51" name="Alta informalidad del sector"/>
          <p:cNvSpPr txBox="1"/>
          <p:nvPr/>
        </p:nvSpPr>
        <p:spPr>
          <a:xfrm>
            <a:off x="753533" y="2600673"/>
            <a:ext cx="2023533" cy="1744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Alta informalidad del sector</a:t>
            </a:r>
          </a:p>
        </p:txBody>
      </p:sp>
      <p:sp>
        <p:nvSpPr>
          <p:cNvPr id="52" name="Dependencia del boca a boca"/>
          <p:cNvSpPr txBox="1"/>
          <p:nvPr/>
        </p:nvSpPr>
        <p:spPr>
          <a:xfrm>
            <a:off x="753533" y="3002045"/>
            <a:ext cx="2023533" cy="1744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Dependencia del boca a boca</a:t>
            </a:r>
          </a:p>
        </p:txBody>
      </p:sp>
      <p:sp>
        <p:nvSpPr>
          <p:cNvPr id="53" name="Falta de plataformas confiables y ac"/>
          <p:cNvSpPr txBox="1"/>
          <p:nvPr/>
        </p:nvSpPr>
        <p:spPr>
          <a:xfrm>
            <a:off x="753533" y="3403418"/>
            <a:ext cx="2006600" cy="3218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Falta de plataformas confiables y accesibles</a:t>
            </a:r>
          </a:p>
        </p:txBody>
      </p:sp>
      <p:sp>
        <p:nvSpPr>
          <p:cNvPr id="54" name="Precios no estandarizados → generan "/>
          <p:cNvSpPr txBox="1"/>
          <p:nvPr/>
        </p:nvSpPr>
        <p:spPr>
          <a:xfrm>
            <a:off x="753533" y="3952164"/>
            <a:ext cx="2006600" cy="3218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Precios no estandarizados → generan desconfianza</a:t>
            </a:r>
          </a:p>
        </p:txBody>
      </p:sp>
      <p:sp>
        <p:nvSpPr>
          <p:cNvPr id="55" name="Baja digitalización (pagos, reseñas,"/>
          <p:cNvSpPr txBox="1"/>
          <p:nvPr/>
        </p:nvSpPr>
        <p:spPr>
          <a:xfrm>
            <a:off x="753533" y="4500910"/>
            <a:ext cx="2006600" cy="3218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Baja digitalización (pagos, reseñas, agenda)</a:t>
            </a:r>
          </a:p>
        </p:txBody>
      </p:sp>
      <p:sp>
        <p:nvSpPr>
          <p:cNvPr id="56" name="Mercado fragmentado: cada trabajador"/>
          <p:cNvSpPr txBox="1"/>
          <p:nvPr/>
        </p:nvSpPr>
        <p:spPr>
          <a:xfrm>
            <a:off x="753533" y="5049656"/>
            <a:ext cx="2006600" cy="3218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fragmentado: cada trabajador busca clientes por su cuenta</a:t>
            </a:r>
          </a:p>
        </p:txBody>
      </p:sp>
      <p:sp>
        <p:nvSpPr>
          <p:cNvPr id="57" name="PROBLEMA CENTRAL"/>
          <p:cNvSpPr txBox="1"/>
          <p:nvPr/>
        </p:nvSpPr>
        <p:spPr>
          <a:xfrm>
            <a:off x="3302000" y="3411874"/>
            <a:ext cx="1303867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9FBEFB"/>
                </a:solidFill>
                <a:latin typeface="IBM Plex Mono"/>
                <a:cs typeface="IBM Plex Mono"/>
                <a:ea typeface="IBM Plex Mono"/>
              </a:rPr>
              <a:t>PROBLEMA CENTRAL</a:t>
            </a:r>
          </a:p>
        </p:txBody>
      </p:sp>
      <p:sp>
        <p:nvSpPr>
          <p:cNvPr id="58" name="Dificultad para conectar trabajadore"/>
          <p:cNvSpPr txBox="1"/>
          <p:nvPr/>
        </p:nvSpPr>
        <p:spPr>
          <a:xfrm>
            <a:off x="3268133" y="3582599"/>
            <a:ext cx="1371600" cy="7367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20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Dificultad para conectar trabajadores de oficios con clientes</a:t>
            </a:r>
          </a:p>
        </p:txBody>
      </p:sp>
      <p:sp>
        <p:nvSpPr>
          <p:cNvPr id="59" name="CONSECUENCIAS POR ACTOR"/>
          <p:cNvSpPr txBox="1"/>
          <p:nvPr/>
        </p:nvSpPr>
        <p:spPr>
          <a:xfrm>
            <a:off x="5029200" y="1649762"/>
            <a:ext cx="65701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CONSECUENCIAS POR ACTOR</a:t>
            </a:r>
          </a:p>
        </p:txBody>
      </p:sp>
      <p:sp>
        <p:nvSpPr>
          <p:cNvPr id="60" name="Pymes"/>
          <p:cNvSpPr txBox="1"/>
          <p:nvPr/>
        </p:nvSpPr>
        <p:spPr>
          <a:xfrm>
            <a:off x="5096933" y="2443632"/>
            <a:ext cx="745067" cy="1614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 spc="-10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Pymes</a:t>
            </a:r>
          </a:p>
        </p:txBody>
      </p:sp>
      <p:sp>
        <p:nvSpPr>
          <p:cNvPr id="61" name="Pierden tiempo buscando a alguien co"/>
          <p:cNvSpPr txBox="1"/>
          <p:nvPr/>
        </p:nvSpPr>
        <p:spPr>
          <a:xfrm>
            <a:off x="6231467" y="1945271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Pierden tiempo buscando a alguien confiable</a:t>
            </a:r>
          </a:p>
        </p:txBody>
      </p:sp>
      <p:sp>
        <p:nvSpPr>
          <p:cNvPr id="62" name="Dificultad para resolver urgencias —"/>
          <p:cNvSpPr txBox="1"/>
          <p:nvPr/>
        </p:nvSpPr>
        <p:spPr>
          <a:xfrm>
            <a:off x="6231467" y="2290949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 para resolver urgencias — impacto en su operación</a:t>
            </a:r>
          </a:p>
        </p:txBody>
      </p:sp>
      <p:sp>
        <p:nvSpPr>
          <p:cNvPr id="63" name="Precios poco claros, sin presupuesto"/>
          <p:cNvSpPr txBox="1"/>
          <p:nvPr/>
        </p:nvSpPr>
        <p:spPr>
          <a:xfrm>
            <a:off x="6231467" y="2636628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Precios poco claros, sin presupuestos comparables</a:t>
            </a:r>
          </a:p>
        </p:txBody>
      </p:sp>
      <p:sp>
        <p:nvSpPr>
          <p:cNvPr id="64" name="Riesgo de incumplimientos y baja cal"/>
          <p:cNvSpPr txBox="1"/>
          <p:nvPr/>
        </p:nvSpPr>
        <p:spPr>
          <a:xfrm>
            <a:off x="6231467" y="2982306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Riesgo de incumplimientos y baja calidad → afecta al negocio</a:t>
            </a:r>
          </a:p>
        </p:txBody>
      </p:sp>
      <p:sp>
        <p:nvSpPr>
          <p:cNvPr id="65" name="Hogares"/>
          <p:cNvSpPr txBox="1"/>
          <p:nvPr/>
        </p:nvSpPr>
        <p:spPr>
          <a:xfrm>
            <a:off x="5096933" y="3885612"/>
            <a:ext cx="745067" cy="1614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 spc="-10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Hogares</a:t>
            </a:r>
          </a:p>
        </p:txBody>
      </p:sp>
      <p:sp>
        <p:nvSpPr>
          <p:cNvPr id="66" name="Inseguridad al dejar entrar a un des"/>
          <p:cNvSpPr txBox="1"/>
          <p:nvPr/>
        </p:nvSpPr>
        <p:spPr>
          <a:xfrm>
            <a:off x="6231467" y="3387250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Inseguridad al dejar entrar a un desconocido</a:t>
            </a:r>
          </a:p>
        </p:txBody>
      </p:sp>
      <p:sp>
        <p:nvSpPr>
          <p:cNvPr id="67" name="Riesgo de malas experiencias: calida"/>
          <p:cNvSpPr txBox="1"/>
          <p:nvPr/>
        </p:nvSpPr>
        <p:spPr>
          <a:xfrm>
            <a:off x="6231467" y="3732929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Riesgo de malas experiencias: calidad e incumplimiento</a:t>
            </a:r>
          </a:p>
        </p:txBody>
      </p:sp>
      <p:sp>
        <p:nvSpPr>
          <p:cNvPr id="68" name="Poca transparencia en precios"/>
          <p:cNvSpPr txBox="1"/>
          <p:nvPr/>
        </p:nvSpPr>
        <p:spPr>
          <a:xfrm>
            <a:off x="6231467" y="4078607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Poca transparencia en precios</a:t>
            </a:r>
          </a:p>
        </p:txBody>
      </p:sp>
      <p:sp>
        <p:nvSpPr>
          <p:cNvPr id="69" name="Falta de confianza → recurren solo a"/>
          <p:cNvSpPr txBox="1"/>
          <p:nvPr/>
        </p:nvSpPr>
        <p:spPr>
          <a:xfrm>
            <a:off x="6231467" y="4424285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Falta de confianza → recurren solo a conocidos</a:t>
            </a:r>
          </a:p>
        </p:txBody>
      </p:sp>
      <p:sp>
        <p:nvSpPr>
          <p:cNvPr id="70" name="Trabajadores"/>
          <p:cNvSpPr txBox="1"/>
          <p:nvPr/>
        </p:nvSpPr>
        <p:spPr>
          <a:xfrm>
            <a:off x="5113867" y="5327591"/>
            <a:ext cx="728133" cy="1614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 spc="-10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Trabajadores</a:t>
            </a:r>
          </a:p>
        </p:txBody>
      </p:sp>
      <p:sp>
        <p:nvSpPr>
          <p:cNvPr id="71" name="Ingresos inestables e inseguros"/>
          <p:cNvSpPr txBox="1"/>
          <p:nvPr/>
        </p:nvSpPr>
        <p:spPr>
          <a:xfrm>
            <a:off x="6231467" y="4829230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inestables e inseguros</a:t>
            </a:r>
          </a:p>
        </p:txBody>
      </p:sp>
      <p:sp>
        <p:nvSpPr>
          <p:cNvPr id="72" name="Dificultades para cobrar a tiempo o "/>
          <p:cNvSpPr txBox="1"/>
          <p:nvPr/>
        </p:nvSpPr>
        <p:spPr>
          <a:xfrm>
            <a:off x="6231467" y="5174908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Dificultades para cobrar a tiempo o de manera segura</a:t>
            </a:r>
          </a:p>
        </p:txBody>
      </p:sp>
      <p:sp>
        <p:nvSpPr>
          <p:cNvPr id="73" name="Poca visibilidad → dependen de conta"/>
          <p:cNvSpPr txBox="1"/>
          <p:nvPr/>
        </p:nvSpPr>
        <p:spPr>
          <a:xfrm>
            <a:off x="6231467" y="5520586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Poca visibilidad → dependen de contactos personales</a:t>
            </a:r>
          </a:p>
        </p:txBody>
      </p:sp>
      <p:sp>
        <p:nvSpPr>
          <p:cNvPr id="74" name="Pocas oportunidades de formalización"/>
          <p:cNvSpPr txBox="1"/>
          <p:nvPr/>
        </p:nvSpPr>
        <p:spPr>
          <a:xfrm>
            <a:off x="6231467" y="5866264"/>
            <a:ext cx="5266267" cy="1613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5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Pocas oportunidades de formalización laboral</a:t>
            </a:r>
          </a:p>
        </p:txBody>
      </p:sp>
      <p:sp>
        <p:nvSpPr>
          <p:cNvPr id="75" name="3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5" name="SPRINT 2"/>
          <p:cNvSpPr txBox="1"/>
          <p:nvPr/>
        </p:nvSpPr>
        <p:spPr>
          <a:xfrm>
            <a:off x="4151577" y="3148499"/>
            <a:ext cx="3905779" cy="8878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670" spc="-33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SPRINT 2</a:t>
            </a:r>
          </a:p>
        </p:txBody>
      </p:sp>
      <p:sp>
        <p:nvSpPr>
          <p:cNvPr id="6" name="3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3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517" y="1143000"/>
            <a:ext cx="321733" cy="321733"/>
          </a:xfrm>
          <a:prstGeom prst="rect">
            <a:avLst/>
          </a:prstGeom>
          <a:effectLst/>
        </p:spPr>
      </p:pic>
      <p:sp>
        <p:nvSpPr>
          <p:cNvPr id="4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grafico" descr="0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6" name="marco"/>
          <p:cNvSpPr/>
          <p:nvPr/>
        </p:nvSpPr>
        <p:spPr>
          <a:xfrm>
            <a:off x="609600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grafico" descr="36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15594"/>
            <a:ext cx="254000" cy="254000"/>
          </a:xfrm>
          <a:prstGeom prst="rect">
            <a:avLst/>
          </a:prstGeom>
          <a:effectLst/>
        </p:spPr>
      </p:pic>
      <p:sp>
        <p:nvSpPr>
          <p:cNvPr id="9" name="marco"/>
          <p:cNvSpPr/>
          <p:nvPr/>
        </p:nvSpPr>
        <p:spPr>
          <a:xfrm>
            <a:off x="3407833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3407833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grafico" descr="36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833" y="4115594"/>
            <a:ext cx="254000" cy="254000"/>
          </a:xfrm>
          <a:prstGeom prst="rect">
            <a:avLst/>
          </a:prstGeom>
          <a:effectLst/>
        </p:spPr>
      </p:pic>
      <p:sp>
        <p:nvSpPr>
          <p:cNvPr id="12" name="marco"/>
          <p:cNvSpPr/>
          <p:nvPr/>
        </p:nvSpPr>
        <p:spPr>
          <a:xfrm>
            <a:off x="6206067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206067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grafico" descr="36_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067" y="4115594"/>
            <a:ext cx="254000" cy="254000"/>
          </a:xfrm>
          <a:prstGeom prst="rect">
            <a:avLst/>
          </a:prstGeom>
          <a:effectLst/>
        </p:spPr>
      </p:pic>
      <p:sp>
        <p:nvSpPr>
          <p:cNvPr id="15" name="marco"/>
          <p:cNvSpPr/>
          <p:nvPr/>
        </p:nvSpPr>
        <p:spPr>
          <a:xfrm>
            <a:off x="9004300" y="3878527"/>
            <a:ext cx="2578100" cy="109140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9004300" y="3878527"/>
            <a:ext cx="2578100" cy="1693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grafico" descr="36_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4300" y="4115594"/>
            <a:ext cx="254000" cy="254000"/>
          </a:xfrm>
          <a:prstGeom prst="rect">
            <a:avLst/>
          </a:prstGeom>
          <a:effectLst/>
        </p:spPr>
      </p:pic>
      <p:sp>
        <p:nvSpPr>
          <p:cNvPr id="18" name="¿Cómo solucionamos esto?"/>
          <p:cNvSpPr txBox="1"/>
          <p:nvPr/>
        </p:nvSpPr>
        <p:spPr>
          <a:xfrm>
            <a:off x="609600" y="469114"/>
            <a:ext cx="6251443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¿Cómo solucionamos esto?</a:t>
            </a:r>
          </a:p>
        </p:txBody>
      </p:sp>
      <p:sp>
        <p:nvSpPr>
          <p:cNvPr id="19" name="OFIX"/>
          <p:cNvSpPr txBox="1"/>
          <p:nvPr/>
        </p:nvSpPr>
        <p:spPr>
          <a:xfrm>
            <a:off x="609600" y="1109916"/>
            <a:ext cx="1094317" cy="4918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470" spc="-173">
                <a:solidFill>
                  <a:srgbClr val="1B54D6"/>
                </a:solidFill>
                <a:latin typeface="Archivo Black"/>
                <a:cs typeface="Archivo Black"/>
                <a:ea typeface="Archivo Black"/>
              </a:rPr>
              <a:t>OFIX</a:t>
            </a:r>
          </a:p>
        </p:txBody>
      </p:sp>
      <p:sp>
        <p:nvSpPr>
          <p:cNvPr id="2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2" name="Plataforma digital que conecta hogar"/>
          <p:cNvSpPr txBox="1"/>
          <p:nvPr/>
        </p:nvSpPr>
        <p:spPr>
          <a:xfrm>
            <a:off x="609600" y="2114168"/>
            <a:ext cx="8493654" cy="48936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Plataforma digital que conecta hogares y pymes gastronómicas con trabajadores de oficio verificados, en un entorno más seguro, simple y transparente.</a:t>
            </a:r>
          </a:p>
        </p:txBody>
      </p:sp>
      <p:sp>
        <p:nvSpPr>
          <p:cNvPr id="23" name="Trabajadores con perfiles verificado"/>
          <p:cNvSpPr txBox="1"/>
          <p:nvPr/>
        </p:nvSpPr>
        <p:spPr>
          <a:xfrm>
            <a:off x="609600" y="4545276"/>
            <a:ext cx="2578100" cy="46275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Trabajadores con perfiles verificados.</a:t>
            </a:r>
          </a:p>
        </p:txBody>
      </p:sp>
      <p:sp>
        <p:nvSpPr>
          <p:cNvPr id="24" name="Respuesta rápida a emergencias."/>
          <p:cNvSpPr txBox="1"/>
          <p:nvPr/>
        </p:nvSpPr>
        <p:spPr>
          <a:xfrm>
            <a:off x="3407833" y="4545276"/>
            <a:ext cx="2595033" cy="2472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Respuesta rápida a emergencias.</a:t>
            </a:r>
          </a:p>
        </p:txBody>
      </p:sp>
      <p:sp>
        <p:nvSpPr>
          <p:cNvPr id="25" name="Sistema de reputación y reseñas."/>
          <p:cNvSpPr txBox="1"/>
          <p:nvPr/>
        </p:nvSpPr>
        <p:spPr>
          <a:xfrm>
            <a:off x="6206067" y="4545276"/>
            <a:ext cx="2595033" cy="2472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Sistema de reputación y reseñas.</a:t>
            </a:r>
          </a:p>
        </p:txBody>
      </p:sp>
      <p:sp>
        <p:nvSpPr>
          <p:cNvPr id="26" name="Geolocalización y búsqueda por cerca"/>
          <p:cNvSpPr txBox="1"/>
          <p:nvPr/>
        </p:nvSpPr>
        <p:spPr>
          <a:xfrm>
            <a:off x="9004300" y="4545276"/>
            <a:ext cx="2578100" cy="46275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Geolocalización y búsqueda por cercanía.</a:t>
            </a:r>
          </a:p>
        </p:txBody>
      </p:sp>
      <p:sp>
        <p:nvSpPr>
          <p:cNvPr id="27" name="3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486400" cy="4741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6256867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47413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855133" y="5119820"/>
            <a:ext cx="5003800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855133" y="5119820"/>
            <a:ext cx="5003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0" y="1524000"/>
            <a:ext cx="5486400" cy="4741333"/>
          </a:xfrm>
          <a:prstGeom prst="rect">
            <a:avLst/>
          </a:prstGeom>
          <a:solidFill>
            <a:srgbClr val="F4F7FD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6341533" y="5119820"/>
            <a:ext cx="4995333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341533" y="5119820"/>
            <a:ext cx="4995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ersonas / Pymes gastronómicas"/>
          <p:cNvSpPr txBox="1"/>
          <p:nvPr/>
        </p:nvSpPr>
        <p:spPr>
          <a:xfrm>
            <a:off x="609600" y="457120"/>
            <a:ext cx="507563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Personas / Pymes gastronómicas</a:t>
            </a:r>
          </a:p>
        </p:txBody>
      </p:sp>
      <p:sp>
        <p:nvSpPr>
          <p:cNvPr id="15" name="Value Proposition Canvas"/>
          <p:cNvSpPr txBox="1"/>
          <p:nvPr/>
        </p:nvSpPr>
        <p:spPr>
          <a:xfrm>
            <a:off x="609600" y="844871"/>
            <a:ext cx="5075634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Value Proposition Canvas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8" name="LO QUE OFRECE OFIX"/>
          <p:cNvSpPr txBox="1"/>
          <p:nvPr/>
        </p:nvSpPr>
        <p:spPr>
          <a:xfrm>
            <a:off x="855133" y="1738397"/>
            <a:ext cx="5020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LO QUE OFRECE OFIX</a:t>
            </a:r>
          </a:p>
        </p:txBody>
      </p:sp>
      <p:sp>
        <p:nvSpPr>
          <p:cNvPr id="19" name="Productos y servicios"/>
          <p:cNvSpPr txBox="1"/>
          <p:nvPr/>
        </p:nvSpPr>
        <p:spPr>
          <a:xfrm>
            <a:off x="855133" y="1995609"/>
            <a:ext cx="241723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Productos y servicios</a:t>
            </a:r>
          </a:p>
        </p:txBody>
      </p:sp>
      <p:sp>
        <p:nvSpPr>
          <p:cNvPr id="20" name="WebApp que conecta hogares y pymes g"/>
          <p:cNvSpPr txBox="1"/>
          <p:nvPr/>
        </p:nvSpPr>
        <p:spPr>
          <a:xfrm>
            <a:off x="855133" y="224005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WebApp que conecta hogares y pymes gastronómicas con trabajadores verificados</a:t>
            </a:r>
          </a:p>
        </p:txBody>
      </p:sp>
      <p:sp>
        <p:nvSpPr>
          <p:cNvPr id="21" name="Reseñas de otros clientes"/>
          <p:cNvSpPr txBox="1"/>
          <p:nvPr/>
        </p:nvSpPr>
        <p:spPr>
          <a:xfrm>
            <a:off x="855133" y="2604119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Reseñas de otros clientes</a:t>
            </a:r>
          </a:p>
        </p:txBody>
      </p:sp>
      <p:sp>
        <p:nvSpPr>
          <p:cNvPr id="22" name="Pagos digitales dentro de la platafo"/>
          <p:cNvSpPr txBox="1"/>
          <p:nvPr/>
        </p:nvSpPr>
        <p:spPr>
          <a:xfrm>
            <a:off x="855133" y="2820019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Pagos digitales dentro de la plataforma y facturación opcional</a:t>
            </a:r>
          </a:p>
        </p:txBody>
      </p:sp>
      <p:sp>
        <p:nvSpPr>
          <p:cNvPr id="23" name="Geolocalización"/>
          <p:cNvSpPr txBox="1"/>
          <p:nvPr/>
        </p:nvSpPr>
        <p:spPr>
          <a:xfrm>
            <a:off x="855133" y="3184086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Geolocalización</a:t>
            </a:r>
          </a:p>
        </p:txBody>
      </p:sp>
      <p:sp>
        <p:nvSpPr>
          <p:cNvPr id="24" name="Creadores de valor"/>
          <p:cNvSpPr txBox="1"/>
          <p:nvPr/>
        </p:nvSpPr>
        <p:spPr>
          <a:xfrm>
            <a:off x="3458633" y="1995609"/>
            <a:ext cx="241723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Creadores de valor</a:t>
            </a:r>
          </a:p>
        </p:txBody>
      </p:sp>
      <p:sp>
        <p:nvSpPr>
          <p:cNvPr id="25" name="Base de datos con puntuación y evalu"/>
          <p:cNvSpPr txBox="1"/>
          <p:nvPr/>
        </p:nvSpPr>
        <p:spPr>
          <a:xfrm>
            <a:off x="3458633" y="224005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Base de datos con puntuación y evaluación de técnicos</a:t>
            </a:r>
          </a:p>
        </p:txBody>
      </p:sp>
      <p:sp>
        <p:nvSpPr>
          <p:cNvPr id="26" name="Historial y posibilidad de recontrat"/>
          <p:cNvSpPr txBox="1"/>
          <p:nvPr/>
        </p:nvSpPr>
        <p:spPr>
          <a:xfrm>
            <a:off x="3458633" y="2604119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Historial y posibilidad de recontratar</a:t>
            </a:r>
          </a:p>
        </p:txBody>
      </p:sp>
      <p:sp>
        <p:nvSpPr>
          <p:cNvPr id="27" name="Comodidad de gestionar todos los ofi"/>
          <p:cNvSpPr txBox="1"/>
          <p:nvPr/>
        </p:nvSpPr>
        <p:spPr>
          <a:xfrm>
            <a:off x="3458633" y="2820019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Comodidad de gestionar todos los oficios desde una sola plataforma</a:t>
            </a:r>
          </a:p>
        </p:txBody>
      </p:sp>
      <p:sp>
        <p:nvSpPr>
          <p:cNvPr id="28" name="Ver trabajos previos y comparar prec"/>
          <p:cNvSpPr txBox="1"/>
          <p:nvPr/>
        </p:nvSpPr>
        <p:spPr>
          <a:xfrm>
            <a:off x="3458633" y="3184086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Ver trabajos previos y comparar precios antes de contratar</a:t>
            </a:r>
          </a:p>
        </p:txBody>
      </p:sp>
      <p:sp>
        <p:nvSpPr>
          <p:cNvPr id="29" name="Aliviadores de dolor"/>
          <p:cNvSpPr txBox="1"/>
          <p:nvPr/>
        </p:nvSpPr>
        <p:spPr>
          <a:xfrm>
            <a:off x="855133" y="5286628"/>
            <a:ext cx="502073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Aliviadores de dolor</a:t>
            </a:r>
          </a:p>
        </p:txBody>
      </p:sp>
      <p:sp>
        <p:nvSpPr>
          <p:cNvPr id="30" name="Perfiles verificados y sistema de re"/>
          <p:cNvSpPr txBox="1"/>
          <p:nvPr/>
        </p:nvSpPr>
        <p:spPr>
          <a:xfrm>
            <a:off x="855133" y="5531072"/>
            <a:ext cx="241723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Perfiles verificados y sistema de reseñas</a:t>
            </a:r>
          </a:p>
        </p:txBody>
      </p:sp>
      <p:sp>
        <p:nvSpPr>
          <p:cNvPr id="31" name="Pago protegido dentro de la platafor"/>
          <p:cNvSpPr txBox="1"/>
          <p:nvPr/>
        </p:nvSpPr>
        <p:spPr>
          <a:xfrm>
            <a:off x="3458633" y="553107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 protegido dentro de la plataforma y respaldo del servicio</a:t>
            </a:r>
          </a:p>
        </p:txBody>
      </p:sp>
      <p:sp>
        <p:nvSpPr>
          <p:cNvPr id="32" name="Matching rápido según zona y disponi"/>
          <p:cNvSpPr txBox="1"/>
          <p:nvPr/>
        </p:nvSpPr>
        <p:spPr>
          <a:xfrm>
            <a:off x="855133" y="5903606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Matching rápido según zona y disponibilidad</a:t>
            </a:r>
          </a:p>
        </p:txBody>
      </p:sp>
      <p:sp>
        <p:nvSpPr>
          <p:cNvPr id="33" name="Atención al cliente para resolver in"/>
          <p:cNvSpPr txBox="1"/>
          <p:nvPr/>
        </p:nvSpPr>
        <p:spPr>
          <a:xfrm>
            <a:off x="3458633" y="5903606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Atención al cliente para resolver inconvenientes</a:t>
            </a:r>
          </a:p>
        </p:txBody>
      </p:sp>
      <p:sp>
        <p:nvSpPr>
          <p:cNvPr id="34" name="LO QUE VIVE EL CLIENTE"/>
          <p:cNvSpPr txBox="1"/>
          <p:nvPr/>
        </p:nvSpPr>
        <p:spPr>
          <a:xfrm>
            <a:off x="6341533" y="1738397"/>
            <a:ext cx="50122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LO QUE VIVE EL CLIENTE</a:t>
            </a:r>
          </a:p>
        </p:txBody>
      </p:sp>
      <p:sp>
        <p:nvSpPr>
          <p:cNvPr id="35" name="Tareas"/>
          <p:cNvSpPr txBox="1"/>
          <p:nvPr/>
        </p:nvSpPr>
        <p:spPr>
          <a:xfrm>
            <a:off x="6341533" y="1995609"/>
            <a:ext cx="2413000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Tareas</a:t>
            </a:r>
          </a:p>
        </p:txBody>
      </p:sp>
      <p:sp>
        <p:nvSpPr>
          <p:cNvPr id="36" name="Resolver reparaciones y servicios de"/>
          <p:cNvSpPr txBox="1"/>
          <p:nvPr/>
        </p:nvSpPr>
        <p:spPr>
          <a:xfrm>
            <a:off x="6341533" y="224005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Resolver reparaciones y servicios de forma rápida y confiable</a:t>
            </a:r>
          </a:p>
        </p:txBody>
      </p:sp>
      <p:sp>
        <p:nvSpPr>
          <p:cNvPr id="37" name="Coordinar varios oficios al mismo ti"/>
          <p:cNvSpPr txBox="1"/>
          <p:nvPr/>
        </p:nvSpPr>
        <p:spPr>
          <a:xfrm>
            <a:off x="6341533" y="2604119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Coordinar varios oficios al mismo tiempo</a:t>
            </a:r>
          </a:p>
        </p:txBody>
      </p:sp>
      <p:sp>
        <p:nvSpPr>
          <p:cNvPr id="38" name="Asegurar mantenimiento con precios c"/>
          <p:cNvSpPr txBox="1"/>
          <p:nvPr/>
        </p:nvSpPr>
        <p:spPr>
          <a:xfrm>
            <a:off x="6341533" y="2820019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Asegurar mantenimiento con precios claros</a:t>
            </a:r>
          </a:p>
        </p:txBody>
      </p:sp>
      <p:sp>
        <p:nvSpPr>
          <p:cNvPr id="39" name="Beneficios esperados"/>
          <p:cNvSpPr txBox="1"/>
          <p:nvPr/>
        </p:nvSpPr>
        <p:spPr>
          <a:xfrm>
            <a:off x="8940800" y="1995609"/>
            <a:ext cx="2413000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Beneficios esperados</a:t>
            </a:r>
          </a:p>
        </p:txBody>
      </p:sp>
      <p:sp>
        <p:nvSpPr>
          <p:cNvPr id="40" name="Acceso a técnicos calificados de for"/>
          <p:cNvSpPr txBox="1"/>
          <p:nvPr/>
        </p:nvSpPr>
        <p:spPr>
          <a:xfrm>
            <a:off x="8940800" y="224005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Acceso a técnicos calificados de forma rápida y segura</a:t>
            </a:r>
          </a:p>
        </p:txBody>
      </p:sp>
      <p:sp>
        <p:nvSpPr>
          <p:cNvPr id="41" name="Confianza y seguridad en quien contr"/>
          <p:cNvSpPr txBox="1"/>
          <p:nvPr/>
        </p:nvSpPr>
        <p:spPr>
          <a:xfrm>
            <a:off x="8940800" y="2604119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Confianza y seguridad en quien contratan</a:t>
            </a:r>
          </a:p>
        </p:txBody>
      </p:sp>
      <p:sp>
        <p:nvSpPr>
          <p:cNvPr id="42" name="Conveniencia de resolver todo en un "/>
          <p:cNvSpPr txBox="1"/>
          <p:nvPr/>
        </p:nvSpPr>
        <p:spPr>
          <a:xfrm>
            <a:off x="8940800" y="2820019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Conveniencia de resolver todo en un mismo lugar</a:t>
            </a:r>
          </a:p>
        </p:txBody>
      </p:sp>
      <p:sp>
        <p:nvSpPr>
          <p:cNvPr id="43" name="Frustraciones"/>
          <p:cNvSpPr txBox="1"/>
          <p:nvPr/>
        </p:nvSpPr>
        <p:spPr>
          <a:xfrm>
            <a:off x="6341533" y="5286628"/>
            <a:ext cx="5012267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Frustraciones</a:t>
            </a:r>
          </a:p>
        </p:txBody>
      </p:sp>
      <p:sp>
        <p:nvSpPr>
          <p:cNvPr id="44" name="Informalidad y falta de respaldo"/>
          <p:cNvSpPr txBox="1"/>
          <p:nvPr/>
        </p:nvSpPr>
        <p:spPr>
          <a:xfrm>
            <a:off x="6341533" y="5531072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Informalidad y falta de respaldo</a:t>
            </a:r>
          </a:p>
        </p:txBody>
      </p:sp>
      <p:sp>
        <p:nvSpPr>
          <p:cNvPr id="45" name="Dificultad para encontrar trabajador"/>
          <p:cNvSpPr txBox="1"/>
          <p:nvPr/>
        </p:nvSpPr>
        <p:spPr>
          <a:xfrm>
            <a:off x="8940800" y="5531072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 para encontrar trabajadores calificados</a:t>
            </a:r>
          </a:p>
        </p:txBody>
      </p:sp>
      <p:sp>
        <p:nvSpPr>
          <p:cNvPr id="46" name="Desconfianza: calidad, fraudes, que "/>
          <p:cNvSpPr txBox="1"/>
          <p:nvPr/>
        </p:nvSpPr>
        <p:spPr>
          <a:xfrm>
            <a:off x="6341533" y="5755439"/>
            <a:ext cx="2396067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Desconfianza: calidad, fraudes, que el trabajador no venga</a:t>
            </a:r>
          </a:p>
        </p:txBody>
      </p:sp>
      <p:sp>
        <p:nvSpPr>
          <p:cNvPr id="47" name="Tiempo perdido por el boca a boca"/>
          <p:cNvSpPr txBox="1"/>
          <p:nvPr/>
        </p:nvSpPr>
        <p:spPr>
          <a:xfrm>
            <a:off x="8940800" y="5755439"/>
            <a:ext cx="241300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Tiempo perdido por el boca a boca</a:t>
            </a:r>
          </a:p>
        </p:txBody>
      </p:sp>
      <p:sp>
        <p:nvSpPr>
          <p:cNvPr id="48" name="3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524000"/>
            <a:ext cx="5486400" cy="4741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24000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bottom"/>
          <p:cNvSpPr/>
          <p:nvPr/>
        </p:nvSpPr>
        <p:spPr>
          <a:xfrm>
            <a:off x="609600" y="6256867"/>
            <a:ext cx="5486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1524000"/>
            <a:ext cx="8467" cy="47413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855133" y="4971653"/>
            <a:ext cx="5003800" cy="108201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855133" y="4971653"/>
            <a:ext cx="5003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0" y="1524000"/>
            <a:ext cx="5486400" cy="4741333"/>
          </a:xfrm>
          <a:prstGeom prst="rect">
            <a:avLst/>
          </a:prstGeom>
          <a:solidFill>
            <a:srgbClr val="F4F7FD"/>
          </a:solidFill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6341533" y="5119820"/>
            <a:ext cx="4995333" cy="9338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341533" y="5119820"/>
            <a:ext cx="49953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rabajadores de oficio"/>
          <p:cNvSpPr txBox="1"/>
          <p:nvPr/>
        </p:nvSpPr>
        <p:spPr>
          <a:xfrm>
            <a:off x="609600" y="457120"/>
            <a:ext cx="3380978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Trabajadores de oficio</a:t>
            </a:r>
          </a:p>
        </p:txBody>
      </p:sp>
      <p:sp>
        <p:nvSpPr>
          <p:cNvPr id="15" name="Value Proposition Canvas"/>
          <p:cNvSpPr txBox="1"/>
          <p:nvPr/>
        </p:nvSpPr>
        <p:spPr>
          <a:xfrm>
            <a:off x="609600" y="844871"/>
            <a:ext cx="3380978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Value Proposition Canvas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8" name="LO QUE OFRECE OFIX"/>
          <p:cNvSpPr txBox="1"/>
          <p:nvPr/>
        </p:nvSpPr>
        <p:spPr>
          <a:xfrm>
            <a:off x="855133" y="1738397"/>
            <a:ext cx="5020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LO QUE OFRECE OFIX</a:t>
            </a:r>
          </a:p>
        </p:txBody>
      </p:sp>
      <p:sp>
        <p:nvSpPr>
          <p:cNvPr id="19" name="Productos y servicios"/>
          <p:cNvSpPr txBox="1"/>
          <p:nvPr/>
        </p:nvSpPr>
        <p:spPr>
          <a:xfrm>
            <a:off x="855133" y="1995609"/>
            <a:ext cx="241723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Productos y servicios</a:t>
            </a:r>
          </a:p>
        </p:txBody>
      </p:sp>
      <p:sp>
        <p:nvSpPr>
          <p:cNvPr id="20" name="WebApp que conecta hogares y pymes g"/>
          <p:cNvSpPr txBox="1"/>
          <p:nvPr/>
        </p:nvSpPr>
        <p:spPr>
          <a:xfrm>
            <a:off x="855133" y="224005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WebApp que conecta hogares y pymes gastronómicas con trabajadores verificados</a:t>
            </a:r>
          </a:p>
        </p:txBody>
      </p:sp>
      <p:sp>
        <p:nvSpPr>
          <p:cNvPr id="21" name="Perfil profesional con reseñas y rep"/>
          <p:cNvSpPr txBox="1"/>
          <p:nvPr/>
        </p:nvSpPr>
        <p:spPr>
          <a:xfrm>
            <a:off x="855133" y="2604119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Perfil profesional con reseñas y reputación</a:t>
            </a:r>
          </a:p>
        </p:txBody>
      </p:sp>
      <p:sp>
        <p:nvSpPr>
          <p:cNvPr id="22" name="Sistema de pagos digitales y factura"/>
          <p:cNvSpPr txBox="1"/>
          <p:nvPr/>
        </p:nvSpPr>
        <p:spPr>
          <a:xfrm>
            <a:off x="855133" y="2820019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Sistema de pagos digitales y facturación</a:t>
            </a:r>
          </a:p>
        </p:txBody>
      </p:sp>
      <p:sp>
        <p:nvSpPr>
          <p:cNvPr id="23" name="Geolocalización"/>
          <p:cNvSpPr txBox="1"/>
          <p:nvPr/>
        </p:nvSpPr>
        <p:spPr>
          <a:xfrm>
            <a:off x="855133" y="3035919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Geolocalización</a:t>
            </a:r>
          </a:p>
        </p:txBody>
      </p:sp>
      <p:sp>
        <p:nvSpPr>
          <p:cNvPr id="24" name="Creadores de valor"/>
          <p:cNvSpPr txBox="1"/>
          <p:nvPr/>
        </p:nvSpPr>
        <p:spPr>
          <a:xfrm>
            <a:off x="3458633" y="1995609"/>
            <a:ext cx="241723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Creadores de valor</a:t>
            </a:r>
          </a:p>
        </p:txBody>
      </p:sp>
      <p:sp>
        <p:nvSpPr>
          <p:cNvPr id="25" name="Estabilidad de ingresos con mayor fl"/>
          <p:cNvSpPr txBox="1"/>
          <p:nvPr/>
        </p:nvSpPr>
        <p:spPr>
          <a:xfrm>
            <a:off x="3458633" y="2240052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Estabilidad de ingresos con mayor flujo de trabajo</a:t>
            </a:r>
          </a:p>
        </p:txBody>
      </p:sp>
      <p:sp>
        <p:nvSpPr>
          <p:cNvPr id="26" name="Reputación profesional validada por "/>
          <p:cNvSpPr txBox="1"/>
          <p:nvPr/>
        </p:nvSpPr>
        <p:spPr>
          <a:xfrm>
            <a:off x="3458633" y="2455952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Reputación profesional validada por clientes</a:t>
            </a:r>
          </a:p>
        </p:txBody>
      </p:sp>
      <p:sp>
        <p:nvSpPr>
          <p:cNvPr id="27" name="Posibilidad de crecer y formalizar s"/>
          <p:cNvSpPr txBox="1"/>
          <p:nvPr/>
        </p:nvSpPr>
        <p:spPr>
          <a:xfrm>
            <a:off x="3458633" y="2671852"/>
            <a:ext cx="2417233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Posibilidad de crecer y formalizar su actividad</a:t>
            </a:r>
          </a:p>
        </p:txBody>
      </p:sp>
      <p:sp>
        <p:nvSpPr>
          <p:cNvPr id="28" name="Base de clientes amplia con más opor"/>
          <p:cNvSpPr txBox="1"/>
          <p:nvPr/>
        </p:nvSpPr>
        <p:spPr>
          <a:xfrm>
            <a:off x="3458633" y="2887752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Base de clientes amplia con más oportunidades de negocio</a:t>
            </a:r>
          </a:p>
        </p:txBody>
      </p:sp>
      <p:sp>
        <p:nvSpPr>
          <p:cNvPr id="29" name="Aliviadores de dolor"/>
          <p:cNvSpPr txBox="1"/>
          <p:nvPr/>
        </p:nvSpPr>
        <p:spPr>
          <a:xfrm>
            <a:off x="855133" y="5138462"/>
            <a:ext cx="5020733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Aliviadores de dolor</a:t>
            </a:r>
          </a:p>
        </p:txBody>
      </p:sp>
      <p:sp>
        <p:nvSpPr>
          <p:cNvPr id="30" name="Clientes más recurrentes y conexión "/>
          <p:cNvSpPr txBox="1"/>
          <p:nvPr/>
        </p:nvSpPr>
        <p:spPr>
          <a:xfrm>
            <a:off x="855133" y="5382906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Clientes más recurrentes y conexión prioritaria a la zona elegida</a:t>
            </a:r>
          </a:p>
        </p:txBody>
      </p:sp>
      <p:sp>
        <p:nvSpPr>
          <p:cNvPr id="31" name="Cobros gestionados dentro de la plat"/>
          <p:cNvSpPr txBox="1"/>
          <p:nvPr/>
        </p:nvSpPr>
        <p:spPr>
          <a:xfrm>
            <a:off x="3458633" y="5382906"/>
            <a:ext cx="241723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Cobros gestionados dentro de la plataforma</a:t>
            </a:r>
          </a:p>
        </p:txBody>
      </p:sp>
      <p:sp>
        <p:nvSpPr>
          <p:cNvPr id="32" name="Mayor visibilidad gracias al buscado"/>
          <p:cNvSpPr txBox="1"/>
          <p:nvPr/>
        </p:nvSpPr>
        <p:spPr>
          <a:xfrm>
            <a:off x="855133" y="5755439"/>
            <a:ext cx="2400300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Mayor visibilidad gracias al buscador y la reputación online</a:t>
            </a:r>
          </a:p>
        </p:txBody>
      </p:sp>
      <p:sp>
        <p:nvSpPr>
          <p:cNvPr id="33" name="Sistema de agenda para organizarse"/>
          <p:cNvSpPr txBox="1"/>
          <p:nvPr/>
        </p:nvSpPr>
        <p:spPr>
          <a:xfrm>
            <a:off x="3458633" y="5755439"/>
            <a:ext cx="2417233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Sistema de agenda para organizarse</a:t>
            </a:r>
          </a:p>
        </p:txBody>
      </p:sp>
      <p:sp>
        <p:nvSpPr>
          <p:cNvPr id="34" name="LO QUE VIVE EL TRABAJADOR"/>
          <p:cNvSpPr txBox="1"/>
          <p:nvPr/>
        </p:nvSpPr>
        <p:spPr>
          <a:xfrm>
            <a:off x="6341533" y="1738397"/>
            <a:ext cx="50122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LO QUE VIVE EL TRABAJADOR</a:t>
            </a:r>
          </a:p>
        </p:txBody>
      </p:sp>
      <p:sp>
        <p:nvSpPr>
          <p:cNvPr id="35" name="Tareas"/>
          <p:cNvSpPr txBox="1"/>
          <p:nvPr/>
        </p:nvSpPr>
        <p:spPr>
          <a:xfrm>
            <a:off x="6341533" y="1995609"/>
            <a:ext cx="2413000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Tareas</a:t>
            </a:r>
          </a:p>
        </p:txBody>
      </p:sp>
      <p:sp>
        <p:nvSpPr>
          <p:cNvPr id="36" name="Conseguir clientes estables sin depe"/>
          <p:cNvSpPr txBox="1"/>
          <p:nvPr/>
        </p:nvSpPr>
        <p:spPr>
          <a:xfrm>
            <a:off x="6341533" y="224005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Conseguir clientes estables sin depender del boca a boca</a:t>
            </a:r>
          </a:p>
        </p:txBody>
      </p:sp>
      <p:sp>
        <p:nvSpPr>
          <p:cNvPr id="37" name="Cobrar en efectivo o transferencias "/>
          <p:cNvSpPr txBox="1"/>
          <p:nvPr/>
        </p:nvSpPr>
        <p:spPr>
          <a:xfrm>
            <a:off x="6341533" y="2604119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Cobrar en efectivo o transferencias sin garantía</a:t>
            </a:r>
          </a:p>
        </p:txBody>
      </p:sp>
      <p:sp>
        <p:nvSpPr>
          <p:cNvPr id="38" name="Mantener una red de contactos para n"/>
          <p:cNvSpPr txBox="1"/>
          <p:nvPr/>
        </p:nvSpPr>
        <p:spPr>
          <a:xfrm>
            <a:off x="6341533" y="2820019"/>
            <a:ext cx="2396067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Mantener una red de contactos para no quedarse sin trabajo</a:t>
            </a:r>
          </a:p>
        </p:txBody>
      </p:sp>
      <p:sp>
        <p:nvSpPr>
          <p:cNvPr id="39" name="Conseguir transporte al lugar de tra"/>
          <p:cNvSpPr txBox="1"/>
          <p:nvPr/>
        </p:nvSpPr>
        <p:spPr>
          <a:xfrm>
            <a:off x="6341533" y="3184086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Conseguir transporte al lugar de trabajo</a:t>
            </a:r>
          </a:p>
        </p:txBody>
      </p:sp>
      <p:sp>
        <p:nvSpPr>
          <p:cNvPr id="40" name="Beneficios esperados"/>
          <p:cNvSpPr txBox="1"/>
          <p:nvPr/>
        </p:nvSpPr>
        <p:spPr>
          <a:xfrm>
            <a:off x="8940800" y="1995609"/>
            <a:ext cx="2413000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Beneficios esperados</a:t>
            </a:r>
          </a:p>
        </p:txBody>
      </p:sp>
      <p:sp>
        <p:nvSpPr>
          <p:cNvPr id="41" name="Libertad para manejar su tiempo y el"/>
          <p:cNvSpPr txBox="1"/>
          <p:nvPr/>
        </p:nvSpPr>
        <p:spPr>
          <a:xfrm>
            <a:off x="8940800" y="2240052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Libertad para manejar su tiempo y elegir trabajos</a:t>
            </a:r>
          </a:p>
        </p:txBody>
      </p:sp>
      <p:sp>
        <p:nvSpPr>
          <p:cNvPr id="42" name="Flexibilidad para negociar precios d"/>
          <p:cNvSpPr txBox="1"/>
          <p:nvPr/>
        </p:nvSpPr>
        <p:spPr>
          <a:xfrm>
            <a:off x="8940800" y="245595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Flexibilidad para negociar precios directamente con clientes</a:t>
            </a:r>
          </a:p>
        </p:txBody>
      </p:sp>
      <p:sp>
        <p:nvSpPr>
          <p:cNvPr id="43" name="Ingresos inmediatos en efectivo al f"/>
          <p:cNvSpPr txBox="1"/>
          <p:nvPr/>
        </p:nvSpPr>
        <p:spPr>
          <a:xfrm>
            <a:off x="8940800" y="2820019"/>
            <a:ext cx="2396067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inmediatos en efectivo al finalizar un trabajo</a:t>
            </a:r>
          </a:p>
        </p:txBody>
      </p:sp>
      <p:sp>
        <p:nvSpPr>
          <p:cNvPr id="44" name="Frustraciones"/>
          <p:cNvSpPr txBox="1"/>
          <p:nvPr/>
        </p:nvSpPr>
        <p:spPr>
          <a:xfrm>
            <a:off x="6341533" y="5286628"/>
            <a:ext cx="5012267" cy="16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 spc="-11">
                <a:solidFill>
                  <a:srgbClr val="B5561B"/>
                </a:solidFill>
                <a:latin typeface="Archivo Bold"/>
                <a:cs typeface="Archivo Bold"/>
                <a:ea typeface="Archivo Bold"/>
              </a:rPr>
              <a:t>Frustraciones</a:t>
            </a:r>
          </a:p>
        </p:txBody>
      </p:sp>
      <p:sp>
        <p:nvSpPr>
          <p:cNvPr id="45" name="Depender del boca a boca para que lo"/>
          <p:cNvSpPr txBox="1"/>
          <p:nvPr/>
        </p:nvSpPr>
        <p:spPr>
          <a:xfrm>
            <a:off x="6341533" y="5531072"/>
            <a:ext cx="2413000" cy="31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Depender del boca a boca para que lo llamen</a:t>
            </a:r>
          </a:p>
        </p:txBody>
      </p:sp>
      <p:sp>
        <p:nvSpPr>
          <p:cNvPr id="46" name="Generar confianza en clientes recurr"/>
          <p:cNvSpPr txBox="1"/>
          <p:nvPr/>
        </p:nvSpPr>
        <p:spPr>
          <a:xfrm>
            <a:off x="8940800" y="5531072"/>
            <a:ext cx="2396067" cy="3198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Generar confianza en clientes recurrentes por cercanía o recomendación</a:t>
            </a:r>
          </a:p>
        </p:txBody>
      </p:sp>
      <p:sp>
        <p:nvSpPr>
          <p:cNvPr id="47" name="Ingresos inestables entre trabajos"/>
          <p:cNvSpPr txBox="1"/>
          <p:nvPr/>
        </p:nvSpPr>
        <p:spPr>
          <a:xfrm>
            <a:off x="6341533" y="5903606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inestables entre trabajos</a:t>
            </a:r>
          </a:p>
        </p:txBody>
      </p:sp>
      <p:sp>
        <p:nvSpPr>
          <p:cNvPr id="48" name="Cobros demorados o inseguros"/>
          <p:cNvSpPr txBox="1"/>
          <p:nvPr/>
        </p:nvSpPr>
        <p:spPr>
          <a:xfrm>
            <a:off x="8940800" y="5903606"/>
            <a:ext cx="2413000" cy="1716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Cobros demorados o inseguros</a:t>
            </a:r>
          </a:p>
        </p:txBody>
      </p:sp>
      <p:sp>
        <p:nvSpPr>
          <p:cNvPr id="49" name="3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01119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931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3075252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3405452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549385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609600" y="3879585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4023519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09600" y="43537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4988719"/>
            <a:ext cx="10972800" cy="588830"/>
          </a:xfrm>
          <a:prstGeom prst="roundRect">
            <a:avLst>
              <a:gd name="adj" fmla="val 575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Hogares y Pymes"/>
          <p:cNvSpPr txBox="1"/>
          <p:nvPr/>
        </p:nvSpPr>
        <p:spPr>
          <a:xfrm>
            <a:off x="609600" y="457120"/>
            <a:ext cx="3459692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Hogares y Pymes</a:t>
            </a:r>
          </a:p>
        </p:txBody>
      </p:sp>
      <p:sp>
        <p:nvSpPr>
          <p:cNvPr id="15" name="contratar servicios de oficio de for"/>
          <p:cNvSpPr txBox="1"/>
          <p:nvPr/>
        </p:nvSpPr>
        <p:spPr>
          <a:xfrm>
            <a:off x="609600" y="844871"/>
            <a:ext cx="3459692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contratar servicios de oficio de forma rápida y confiable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8" name="REDACCIÓN DE LA PROPUESTA DE VALOR"/>
          <p:cNvSpPr txBox="1"/>
          <p:nvPr/>
        </p:nvSpPr>
        <p:spPr>
          <a:xfrm>
            <a:off x="609600" y="2299049"/>
            <a:ext cx="10989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REDACCIÓN DE LA PROPUESTA DE VALOR</a:t>
            </a:r>
          </a:p>
        </p:txBody>
      </p:sp>
      <p:sp>
        <p:nvSpPr>
          <p:cNvPr id="19" name="Nuestro(a)"/>
          <p:cNvSpPr txBox="1"/>
          <p:nvPr/>
        </p:nvSpPr>
        <p:spPr>
          <a:xfrm>
            <a:off x="609600" y="2588442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Nuestro(a)</a:t>
            </a:r>
          </a:p>
        </p:txBody>
      </p:sp>
      <p:sp>
        <p:nvSpPr>
          <p:cNvPr id="20" name="plataforma digital OFIX"/>
          <p:cNvSpPr txBox="1"/>
          <p:nvPr/>
        </p:nvSpPr>
        <p:spPr>
          <a:xfrm>
            <a:off x="2065867" y="2579371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plataforma digital OFIX</a:t>
            </a:r>
          </a:p>
        </p:txBody>
      </p:sp>
      <p:sp>
        <p:nvSpPr>
          <p:cNvPr id="21" name="ayuda a"/>
          <p:cNvSpPr txBox="1"/>
          <p:nvPr/>
        </p:nvSpPr>
        <p:spPr>
          <a:xfrm>
            <a:off x="609600" y="3062575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ayuda a</a:t>
            </a:r>
          </a:p>
        </p:txBody>
      </p:sp>
      <p:sp>
        <p:nvSpPr>
          <p:cNvPr id="22" name="hogares y pymes gastronómicas"/>
          <p:cNvSpPr txBox="1"/>
          <p:nvPr/>
        </p:nvSpPr>
        <p:spPr>
          <a:xfrm>
            <a:off x="2065867" y="3053505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hogares y pymes gastronómicas</a:t>
            </a:r>
          </a:p>
        </p:txBody>
      </p:sp>
      <p:sp>
        <p:nvSpPr>
          <p:cNvPr id="23" name="que quieren"/>
          <p:cNvSpPr txBox="1"/>
          <p:nvPr/>
        </p:nvSpPr>
        <p:spPr>
          <a:xfrm>
            <a:off x="609600" y="3536708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que quieren</a:t>
            </a:r>
          </a:p>
        </p:txBody>
      </p:sp>
      <p:sp>
        <p:nvSpPr>
          <p:cNvPr id="24" name="contratar servicios de oficio de for"/>
          <p:cNvSpPr txBox="1"/>
          <p:nvPr/>
        </p:nvSpPr>
        <p:spPr>
          <a:xfrm>
            <a:off x="2065867" y="3527638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contratar servicios de oficio de forma rápida y confiable</a:t>
            </a:r>
          </a:p>
        </p:txBody>
      </p:sp>
      <p:sp>
        <p:nvSpPr>
          <p:cNvPr id="25" name="para"/>
          <p:cNvSpPr txBox="1"/>
          <p:nvPr/>
        </p:nvSpPr>
        <p:spPr>
          <a:xfrm>
            <a:off x="609600" y="4010842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para</a:t>
            </a:r>
          </a:p>
        </p:txBody>
      </p:sp>
      <p:sp>
        <p:nvSpPr>
          <p:cNvPr id="26" name="evitar pagos inseguros y pérdida de "/>
          <p:cNvSpPr txBox="1"/>
          <p:nvPr/>
        </p:nvSpPr>
        <p:spPr>
          <a:xfrm>
            <a:off x="2065867" y="4001771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evitar pagos inseguros y pérdida de tiempo</a:t>
            </a:r>
          </a:p>
        </p:txBody>
      </p:sp>
      <p:sp>
        <p:nvSpPr>
          <p:cNvPr id="27" name="y"/>
          <p:cNvSpPr txBox="1"/>
          <p:nvPr/>
        </p:nvSpPr>
        <p:spPr>
          <a:xfrm>
            <a:off x="609600" y="4484975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y</a:t>
            </a:r>
          </a:p>
        </p:txBody>
      </p:sp>
      <p:sp>
        <p:nvSpPr>
          <p:cNvPr id="28" name="incrementar la transparencia y segur"/>
          <p:cNvSpPr txBox="1"/>
          <p:nvPr/>
        </p:nvSpPr>
        <p:spPr>
          <a:xfrm>
            <a:off x="2065867" y="4475905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incrementar la transparencia y seguridad del servicio</a:t>
            </a:r>
          </a:p>
        </p:txBody>
      </p:sp>
      <p:sp>
        <p:nvSpPr>
          <p:cNvPr id="29" name="A diferencia de"/>
          <p:cNvSpPr txBox="1"/>
          <p:nvPr/>
        </p:nvSpPr>
        <p:spPr>
          <a:xfrm>
            <a:off x="846667" y="5171982"/>
            <a:ext cx="1286933" cy="2062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25">
                <a:solidFill>
                  <a:srgbClr val="D97A38"/>
                </a:solidFill>
                <a:latin typeface="Archivo ExtraBold"/>
                <a:cs typeface="Archivo ExtraBold"/>
                <a:ea typeface="Archivo ExtraBold"/>
              </a:rPr>
              <a:t>A diferencia de</a:t>
            </a:r>
          </a:p>
        </p:txBody>
      </p:sp>
      <p:sp>
        <p:nvSpPr>
          <p:cNvPr id="30" name="las contrataciones informales, ofrec"/>
          <p:cNvSpPr txBox="1"/>
          <p:nvPr/>
        </p:nvSpPr>
        <p:spPr>
          <a:xfrm>
            <a:off x="2302933" y="5174459"/>
            <a:ext cx="9059333" cy="241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las contrataciones informales, ofrecemos técnicos verificados, pagos digitales y respaldo en cada trabajo.</a:t>
            </a:r>
          </a:p>
        </p:txBody>
      </p:sp>
      <p:sp>
        <p:nvSpPr>
          <p:cNvPr id="31" name="3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493036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82323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967170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3297370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441303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609600" y="377150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915436"/>
            <a:ext cx="10972800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09600" y="424563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4880636"/>
            <a:ext cx="10972800" cy="805127"/>
          </a:xfrm>
          <a:prstGeom prst="roundRect">
            <a:avLst>
              <a:gd name="adj" fmla="val 4206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rabajadores de oficio"/>
          <p:cNvSpPr txBox="1"/>
          <p:nvPr/>
        </p:nvSpPr>
        <p:spPr>
          <a:xfrm>
            <a:off x="609600" y="457120"/>
            <a:ext cx="3380978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Trabajadores de oficio</a:t>
            </a:r>
          </a:p>
        </p:txBody>
      </p:sp>
      <p:sp>
        <p:nvSpPr>
          <p:cNvPr id="15" name="conseguir más clientes y formalizar "/>
          <p:cNvSpPr txBox="1"/>
          <p:nvPr/>
        </p:nvSpPr>
        <p:spPr>
          <a:xfrm>
            <a:off x="609600" y="844871"/>
            <a:ext cx="3380978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conseguir más clientes y formalizar su actividad</a:t>
            </a:r>
          </a:p>
        </p:txBody>
      </p:sp>
      <p:sp>
        <p:nvSpPr>
          <p:cNvPr id="1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8" name="REDACCIÓN DE LA PROPUESTA DE VALOR"/>
          <p:cNvSpPr txBox="1"/>
          <p:nvPr/>
        </p:nvSpPr>
        <p:spPr>
          <a:xfrm>
            <a:off x="609600" y="2190967"/>
            <a:ext cx="109897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REDACCIÓN DE LA PROPUESTA DE VALOR</a:t>
            </a:r>
          </a:p>
        </p:txBody>
      </p:sp>
      <p:sp>
        <p:nvSpPr>
          <p:cNvPr id="19" name="Nuestro(a)"/>
          <p:cNvSpPr txBox="1"/>
          <p:nvPr/>
        </p:nvSpPr>
        <p:spPr>
          <a:xfrm>
            <a:off x="609600" y="2480359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Nuestro(a)</a:t>
            </a:r>
          </a:p>
        </p:txBody>
      </p:sp>
      <p:sp>
        <p:nvSpPr>
          <p:cNvPr id="20" name="plataforma digital OFIX"/>
          <p:cNvSpPr txBox="1"/>
          <p:nvPr/>
        </p:nvSpPr>
        <p:spPr>
          <a:xfrm>
            <a:off x="2065867" y="2471289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plataforma digital OFIX</a:t>
            </a:r>
          </a:p>
        </p:txBody>
      </p:sp>
      <p:sp>
        <p:nvSpPr>
          <p:cNvPr id="21" name="ayuda a"/>
          <p:cNvSpPr txBox="1"/>
          <p:nvPr/>
        </p:nvSpPr>
        <p:spPr>
          <a:xfrm>
            <a:off x="609600" y="2954493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ayuda a</a:t>
            </a:r>
          </a:p>
        </p:txBody>
      </p:sp>
      <p:sp>
        <p:nvSpPr>
          <p:cNvPr id="22" name="trabajadores de oficios independient"/>
          <p:cNvSpPr txBox="1"/>
          <p:nvPr/>
        </p:nvSpPr>
        <p:spPr>
          <a:xfrm>
            <a:off x="2065867" y="2945422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trabajadores de oficios independientes</a:t>
            </a:r>
          </a:p>
        </p:txBody>
      </p:sp>
      <p:sp>
        <p:nvSpPr>
          <p:cNvPr id="23" name="que quieren"/>
          <p:cNvSpPr txBox="1"/>
          <p:nvPr/>
        </p:nvSpPr>
        <p:spPr>
          <a:xfrm>
            <a:off x="609600" y="3428626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que quieren</a:t>
            </a:r>
          </a:p>
        </p:txBody>
      </p:sp>
      <p:sp>
        <p:nvSpPr>
          <p:cNvPr id="24" name="conseguir más clientes y formalizar "/>
          <p:cNvSpPr txBox="1"/>
          <p:nvPr/>
        </p:nvSpPr>
        <p:spPr>
          <a:xfrm>
            <a:off x="2065867" y="3419556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conseguir más clientes y formalizar su actividad</a:t>
            </a:r>
          </a:p>
        </p:txBody>
      </p:sp>
      <p:sp>
        <p:nvSpPr>
          <p:cNvPr id="25" name="para"/>
          <p:cNvSpPr txBox="1"/>
          <p:nvPr/>
        </p:nvSpPr>
        <p:spPr>
          <a:xfrm>
            <a:off x="609600" y="3902759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para</a:t>
            </a:r>
          </a:p>
        </p:txBody>
      </p:sp>
      <p:sp>
        <p:nvSpPr>
          <p:cNvPr id="26" name="reducir ingresos inestables y evitar"/>
          <p:cNvSpPr txBox="1"/>
          <p:nvPr/>
        </p:nvSpPr>
        <p:spPr>
          <a:xfrm>
            <a:off x="2065867" y="3893689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reducir ingresos inestables y evitar impagos</a:t>
            </a:r>
          </a:p>
        </p:txBody>
      </p:sp>
      <p:sp>
        <p:nvSpPr>
          <p:cNvPr id="27" name="y"/>
          <p:cNvSpPr txBox="1"/>
          <p:nvPr/>
        </p:nvSpPr>
        <p:spPr>
          <a:xfrm>
            <a:off x="609600" y="4376893"/>
            <a:ext cx="1286933" cy="2158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8">
                <a:solidFill>
                  <a:srgbClr val="7A879C"/>
                </a:solidFill>
                <a:latin typeface="Archivo ExtraBold"/>
                <a:cs typeface="Archivo ExtraBold"/>
                <a:ea typeface="Archivo ExtraBold"/>
              </a:rPr>
              <a:t>y</a:t>
            </a:r>
          </a:p>
        </p:txBody>
      </p:sp>
      <p:sp>
        <p:nvSpPr>
          <p:cNvPr id="28" name="incrementar su visibilidad y acceso "/>
          <p:cNvSpPr txBox="1"/>
          <p:nvPr/>
        </p:nvSpPr>
        <p:spPr>
          <a:xfrm>
            <a:off x="2065867" y="4367822"/>
            <a:ext cx="9533467" cy="2334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70" spc="-22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incrementar su visibilidad y acceso a pagos seguros</a:t>
            </a:r>
          </a:p>
        </p:txBody>
      </p:sp>
      <p:sp>
        <p:nvSpPr>
          <p:cNvPr id="29" name="A diferencia de"/>
          <p:cNvSpPr txBox="1"/>
          <p:nvPr/>
        </p:nvSpPr>
        <p:spPr>
          <a:xfrm>
            <a:off x="846667" y="5063900"/>
            <a:ext cx="1286933" cy="20620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25">
                <a:solidFill>
                  <a:srgbClr val="D97A38"/>
                </a:solidFill>
                <a:latin typeface="Archivo ExtraBold"/>
                <a:cs typeface="Archivo ExtraBold"/>
                <a:ea typeface="Archivo ExtraBold"/>
              </a:rPr>
              <a:t>A diferencia de</a:t>
            </a:r>
          </a:p>
        </p:txBody>
      </p:sp>
      <p:sp>
        <p:nvSpPr>
          <p:cNvPr id="30" name="los clasificados o redes sociales, d"/>
          <p:cNvSpPr txBox="1"/>
          <p:nvPr/>
        </p:nvSpPr>
        <p:spPr>
          <a:xfrm>
            <a:off x="2302933" y="5066376"/>
            <a:ext cx="9042400" cy="45746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los clasificados o redes sociales, damos respaldo real con reputación validada, pagos gestionados dentro de la plataforma y soporte para su profesionalización.</a:t>
            </a:r>
          </a:p>
        </p:txBody>
      </p:sp>
      <p:sp>
        <p:nvSpPr>
          <p:cNvPr id="31" name="3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2616200" cy="3351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2616200" cy="25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inea"/>
          <p:cNvSpPr/>
          <p:nvPr/>
        </p:nvSpPr>
        <p:spPr>
          <a:xfrm>
            <a:off x="609600" y="2048933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inea"/>
          <p:cNvSpPr/>
          <p:nvPr/>
        </p:nvSpPr>
        <p:spPr>
          <a:xfrm>
            <a:off x="609600" y="2446073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linea"/>
          <p:cNvSpPr/>
          <p:nvPr/>
        </p:nvSpPr>
        <p:spPr>
          <a:xfrm>
            <a:off x="609600" y="284321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inea"/>
          <p:cNvSpPr/>
          <p:nvPr/>
        </p:nvSpPr>
        <p:spPr>
          <a:xfrm>
            <a:off x="609600" y="324035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linea"/>
          <p:cNvSpPr/>
          <p:nvPr/>
        </p:nvSpPr>
        <p:spPr>
          <a:xfrm>
            <a:off x="609600" y="3637492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inea"/>
          <p:cNvSpPr/>
          <p:nvPr/>
        </p:nvSpPr>
        <p:spPr>
          <a:xfrm>
            <a:off x="609600" y="4034631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linea"/>
          <p:cNvSpPr/>
          <p:nvPr/>
        </p:nvSpPr>
        <p:spPr>
          <a:xfrm>
            <a:off x="609600" y="4431771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linea"/>
          <p:cNvSpPr/>
          <p:nvPr/>
        </p:nvSpPr>
        <p:spPr>
          <a:xfrm>
            <a:off x="609600" y="4828910"/>
            <a:ext cx="33867" cy="33867"/>
          </a:xfrm>
          <a:prstGeom prst="ellipse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3395133" y="1574800"/>
            <a:ext cx="2616200" cy="2003425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3395133" y="1574800"/>
            <a:ext cx="2616200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inea"/>
          <p:cNvSpPr/>
          <p:nvPr/>
        </p:nvSpPr>
        <p:spPr>
          <a:xfrm>
            <a:off x="3395133" y="2048933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linea"/>
          <p:cNvSpPr/>
          <p:nvPr/>
        </p:nvSpPr>
        <p:spPr>
          <a:xfrm>
            <a:off x="3395133" y="2446073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inea"/>
          <p:cNvSpPr/>
          <p:nvPr/>
        </p:nvSpPr>
        <p:spPr>
          <a:xfrm>
            <a:off x="3395133" y="2843212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inea"/>
          <p:cNvSpPr/>
          <p:nvPr/>
        </p:nvSpPr>
        <p:spPr>
          <a:xfrm>
            <a:off x="3395133" y="3084116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linea"/>
          <p:cNvSpPr/>
          <p:nvPr/>
        </p:nvSpPr>
        <p:spPr>
          <a:xfrm>
            <a:off x="3395133" y="3481255"/>
            <a:ext cx="33867" cy="33867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arco"/>
          <p:cNvSpPr/>
          <p:nvPr/>
        </p:nvSpPr>
        <p:spPr>
          <a:xfrm>
            <a:off x="6180667" y="1574800"/>
            <a:ext cx="2616200" cy="1606285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top"/>
          <p:cNvSpPr/>
          <p:nvPr/>
        </p:nvSpPr>
        <p:spPr>
          <a:xfrm>
            <a:off x="6180667" y="1574800"/>
            <a:ext cx="2616200" cy="25400"/>
          </a:xfrm>
          <a:prstGeom prst="rect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linea"/>
          <p:cNvSpPr/>
          <p:nvPr/>
        </p:nvSpPr>
        <p:spPr>
          <a:xfrm>
            <a:off x="6180667" y="2048933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linea"/>
          <p:cNvSpPr/>
          <p:nvPr/>
        </p:nvSpPr>
        <p:spPr>
          <a:xfrm>
            <a:off x="6180667" y="228983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linea"/>
          <p:cNvSpPr/>
          <p:nvPr/>
        </p:nvSpPr>
        <p:spPr>
          <a:xfrm>
            <a:off x="6180667" y="268697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linea"/>
          <p:cNvSpPr/>
          <p:nvPr/>
        </p:nvSpPr>
        <p:spPr>
          <a:xfrm>
            <a:off x="6180667" y="3084116"/>
            <a:ext cx="33867" cy="33867"/>
          </a:xfrm>
          <a:prstGeom prst="ellipse">
            <a:avLst/>
          </a:prstGeom>
          <a:solidFill>
            <a:srgbClr val="4C8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rco"/>
          <p:cNvSpPr/>
          <p:nvPr/>
        </p:nvSpPr>
        <p:spPr>
          <a:xfrm>
            <a:off x="8966200" y="1574800"/>
            <a:ext cx="2616200" cy="136538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borde top"/>
          <p:cNvSpPr/>
          <p:nvPr/>
        </p:nvSpPr>
        <p:spPr>
          <a:xfrm>
            <a:off x="8966200" y="1574800"/>
            <a:ext cx="2616200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linea"/>
          <p:cNvSpPr/>
          <p:nvPr/>
        </p:nvSpPr>
        <p:spPr>
          <a:xfrm>
            <a:off x="8966200" y="2048933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linea"/>
          <p:cNvSpPr/>
          <p:nvPr/>
        </p:nvSpPr>
        <p:spPr>
          <a:xfrm>
            <a:off x="8966200" y="2446073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linea"/>
          <p:cNvSpPr/>
          <p:nvPr/>
        </p:nvSpPr>
        <p:spPr>
          <a:xfrm>
            <a:off x="8966200" y="2843212"/>
            <a:ext cx="33867" cy="33867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oSCoW"/>
          <p:cNvSpPr txBox="1"/>
          <p:nvPr/>
        </p:nvSpPr>
        <p:spPr>
          <a:xfrm>
            <a:off x="609600" y="457120"/>
            <a:ext cx="254754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MoSCoW</a:t>
            </a:r>
          </a:p>
        </p:txBody>
      </p:sp>
      <p:sp>
        <p:nvSpPr>
          <p:cNvPr id="34" name="Priorización de funcionalidades del "/>
          <p:cNvSpPr txBox="1"/>
          <p:nvPr/>
        </p:nvSpPr>
        <p:spPr>
          <a:xfrm>
            <a:off x="609600" y="844871"/>
            <a:ext cx="2547541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Priorización de funcionalidades del MVP</a:t>
            </a:r>
          </a:p>
        </p:txBody>
      </p:sp>
      <p:sp>
        <p:nvSpPr>
          <p:cNvPr id="3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3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37" name="MUST HAVE"/>
          <p:cNvSpPr txBox="1"/>
          <p:nvPr/>
        </p:nvSpPr>
        <p:spPr>
          <a:xfrm>
            <a:off x="609600" y="1755330"/>
            <a:ext cx="26331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A2540"/>
                </a:solidFill>
                <a:latin typeface="IBM Plex Mono SemiBold"/>
                <a:cs typeface="IBM Plex Mono SemiBold"/>
                <a:ea typeface="IBM Plex Mono SemiBold"/>
              </a:rPr>
              <a:t>MUST HAVE</a:t>
            </a:r>
          </a:p>
        </p:txBody>
      </p:sp>
      <p:sp>
        <p:nvSpPr>
          <p:cNvPr id="38" name="Registro y login de usuarios (client"/>
          <p:cNvSpPr txBox="1"/>
          <p:nvPr/>
        </p:nvSpPr>
        <p:spPr>
          <a:xfrm>
            <a:off x="728133" y="1986934"/>
            <a:ext cx="1933840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Registro y login de usuarios (clientes y trabajadores)</a:t>
            </a:r>
          </a:p>
        </p:txBody>
      </p:sp>
      <p:sp>
        <p:nvSpPr>
          <p:cNvPr id="39" name="Creación y edición de perfiles con d"/>
          <p:cNvSpPr txBox="1"/>
          <p:nvPr/>
        </p:nvSpPr>
        <p:spPr>
          <a:xfrm>
            <a:off x="728133" y="2384074"/>
            <a:ext cx="2434564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Creación y edición de perfiles con datos básicos, foto, oficio y zona de trabajo</a:t>
            </a:r>
          </a:p>
        </p:txBody>
      </p:sp>
      <p:sp>
        <p:nvSpPr>
          <p:cNvPr id="40" name="Búsqueda y filtrado de trabajadores "/>
          <p:cNvSpPr txBox="1"/>
          <p:nvPr/>
        </p:nvSpPr>
        <p:spPr>
          <a:xfrm>
            <a:off x="728133" y="2781214"/>
            <a:ext cx="2378207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Búsqueda y filtrado de trabajadores por oficio y ubicación</a:t>
            </a:r>
          </a:p>
        </p:txBody>
      </p:sp>
      <p:sp>
        <p:nvSpPr>
          <p:cNvPr id="41" name="Solicitud de trabajo con descripción"/>
          <p:cNvSpPr txBox="1"/>
          <p:nvPr/>
        </p:nvSpPr>
        <p:spPr>
          <a:xfrm>
            <a:off x="728133" y="3178353"/>
            <a:ext cx="2299229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Solicitud de trabajo con descripción, horario y ubicación</a:t>
            </a:r>
          </a:p>
        </p:txBody>
      </p:sp>
      <p:sp>
        <p:nvSpPr>
          <p:cNvPr id="42" name="Sistema básico de reputación (estrel"/>
          <p:cNvSpPr txBox="1"/>
          <p:nvPr/>
        </p:nvSpPr>
        <p:spPr>
          <a:xfrm>
            <a:off x="728133" y="3575493"/>
            <a:ext cx="2069571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Sistema básico de reputación (estrellas y comentarios)</a:t>
            </a:r>
          </a:p>
        </p:txBody>
      </p:sp>
      <p:sp>
        <p:nvSpPr>
          <p:cNvPr id="43" name="Pagos digitales integrados con pasar"/>
          <p:cNvSpPr txBox="1"/>
          <p:nvPr/>
        </p:nvSpPr>
        <p:spPr>
          <a:xfrm>
            <a:off x="728133" y="3972632"/>
            <a:ext cx="2215224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Pagos digitales integrados con pasarela tipo Mercado Pago</a:t>
            </a:r>
          </a:p>
        </p:txBody>
      </p:sp>
      <p:sp>
        <p:nvSpPr>
          <p:cNvPr id="44" name="Integración con aseguradoras previst"/>
          <p:cNvSpPr txBox="1"/>
          <p:nvPr/>
        </p:nvSpPr>
        <p:spPr>
          <a:xfrm>
            <a:off x="728133" y="4369772"/>
            <a:ext cx="2188633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Integración con aseguradoras prevista para respaldo ante incidentes</a:t>
            </a:r>
          </a:p>
        </p:txBody>
      </p:sp>
      <p:sp>
        <p:nvSpPr>
          <p:cNvPr id="45" name="Onboarding inicial con guía paso a p"/>
          <p:cNvSpPr txBox="1"/>
          <p:nvPr/>
        </p:nvSpPr>
        <p:spPr>
          <a:xfrm>
            <a:off x="728133" y="4766912"/>
            <a:ext cx="1958181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Onboarding inicial con guía paso a paso</a:t>
            </a:r>
          </a:p>
        </p:txBody>
      </p:sp>
      <p:sp>
        <p:nvSpPr>
          <p:cNvPr id="46" name="SHOULD HAVE"/>
          <p:cNvSpPr txBox="1"/>
          <p:nvPr/>
        </p:nvSpPr>
        <p:spPr>
          <a:xfrm>
            <a:off x="3395133" y="1755330"/>
            <a:ext cx="26331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SHOULD HAVE</a:t>
            </a:r>
          </a:p>
        </p:txBody>
      </p:sp>
      <p:sp>
        <p:nvSpPr>
          <p:cNvPr id="47" name="Chat interno cliente–trabajador para"/>
          <p:cNvSpPr txBox="1"/>
          <p:nvPr/>
        </p:nvSpPr>
        <p:spPr>
          <a:xfrm>
            <a:off x="3513667" y="1986934"/>
            <a:ext cx="2421599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Chat interno cliente–trabajador para coordinar y confirmar detalles</a:t>
            </a:r>
          </a:p>
        </p:txBody>
      </p:sp>
      <p:sp>
        <p:nvSpPr>
          <p:cNvPr id="48" name="Agenda / calendario simple con visua"/>
          <p:cNvSpPr txBox="1"/>
          <p:nvPr/>
        </p:nvSpPr>
        <p:spPr>
          <a:xfrm>
            <a:off x="3513667" y="2384074"/>
            <a:ext cx="2407047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Agenda / calendario simple con visualización de turnos agendados</a:t>
            </a:r>
          </a:p>
        </p:txBody>
      </p:sp>
      <p:sp>
        <p:nvSpPr>
          <p:cNvPr id="49" name="Historial de trabajos realizados o p"/>
          <p:cNvSpPr txBox="1"/>
          <p:nvPr/>
        </p:nvSpPr>
        <p:spPr>
          <a:xfrm>
            <a:off x="3513667" y="2781214"/>
            <a:ext cx="2208874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Historial de trabajos realizados o pendientes</a:t>
            </a:r>
          </a:p>
        </p:txBody>
      </p:sp>
      <p:sp>
        <p:nvSpPr>
          <p:cNvPr id="50" name="Notificaciones básicas de confirmaci"/>
          <p:cNvSpPr txBox="1"/>
          <p:nvPr/>
        </p:nvSpPr>
        <p:spPr>
          <a:xfrm>
            <a:off x="3513667" y="3022117"/>
            <a:ext cx="2052241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Notificaciones básicas de confirmación y recordatorios</a:t>
            </a:r>
          </a:p>
        </p:txBody>
      </p:sp>
      <p:sp>
        <p:nvSpPr>
          <p:cNvPr id="51" name="Favoritos para guardar trabajadores "/>
          <p:cNvSpPr txBox="1"/>
          <p:nvPr/>
        </p:nvSpPr>
        <p:spPr>
          <a:xfrm>
            <a:off x="3513667" y="3419256"/>
            <a:ext cx="2307564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Favoritos para guardar trabajadores preferidos</a:t>
            </a:r>
          </a:p>
        </p:txBody>
      </p:sp>
      <p:sp>
        <p:nvSpPr>
          <p:cNvPr id="52" name="COULD HAVE"/>
          <p:cNvSpPr txBox="1"/>
          <p:nvPr/>
        </p:nvSpPr>
        <p:spPr>
          <a:xfrm>
            <a:off x="6180667" y="1755330"/>
            <a:ext cx="26331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4C82F7"/>
                </a:solidFill>
                <a:latin typeface="IBM Plex Mono SemiBold"/>
                <a:cs typeface="IBM Plex Mono SemiBold"/>
                <a:ea typeface="IBM Plex Mono SemiBold"/>
              </a:rPr>
              <a:t>COULD HAVE</a:t>
            </a:r>
          </a:p>
        </p:txBody>
      </p:sp>
      <p:sp>
        <p:nvSpPr>
          <p:cNvPr id="53" name="Mapa interactivo de trabajadores cer"/>
          <p:cNvSpPr txBox="1"/>
          <p:nvPr/>
        </p:nvSpPr>
        <p:spPr>
          <a:xfrm>
            <a:off x="6299200" y="1986934"/>
            <a:ext cx="2112169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Mapa interactivo de trabajadores cercanos</a:t>
            </a:r>
          </a:p>
        </p:txBody>
      </p:sp>
      <p:sp>
        <p:nvSpPr>
          <p:cNvPr id="54" name="Landing page pública con explicación"/>
          <p:cNvSpPr txBox="1"/>
          <p:nvPr/>
        </p:nvSpPr>
        <p:spPr>
          <a:xfrm>
            <a:off x="6299200" y="2227838"/>
            <a:ext cx="2346457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Landing page pública con explicación del uso y beneficios de la app</a:t>
            </a:r>
          </a:p>
        </p:txBody>
      </p:sp>
      <p:sp>
        <p:nvSpPr>
          <p:cNvPr id="55" name="Panel de estadísticas para trabajado"/>
          <p:cNvSpPr txBox="1"/>
          <p:nvPr/>
        </p:nvSpPr>
        <p:spPr>
          <a:xfrm>
            <a:off x="6299200" y="2624977"/>
            <a:ext cx="2472134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Panel de estadísticas para trabajadores (ingresos y calificaciones)</a:t>
            </a:r>
          </a:p>
        </p:txBody>
      </p:sp>
      <p:sp>
        <p:nvSpPr>
          <p:cNvPr id="56" name="Automatización parcial de agenda y r"/>
          <p:cNvSpPr txBox="1"/>
          <p:nvPr/>
        </p:nvSpPr>
        <p:spPr>
          <a:xfrm>
            <a:off x="6299200" y="3022117"/>
            <a:ext cx="2323835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Automatización parcial de agenda y reputación</a:t>
            </a:r>
          </a:p>
        </p:txBody>
      </p:sp>
      <p:sp>
        <p:nvSpPr>
          <p:cNvPr id="57" name="WON'T HAVE"/>
          <p:cNvSpPr txBox="1"/>
          <p:nvPr/>
        </p:nvSpPr>
        <p:spPr>
          <a:xfrm>
            <a:off x="8966200" y="1755330"/>
            <a:ext cx="26331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WON'T HAVE</a:t>
            </a:r>
          </a:p>
        </p:txBody>
      </p:sp>
      <p:sp>
        <p:nvSpPr>
          <p:cNvPr id="58" name="Matching inteligente con IA (asignac"/>
          <p:cNvSpPr txBox="1"/>
          <p:nvPr/>
        </p:nvSpPr>
        <p:spPr>
          <a:xfrm>
            <a:off x="9084733" y="1986934"/>
            <a:ext cx="1988873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Matching inteligente con IA (asignación automática de trabajadores)</a:t>
            </a:r>
          </a:p>
        </p:txBody>
      </p:sp>
      <p:sp>
        <p:nvSpPr>
          <p:cNvPr id="59" name="Escalamiento a alianzas estratégicas"/>
          <p:cNvSpPr txBox="1"/>
          <p:nvPr/>
        </p:nvSpPr>
        <p:spPr>
          <a:xfrm>
            <a:off x="9084733" y="2384074"/>
            <a:ext cx="2462212" cy="3228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Escalamiento a alianzas estratégicas o rondas de inversión</a:t>
            </a:r>
          </a:p>
        </p:txBody>
      </p:sp>
      <p:sp>
        <p:nvSpPr>
          <p:cNvPr id="60" name="Expansión internacional"/>
          <p:cNvSpPr txBox="1"/>
          <p:nvPr/>
        </p:nvSpPr>
        <p:spPr>
          <a:xfrm>
            <a:off x="9084733" y="2781214"/>
            <a:ext cx="1199489" cy="1666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Expansión internacional</a:t>
            </a:r>
          </a:p>
        </p:txBody>
      </p:sp>
      <p:sp>
        <p:nvSpPr>
          <p:cNvPr id="61" name="4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117600"/>
            <a:ext cx="2140347" cy="3813572"/>
          </a:xfrm>
          <a:prstGeom prst="roundRect">
            <a:avLst>
              <a:gd name="adj" fmla="val 791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2741480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4922705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2817680" y="1117600"/>
            <a:ext cx="2140347" cy="1872853"/>
          </a:xfrm>
          <a:prstGeom prst="roundRect">
            <a:avLst>
              <a:gd name="adj" fmla="val 90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281768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right"/>
          <p:cNvSpPr/>
          <p:nvPr/>
        </p:nvSpPr>
        <p:spPr>
          <a:xfrm>
            <a:off x="4949560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bottom"/>
          <p:cNvSpPr/>
          <p:nvPr/>
        </p:nvSpPr>
        <p:spPr>
          <a:xfrm>
            <a:off x="2817680" y="2981986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2817680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5025760" y="1117600"/>
            <a:ext cx="2140347" cy="3813572"/>
          </a:xfrm>
          <a:prstGeom prst="roundRect">
            <a:avLst>
              <a:gd name="adj" fmla="val 79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5025760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right"/>
          <p:cNvSpPr/>
          <p:nvPr/>
        </p:nvSpPr>
        <p:spPr>
          <a:xfrm>
            <a:off x="7157641" y="1117600"/>
            <a:ext cx="8467" cy="3813572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5025760" y="4922705"/>
            <a:ext cx="2140347" cy="8467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left"/>
          <p:cNvSpPr/>
          <p:nvPr/>
        </p:nvSpPr>
        <p:spPr>
          <a:xfrm>
            <a:off x="5025760" y="1117600"/>
            <a:ext cx="8467" cy="3813572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arco"/>
          <p:cNvSpPr/>
          <p:nvPr/>
        </p:nvSpPr>
        <p:spPr>
          <a:xfrm>
            <a:off x="7233841" y="1117600"/>
            <a:ext cx="2140347" cy="1872853"/>
          </a:xfrm>
          <a:prstGeom prst="roundRect">
            <a:avLst>
              <a:gd name="adj" fmla="val 90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top"/>
          <p:cNvSpPr/>
          <p:nvPr/>
        </p:nvSpPr>
        <p:spPr>
          <a:xfrm>
            <a:off x="7233841" y="1117600"/>
            <a:ext cx="214034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right"/>
          <p:cNvSpPr/>
          <p:nvPr/>
        </p:nvSpPr>
        <p:spPr>
          <a:xfrm>
            <a:off x="9365721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bottom"/>
          <p:cNvSpPr/>
          <p:nvPr/>
        </p:nvSpPr>
        <p:spPr>
          <a:xfrm>
            <a:off x="7233841" y="2981986"/>
            <a:ext cx="214034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left"/>
          <p:cNvSpPr/>
          <p:nvPr/>
        </p:nvSpPr>
        <p:spPr>
          <a:xfrm>
            <a:off x="7233841" y="1117600"/>
            <a:ext cx="8467" cy="187285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9441921" y="1117600"/>
            <a:ext cx="2140479" cy="3813572"/>
          </a:xfrm>
          <a:prstGeom prst="roundRect">
            <a:avLst>
              <a:gd name="adj" fmla="val 791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top"/>
          <p:cNvSpPr/>
          <p:nvPr/>
        </p:nvSpPr>
        <p:spPr>
          <a:xfrm>
            <a:off x="9441921" y="1117600"/>
            <a:ext cx="2140479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borde right"/>
          <p:cNvSpPr/>
          <p:nvPr/>
        </p:nvSpPr>
        <p:spPr>
          <a:xfrm>
            <a:off x="11573933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9441921" y="4922705"/>
            <a:ext cx="214047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borde left"/>
          <p:cNvSpPr/>
          <p:nvPr/>
        </p:nvSpPr>
        <p:spPr>
          <a:xfrm>
            <a:off x="9441921" y="1117600"/>
            <a:ext cx="8467" cy="3813572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rco"/>
          <p:cNvSpPr/>
          <p:nvPr/>
        </p:nvSpPr>
        <p:spPr>
          <a:xfrm>
            <a:off x="2817680" y="3058186"/>
            <a:ext cx="2140347" cy="1872985"/>
          </a:xfrm>
          <a:prstGeom prst="roundRect">
            <a:avLst>
              <a:gd name="adj" fmla="val 904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7233841" y="3058186"/>
            <a:ext cx="2140347" cy="1872985"/>
          </a:xfrm>
          <a:prstGeom prst="roundRect">
            <a:avLst>
              <a:gd name="adj" fmla="val 904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rco"/>
          <p:cNvSpPr/>
          <p:nvPr/>
        </p:nvSpPr>
        <p:spPr>
          <a:xfrm>
            <a:off x="609600" y="4998905"/>
            <a:ext cx="4361921" cy="1266428"/>
          </a:xfrm>
          <a:prstGeom prst="roundRect">
            <a:avLst>
              <a:gd name="adj" fmla="val 1337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orde top"/>
          <p:cNvSpPr/>
          <p:nvPr/>
        </p:nvSpPr>
        <p:spPr>
          <a:xfrm>
            <a:off x="609600" y="4998905"/>
            <a:ext cx="4361921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right"/>
          <p:cNvSpPr/>
          <p:nvPr/>
        </p:nvSpPr>
        <p:spPr>
          <a:xfrm>
            <a:off x="4963054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borde bottom"/>
          <p:cNvSpPr/>
          <p:nvPr/>
        </p:nvSpPr>
        <p:spPr>
          <a:xfrm>
            <a:off x="609600" y="6256867"/>
            <a:ext cx="436192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left"/>
          <p:cNvSpPr/>
          <p:nvPr/>
        </p:nvSpPr>
        <p:spPr>
          <a:xfrm>
            <a:off x="609600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5039254" y="4998905"/>
            <a:ext cx="6543146" cy="1266428"/>
          </a:xfrm>
          <a:prstGeom prst="roundRect">
            <a:avLst>
              <a:gd name="adj" fmla="val 1337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top"/>
          <p:cNvSpPr/>
          <p:nvPr/>
        </p:nvSpPr>
        <p:spPr>
          <a:xfrm>
            <a:off x="5039254" y="4998905"/>
            <a:ext cx="6543146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borde right"/>
          <p:cNvSpPr/>
          <p:nvPr/>
        </p:nvSpPr>
        <p:spPr>
          <a:xfrm>
            <a:off x="11573933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5039254" y="6256867"/>
            <a:ext cx="654314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borde left"/>
          <p:cNvSpPr/>
          <p:nvPr/>
        </p:nvSpPr>
        <p:spPr>
          <a:xfrm>
            <a:off x="5039254" y="4998905"/>
            <a:ext cx="8467" cy="1266428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aja"/>
          <p:cNvSpPr/>
          <p:nvPr/>
        </p:nvSpPr>
        <p:spPr>
          <a:xfrm>
            <a:off x="5149321" y="5278305"/>
            <a:ext cx="6323012" cy="396743"/>
          </a:xfrm>
          <a:prstGeom prst="roundRect">
            <a:avLst>
              <a:gd name="adj" fmla="val 426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borde left"/>
          <p:cNvSpPr/>
          <p:nvPr/>
        </p:nvSpPr>
        <p:spPr>
          <a:xfrm>
            <a:off x="5149321" y="5278305"/>
            <a:ext cx="16933" cy="396743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usiness Model Canvas"/>
          <p:cNvSpPr txBox="1"/>
          <p:nvPr/>
        </p:nvSpPr>
        <p:spPr>
          <a:xfrm>
            <a:off x="609600" y="423254"/>
            <a:ext cx="364834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Business Model Canvas</a:t>
            </a:r>
          </a:p>
        </p:txBody>
      </p:sp>
      <p:sp>
        <p:nvSpPr>
          <p:cNvPr id="4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47" name="SOCIOS CLAVE"/>
          <p:cNvSpPr txBox="1"/>
          <p:nvPr/>
        </p:nvSpPr>
        <p:spPr>
          <a:xfrm>
            <a:off x="719667" y="1237264"/>
            <a:ext cx="1937147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SOCIOS CLAVE</a:t>
            </a:r>
          </a:p>
        </p:txBody>
      </p:sp>
      <p:sp>
        <p:nvSpPr>
          <p:cNvPr id="48" name="Aseguradora aliada: cobertura y gara"/>
          <p:cNvSpPr txBox="1"/>
          <p:nvPr/>
        </p:nvSpPr>
        <p:spPr>
          <a:xfrm>
            <a:off x="719667" y="1397610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Aseguradora aliada: cobertura y garantías ante imprevistos o reclamos</a:t>
            </a:r>
          </a:p>
        </p:txBody>
      </p:sp>
      <p:sp>
        <p:nvSpPr>
          <p:cNvPr id="49" name="Plataformas tecnológicas y servicios"/>
          <p:cNvSpPr txBox="1"/>
          <p:nvPr/>
        </p:nvSpPr>
        <p:spPr>
          <a:xfrm>
            <a:off x="719667" y="1674629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Plataformas tecnológicas y servicios en la nube (AWS, GCP)</a:t>
            </a:r>
          </a:p>
        </p:txBody>
      </p:sp>
      <p:sp>
        <p:nvSpPr>
          <p:cNvPr id="50" name="Instituciones de formación técnica y"/>
          <p:cNvSpPr txBox="1"/>
          <p:nvPr/>
        </p:nvSpPr>
        <p:spPr>
          <a:xfrm>
            <a:off x="719667" y="1951648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Instituciones de formación técnica y sindicatos de oficios</a:t>
            </a:r>
          </a:p>
        </p:txBody>
      </p:sp>
      <p:sp>
        <p:nvSpPr>
          <p:cNvPr id="51" name="Cámaras o asociaciones de pymes gast"/>
          <p:cNvSpPr txBox="1"/>
          <p:nvPr/>
        </p:nvSpPr>
        <p:spPr>
          <a:xfrm>
            <a:off x="719667" y="2228666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Cámaras o asociaciones de pymes gastronómicas</a:t>
            </a:r>
          </a:p>
        </p:txBody>
      </p:sp>
      <p:sp>
        <p:nvSpPr>
          <p:cNvPr id="52" name="Agencias o partners de marketing dig"/>
          <p:cNvSpPr txBox="1"/>
          <p:nvPr/>
        </p:nvSpPr>
        <p:spPr>
          <a:xfrm>
            <a:off x="719667" y="2505685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Agencias o partners de marketing digital</a:t>
            </a:r>
          </a:p>
        </p:txBody>
      </p:sp>
      <p:sp>
        <p:nvSpPr>
          <p:cNvPr id="53" name="ACTIVIDADES CLAVE"/>
          <p:cNvSpPr txBox="1"/>
          <p:nvPr/>
        </p:nvSpPr>
        <p:spPr>
          <a:xfrm>
            <a:off x="2927747" y="1237264"/>
            <a:ext cx="1937147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ACTIVIDADES CLAVE</a:t>
            </a:r>
          </a:p>
        </p:txBody>
      </p:sp>
      <p:sp>
        <p:nvSpPr>
          <p:cNvPr id="54" name="Desarrollo y mantenimiento de la pla"/>
          <p:cNvSpPr txBox="1"/>
          <p:nvPr/>
        </p:nvSpPr>
        <p:spPr>
          <a:xfrm>
            <a:off x="2927747" y="1397610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Desarrollo y mantenimiento de la plataforma</a:t>
            </a:r>
          </a:p>
        </p:txBody>
      </p:sp>
      <p:sp>
        <p:nvSpPr>
          <p:cNvPr id="55" name="Marketing digital (campañas, redes, "/>
          <p:cNvSpPr txBox="1"/>
          <p:nvPr/>
        </p:nvSpPr>
        <p:spPr>
          <a:xfrm>
            <a:off x="2927747" y="1548819"/>
            <a:ext cx="19710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Marketing digital (campañas, redes, contenidos, SEO)</a:t>
            </a:r>
          </a:p>
        </p:txBody>
      </p:sp>
      <p:sp>
        <p:nvSpPr>
          <p:cNvPr id="56" name="Adquisición y validación de trabajad"/>
          <p:cNvSpPr txBox="1"/>
          <p:nvPr/>
        </p:nvSpPr>
        <p:spPr>
          <a:xfrm>
            <a:off x="2927747" y="1817371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Adquisición y validación de trabajadores calificados</a:t>
            </a:r>
          </a:p>
        </p:txBody>
      </p:sp>
      <p:sp>
        <p:nvSpPr>
          <p:cNvPr id="57" name="Adquisición y retención de clientes"/>
          <p:cNvSpPr txBox="1"/>
          <p:nvPr/>
        </p:nvSpPr>
        <p:spPr>
          <a:xfrm>
            <a:off x="2927747" y="2085924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Adquisición y retención de clientes</a:t>
            </a:r>
          </a:p>
        </p:txBody>
      </p:sp>
      <p:sp>
        <p:nvSpPr>
          <p:cNvPr id="58" name="Gestión de reputación, calificacione"/>
          <p:cNvSpPr txBox="1"/>
          <p:nvPr/>
        </p:nvSpPr>
        <p:spPr>
          <a:xfrm>
            <a:off x="2927747" y="2237133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Gestión de reputación, calificaciones y pagos</a:t>
            </a:r>
          </a:p>
        </p:txBody>
      </p:sp>
      <p:sp>
        <p:nvSpPr>
          <p:cNvPr id="59" name="Investigación continua (feedback, me"/>
          <p:cNvSpPr txBox="1"/>
          <p:nvPr/>
        </p:nvSpPr>
        <p:spPr>
          <a:xfrm>
            <a:off x="2927747" y="2388342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Investigación continua (feedback, mejoras UX/UI)</a:t>
            </a:r>
          </a:p>
        </p:txBody>
      </p:sp>
      <p:sp>
        <p:nvSpPr>
          <p:cNvPr id="60" name="Atención al cliente y soporte post-s"/>
          <p:cNvSpPr txBox="1"/>
          <p:nvPr/>
        </p:nvSpPr>
        <p:spPr>
          <a:xfrm>
            <a:off x="2927747" y="2656894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Atención al cliente y soporte post-servicio</a:t>
            </a:r>
          </a:p>
        </p:txBody>
      </p:sp>
      <p:sp>
        <p:nvSpPr>
          <p:cNvPr id="61" name="PROPUESTA DE VALOR"/>
          <p:cNvSpPr txBox="1"/>
          <p:nvPr/>
        </p:nvSpPr>
        <p:spPr>
          <a:xfrm>
            <a:off x="5135827" y="1237264"/>
            <a:ext cx="1937147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PROPUESTA DE VALOR</a:t>
            </a:r>
          </a:p>
        </p:txBody>
      </p:sp>
      <p:sp>
        <p:nvSpPr>
          <p:cNvPr id="62" name="HOGARES Y PYMES GASTRONÓMICAS"/>
          <p:cNvSpPr txBox="1"/>
          <p:nvPr/>
        </p:nvSpPr>
        <p:spPr>
          <a:xfrm>
            <a:off x="5135827" y="1398024"/>
            <a:ext cx="1937147" cy="1364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33">
                <a:solidFill>
                  <a:srgbClr val="0D1520"/>
                </a:solidFill>
                <a:latin typeface="IBM Plex Sans Bold"/>
                <a:cs typeface="IBM Plex Sans Bold"/>
                <a:ea typeface="IBM Plex Sans Bold"/>
              </a:rPr>
              <a:t>HOGARES Y PYMES GASTRONÓMICAS</a:t>
            </a:r>
          </a:p>
        </p:txBody>
      </p:sp>
      <p:sp>
        <p:nvSpPr>
          <p:cNvPr id="63" name="OFIX conecta hogares y pymes gastron"/>
          <p:cNvSpPr txBox="1"/>
          <p:nvPr/>
        </p:nvSpPr>
        <p:spPr>
          <a:xfrm>
            <a:off x="5135827" y="1548232"/>
            <a:ext cx="1971014" cy="99049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OFIX conecta hogares y pymes gastronómicas con trabajadores de oficios verificados, ayudándolos a resolver reparaciones urgentes o programadas con seguridad, transparencia y respaldo digital. A diferencia de las contrataciones informales, ofrecemos técnicos validados, pagos protegidos y seguimiento post-servicio.</a:t>
            </a:r>
          </a:p>
        </p:txBody>
      </p:sp>
      <p:sp>
        <p:nvSpPr>
          <p:cNvPr id="64" name="TRABAJADORES DE OFICIO"/>
          <p:cNvSpPr txBox="1"/>
          <p:nvPr/>
        </p:nvSpPr>
        <p:spPr>
          <a:xfrm>
            <a:off x="5135827" y="2609816"/>
            <a:ext cx="1937147" cy="1364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33">
                <a:solidFill>
                  <a:srgbClr val="0D1520"/>
                </a:solidFill>
                <a:latin typeface="IBM Plex Sans Bold"/>
                <a:cs typeface="IBM Plex Sans Bold"/>
                <a:ea typeface="IBM Plex Sans Bold"/>
              </a:rPr>
              <a:t>TRABAJADORES DE OFICIO</a:t>
            </a:r>
          </a:p>
        </p:txBody>
      </p:sp>
      <p:sp>
        <p:nvSpPr>
          <p:cNvPr id="65" name="OFIX ayuda a trabajadores independie"/>
          <p:cNvSpPr txBox="1"/>
          <p:nvPr/>
        </p:nvSpPr>
        <p:spPr>
          <a:xfrm>
            <a:off x="5135827" y="2760024"/>
            <a:ext cx="1920214" cy="8697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OFIX ayuda a trabajadores independientes a conseguir más clientes y formalizar su actividad, reduciendo la inestabilidad de ingresos y el riesgo de impagos. Brindamos visibilidad, reputación validada, pagos gestionados dentro de la plataforma y soporte para su profesionalización.</a:t>
            </a:r>
          </a:p>
        </p:txBody>
      </p:sp>
      <p:sp>
        <p:nvSpPr>
          <p:cNvPr id="66" name="RELACIONES CON CLIENTES"/>
          <p:cNvSpPr txBox="1"/>
          <p:nvPr/>
        </p:nvSpPr>
        <p:spPr>
          <a:xfrm>
            <a:off x="7343907" y="1237264"/>
            <a:ext cx="1937147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RELACIONES CON CLIENTES</a:t>
            </a:r>
          </a:p>
        </p:txBody>
      </p:sp>
      <p:sp>
        <p:nvSpPr>
          <p:cNvPr id="67" name="Confianza a través de reseñas y cali"/>
          <p:cNvSpPr txBox="1"/>
          <p:nvPr/>
        </p:nvSpPr>
        <p:spPr>
          <a:xfrm>
            <a:off x="7343907" y="1397610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Confianza a través de reseñas y calificaciones mutuas</a:t>
            </a:r>
          </a:p>
        </p:txBody>
      </p:sp>
      <p:sp>
        <p:nvSpPr>
          <p:cNvPr id="68" name="Atención digital personalizada (chat"/>
          <p:cNvSpPr txBox="1"/>
          <p:nvPr/>
        </p:nvSpPr>
        <p:spPr>
          <a:xfrm>
            <a:off x="7343907" y="1666162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Atención digital personalizada (chatbot / soporte humano)</a:t>
            </a:r>
          </a:p>
        </p:txBody>
      </p:sp>
      <p:sp>
        <p:nvSpPr>
          <p:cNvPr id="69" name="Seguimiento post-servicio (satisfacc"/>
          <p:cNvSpPr txBox="1"/>
          <p:nvPr/>
        </p:nvSpPr>
        <p:spPr>
          <a:xfrm>
            <a:off x="7343907" y="1934714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Seguimiento post-servicio (satisfacción y fidelización)</a:t>
            </a:r>
          </a:p>
        </p:txBody>
      </p:sp>
      <p:sp>
        <p:nvSpPr>
          <p:cNvPr id="70" name="Comunidad en redes y generación de c"/>
          <p:cNvSpPr txBox="1"/>
          <p:nvPr/>
        </p:nvSpPr>
        <p:spPr>
          <a:xfrm>
            <a:off x="7343907" y="2203266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Comunidad en redes y generación de contenido útil</a:t>
            </a:r>
          </a:p>
        </p:txBody>
      </p:sp>
      <p:sp>
        <p:nvSpPr>
          <p:cNvPr id="71" name="Programa de referidos (clientes y té"/>
          <p:cNvSpPr txBox="1"/>
          <p:nvPr/>
        </p:nvSpPr>
        <p:spPr>
          <a:xfrm>
            <a:off x="7343907" y="2471818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Programa de referidos (clientes y técnicos)</a:t>
            </a:r>
          </a:p>
        </p:txBody>
      </p:sp>
      <p:sp>
        <p:nvSpPr>
          <p:cNvPr id="72" name="SEGMENTOS DE CLIENTES"/>
          <p:cNvSpPr txBox="1"/>
          <p:nvPr/>
        </p:nvSpPr>
        <p:spPr>
          <a:xfrm>
            <a:off x="9551988" y="1237264"/>
            <a:ext cx="1937279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SEGMENTOS DE CLIENTES</a:t>
            </a:r>
          </a:p>
        </p:txBody>
      </p:sp>
      <p:sp>
        <p:nvSpPr>
          <p:cNvPr id="73" name="Trabajadores de oficios independient"/>
          <p:cNvSpPr txBox="1"/>
          <p:nvPr/>
        </p:nvSpPr>
        <p:spPr>
          <a:xfrm>
            <a:off x="9551988" y="1397610"/>
            <a:ext cx="1920346" cy="3780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Trabajadores de oficios independientes que buscan aumentar su clientela y formalizar su actividad</a:t>
            </a:r>
          </a:p>
        </p:txBody>
      </p:sp>
      <p:sp>
        <p:nvSpPr>
          <p:cNvPr id="74" name="Hogares (familias que necesitan serv"/>
          <p:cNvSpPr txBox="1"/>
          <p:nvPr/>
        </p:nvSpPr>
        <p:spPr>
          <a:xfrm>
            <a:off x="9551988" y="1791971"/>
            <a:ext cx="1920346" cy="73006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Hogares (familias que necesitan servicios confiables y rápidos)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— Jóvenes digitalizados (prefieren apps y pagos online)</a:t>
            </a:r>
          </a:p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— Personas mayores (valoran confianza y asistencia)</a:t>
            </a:r>
          </a:p>
        </p:txBody>
      </p:sp>
      <p:sp>
        <p:nvSpPr>
          <p:cNvPr id="75" name="Pymes gastronómicas (bares, restaura"/>
          <p:cNvSpPr txBox="1"/>
          <p:nvPr/>
        </p:nvSpPr>
        <p:spPr>
          <a:xfrm>
            <a:off x="9551988" y="2538361"/>
            <a:ext cx="1920346" cy="37803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Pymes gastronómicas (bares, restaurantes, cafeterías) que requieren servicios frecuentes y proveedores confiables</a:t>
            </a:r>
          </a:p>
        </p:txBody>
      </p:sp>
      <p:sp>
        <p:nvSpPr>
          <p:cNvPr id="76" name="RECURSOS CLAVE"/>
          <p:cNvSpPr txBox="1"/>
          <p:nvPr/>
        </p:nvSpPr>
        <p:spPr>
          <a:xfrm>
            <a:off x="2927747" y="3160917"/>
            <a:ext cx="1937147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RECURSOS CLAVE</a:t>
            </a:r>
          </a:p>
        </p:txBody>
      </p:sp>
      <p:sp>
        <p:nvSpPr>
          <p:cNvPr id="77" name="Plataforma digital (app/web con inte"/>
          <p:cNvSpPr txBox="1"/>
          <p:nvPr/>
        </p:nvSpPr>
        <p:spPr>
          <a:xfrm>
            <a:off x="2927747" y="3321263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Plataforma digital (app/web con integraciones de pago y verificación)</a:t>
            </a:r>
          </a:p>
        </p:txBody>
      </p:sp>
      <p:sp>
        <p:nvSpPr>
          <p:cNvPr id="78" name="Infraestructura en la nube · Red de "/>
          <p:cNvSpPr txBox="1"/>
          <p:nvPr/>
        </p:nvSpPr>
        <p:spPr>
          <a:xfrm>
            <a:off x="2927747" y="3589815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Infraestructura en la nube · Red de técnicos validados</a:t>
            </a:r>
          </a:p>
        </p:txBody>
      </p:sp>
      <p:sp>
        <p:nvSpPr>
          <p:cNvPr id="79" name="Base de datos de clientes y trabajad"/>
          <p:cNvSpPr txBox="1"/>
          <p:nvPr/>
        </p:nvSpPr>
        <p:spPr>
          <a:xfrm>
            <a:off x="2927747" y="3858367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Base de datos de clientes y trabajadores</a:t>
            </a:r>
          </a:p>
        </p:txBody>
      </p:sp>
      <p:sp>
        <p:nvSpPr>
          <p:cNvPr id="80" name="Confianza de marca y reputación digi"/>
          <p:cNvSpPr txBox="1"/>
          <p:nvPr/>
        </p:nvSpPr>
        <p:spPr>
          <a:xfrm>
            <a:off x="2927747" y="4009577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Confianza de marca y reputación digital</a:t>
            </a:r>
          </a:p>
        </p:txBody>
      </p:sp>
      <p:sp>
        <p:nvSpPr>
          <p:cNvPr id="81" name="Algoritmos de recomendación y rankin"/>
          <p:cNvSpPr txBox="1"/>
          <p:nvPr/>
        </p:nvSpPr>
        <p:spPr>
          <a:xfrm>
            <a:off x="2927747" y="4160786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Algoritmos de recomendación y ranking</a:t>
            </a:r>
          </a:p>
        </p:txBody>
      </p:sp>
      <p:sp>
        <p:nvSpPr>
          <p:cNvPr id="82" name="Equipo de desarrollo, diseño UX/UI y"/>
          <p:cNvSpPr txBox="1"/>
          <p:nvPr/>
        </p:nvSpPr>
        <p:spPr>
          <a:xfrm>
            <a:off x="2927747" y="4311995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Equipo de desarrollo, diseño UX/UI y marketing</a:t>
            </a:r>
          </a:p>
        </p:txBody>
      </p:sp>
      <p:sp>
        <p:nvSpPr>
          <p:cNvPr id="83" name="Know-how legal, tributario y de segu"/>
          <p:cNvSpPr txBox="1"/>
          <p:nvPr/>
        </p:nvSpPr>
        <p:spPr>
          <a:xfrm>
            <a:off x="2927747" y="4463205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Know-how legal, tributario y de seguros</a:t>
            </a:r>
          </a:p>
        </p:txBody>
      </p:sp>
      <p:sp>
        <p:nvSpPr>
          <p:cNvPr id="84" name="CANALES"/>
          <p:cNvSpPr txBox="1"/>
          <p:nvPr/>
        </p:nvSpPr>
        <p:spPr>
          <a:xfrm>
            <a:off x="7343907" y="3160917"/>
            <a:ext cx="1937147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CANALES</a:t>
            </a:r>
          </a:p>
        </p:txBody>
      </p:sp>
      <p:sp>
        <p:nvSpPr>
          <p:cNvPr id="85" name="App / web propia (principal punto de"/>
          <p:cNvSpPr txBox="1"/>
          <p:nvPr/>
        </p:nvSpPr>
        <p:spPr>
          <a:xfrm>
            <a:off x="7343907" y="3321263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App / web propia (principal punto de interacción)</a:t>
            </a:r>
          </a:p>
        </p:txBody>
      </p:sp>
      <p:sp>
        <p:nvSpPr>
          <p:cNvPr id="86" name="Campañas digitales: Google Ads, Meta"/>
          <p:cNvSpPr txBox="1"/>
          <p:nvPr/>
        </p:nvSpPr>
        <p:spPr>
          <a:xfrm>
            <a:off x="7343907" y="3589815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Campañas digitales: Google Ads, Meta Ads y marketing de contenido</a:t>
            </a:r>
          </a:p>
        </p:txBody>
      </p:sp>
      <p:sp>
        <p:nvSpPr>
          <p:cNvPr id="87" name="Redes sociales (Instagram, TikTok, L"/>
          <p:cNvSpPr txBox="1"/>
          <p:nvPr/>
        </p:nvSpPr>
        <p:spPr>
          <a:xfrm>
            <a:off x="7343907" y="3858367"/>
            <a:ext cx="1937147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Redes sociales (Instagram, TikTok, LinkedIn)</a:t>
            </a:r>
          </a:p>
        </p:txBody>
      </p:sp>
      <p:sp>
        <p:nvSpPr>
          <p:cNvPr id="88" name="Email marketing, notificaciones push"/>
          <p:cNvSpPr txBox="1"/>
          <p:nvPr/>
        </p:nvSpPr>
        <p:spPr>
          <a:xfrm>
            <a:off x="7343907" y="4009577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Email marketing, notificaciones push y newsletter</a:t>
            </a:r>
          </a:p>
        </p:txBody>
      </p:sp>
      <p:sp>
        <p:nvSpPr>
          <p:cNvPr id="89" name="Presencia en ferias, eventos o conve"/>
          <p:cNvSpPr txBox="1"/>
          <p:nvPr/>
        </p:nvSpPr>
        <p:spPr>
          <a:xfrm>
            <a:off x="7343907" y="4278129"/>
            <a:ext cx="1920214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Presencia en ferias, eventos o convenios institucionales</a:t>
            </a:r>
          </a:p>
        </p:txBody>
      </p:sp>
      <p:sp>
        <p:nvSpPr>
          <p:cNvPr id="90" name="ESTRUCTURA DE COSTOS"/>
          <p:cNvSpPr txBox="1"/>
          <p:nvPr/>
        </p:nvSpPr>
        <p:spPr>
          <a:xfrm>
            <a:off x="719667" y="5118569"/>
            <a:ext cx="4158721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ESTRUCTURA DE COSTOS</a:t>
            </a:r>
          </a:p>
        </p:txBody>
      </p:sp>
      <p:sp>
        <p:nvSpPr>
          <p:cNvPr id="91" name="Desarrollo tecnológico, servidores y"/>
          <p:cNvSpPr txBox="1"/>
          <p:nvPr/>
        </p:nvSpPr>
        <p:spPr>
          <a:xfrm>
            <a:off x="719667" y="5278915"/>
            <a:ext cx="2003160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Desarrollo tecnológico, servidores y mantenimiento</a:t>
            </a:r>
          </a:p>
        </p:txBody>
      </p:sp>
      <p:sp>
        <p:nvSpPr>
          <p:cNvPr id="92" name="Cumplimiento legal y asesoría (licen"/>
          <p:cNvSpPr txBox="1"/>
          <p:nvPr/>
        </p:nvSpPr>
        <p:spPr>
          <a:xfrm>
            <a:off x="2858294" y="5278915"/>
            <a:ext cx="2003160" cy="2606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Cumplimiento legal y asesoría (licencias, seguros, impuestos)</a:t>
            </a:r>
          </a:p>
        </p:txBody>
      </p:sp>
      <p:sp>
        <p:nvSpPr>
          <p:cNvPr id="93" name="Marketing digital y agencias de adqu"/>
          <p:cNvSpPr txBox="1"/>
          <p:nvPr/>
        </p:nvSpPr>
        <p:spPr>
          <a:xfrm>
            <a:off x="719667" y="5547467"/>
            <a:ext cx="2020094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Marketing digital y agencias de adquisición</a:t>
            </a:r>
          </a:p>
        </p:txBody>
      </p:sp>
      <p:sp>
        <p:nvSpPr>
          <p:cNvPr id="94" name="Comisiones o descuentos a técnicos p"/>
          <p:cNvSpPr txBox="1"/>
          <p:nvPr/>
        </p:nvSpPr>
        <p:spPr>
          <a:xfrm>
            <a:off x="2858294" y="5547467"/>
            <a:ext cx="2020094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Comisiones o descuentos a técnicos por alianzas</a:t>
            </a:r>
          </a:p>
        </p:txBody>
      </p:sp>
      <p:sp>
        <p:nvSpPr>
          <p:cNvPr id="95" name="Sueldos de soporte, atención y admin"/>
          <p:cNvSpPr txBox="1"/>
          <p:nvPr/>
        </p:nvSpPr>
        <p:spPr>
          <a:xfrm>
            <a:off x="719667" y="5698677"/>
            <a:ext cx="2020094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Sueldos de soporte, atención y administración</a:t>
            </a:r>
          </a:p>
        </p:txBody>
      </p:sp>
      <p:sp>
        <p:nvSpPr>
          <p:cNvPr id="96" name="Investigación y expansión de mercado"/>
          <p:cNvSpPr txBox="1"/>
          <p:nvPr/>
        </p:nvSpPr>
        <p:spPr>
          <a:xfrm>
            <a:off x="2858294" y="5698677"/>
            <a:ext cx="2020094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Investigación y expansión de mercado</a:t>
            </a:r>
          </a:p>
        </p:txBody>
      </p:sp>
      <p:sp>
        <p:nvSpPr>
          <p:cNvPr id="97" name="Costos de adquisición de usuarios (C"/>
          <p:cNvSpPr txBox="1"/>
          <p:nvPr/>
        </p:nvSpPr>
        <p:spPr>
          <a:xfrm>
            <a:off x="719667" y="5849886"/>
            <a:ext cx="2020094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de adquisición de usuarios (CAC)</a:t>
            </a:r>
          </a:p>
        </p:txBody>
      </p:sp>
      <p:sp>
        <p:nvSpPr>
          <p:cNvPr id="98" name="Coberturas de seguro y respaldo del "/>
          <p:cNvSpPr txBox="1"/>
          <p:nvPr/>
        </p:nvSpPr>
        <p:spPr>
          <a:xfrm>
            <a:off x="2858294" y="5849886"/>
            <a:ext cx="2020094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Coberturas de seguro y respaldo del servicio</a:t>
            </a:r>
          </a:p>
        </p:txBody>
      </p:sp>
      <p:sp>
        <p:nvSpPr>
          <p:cNvPr id="99" name="FUENTES DE INGRESOS"/>
          <p:cNvSpPr txBox="1"/>
          <p:nvPr/>
        </p:nvSpPr>
        <p:spPr>
          <a:xfrm>
            <a:off x="5149321" y="5118569"/>
            <a:ext cx="6339946" cy="119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00" spc="9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FUENTES DE INGRESOS</a:t>
            </a:r>
          </a:p>
        </p:txBody>
      </p:sp>
      <p:sp>
        <p:nvSpPr>
          <p:cNvPr id="100" name="Fuente principal · Comisión del 20% "/>
          <p:cNvSpPr txBox="1"/>
          <p:nvPr/>
        </p:nvSpPr>
        <p:spPr>
          <a:xfrm>
            <a:off x="5250921" y="5348012"/>
            <a:ext cx="6153679" cy="1459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>
                <a:solidFill>
                  <a:srgbClr val="0D1520"/>
                </a:solidFill>
                <a:latin typeface="IBM Plex Sans Bold"/>
                <a:cs typeface="IBM Plex Sans Bold"/>
                <a:ea typeface="IBM Plex Sans Bold"/>
              </a:rPr>
              <a:t>Fuente principal · Comisión del 20% por transacción</a:t>
            </a:r>
          </a:p>
        </p:txBody>
      </p:sp>
      <p:sp>
        <p:nvSpPr>
          <p:cNvPr id="101" name="Porcentaje de cada trabajo gestionad"/>
          <p:cNvSpPr txBox="1"/>
          <p:nvPr/>
        </p:nvSpPr>
        <p:spPr>
          <a:xfrm>
            <a:off x="5250921" y="5490582"/>
            <a:ext cx="6153679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Porcentaje de cada trabajo gestionado en la plataforma.</a:t>
            </a:r>
          </a:p>
        </p:txBody>
      </p:sp>
      <p:sp>
        <p:nvSpPr>
          <p:cNvPr id="102" name="POSIBLES FUENTES FUTURAS"/>
          <p:cNvSpPr txBox="1"/>
          <p:nvPr/>
        </p:nvSpPr>
        <p:spPr>
          <a:xfrm>
            <a:off x="5149321" y="5751845"/>
            <a:ext cx="6339946" cy="1191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70" spc="8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POSIBLES FUENTES FUTURAS</a:t>
            </a:r>
          </a:p>
        </p:txBody>
      </p:sp>
      <p:sp>
        <p:nvSpPr>
          <p:cNvPr id="103" name="Publicidad segmentada dentro de la a"/>
          <p:cNvSpPr txBox="1"/>
          <p:nvPr/>
        </p:nvSpPr>
        <p:spPr>
          <a:xfrm>
            <a:off x="5149321" y="5895791"/>
            <a:ext cx="3110706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Publicidad segmentada dentro de la app o vía contenido</a:t>
            </a:r>
          </a:p>
        </p:txBody>
      </p:sp>
      <p:sp>
        <p:nvSpPr>
          <p:cNvPr id="104" name="Suscripción premium para técnicos (m"/>
          <p:cNvSpPr txBox="1"/>
          <p:nvPr/>
        </p:nvSpPr>
        <p:spPr>
          <a:xfrm>
            <a:off x="8378560" y="5895791"/>
            <a:ext cx="3110706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Suscripción premium para técnicos (mayor visibilidad)</a:t>
            </a:r>
          </a:p>
        </p:txBody>
      </p:sp>
      <p:sp>
        <p:nvSpPr>
          <p:cNvPr id="105" name="Planes B2B: mantenimiento mensual pa"/>
          <p:cNvSpPr txBox="1"/>
          <p:nvPr/>
        </p:nvSpPr>
        <p:spPr>
          <a:xfrm>
            <a:off x="5149321" y="6047001"/>
            <a:ext cx="3110706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Planes B2B: mantenimiento mensual para pymes</a:t>
            </a:r>
          </a:p>
        </p:txBody>
      </p:sp>
      <p:sp>
        <p:nvSpPr>
          <p:cNvPr id="106" name="Servicios financieros (microseguros "/>
          <p:cNvSpPr txBox="1"/>
          <p:nvPr/>
        </p:nvSpPr>
        <p:spPr>
          <a:xfrm>
            <a:off x="8378560" y="6047001"/>
            <a:ext cx="3110706" cy="1433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Servicios financieros (microseguros o coberturas ampliadas)</a:t>
            </a:r>
          </a:p>
        </p:txBody>
      </p:sp>
      <p:sp>
        <p:nvSpPr>
          <p:cNvPr id="107" name="4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5" name="SPRINT 3"/>
          <p:cNvSpPr txBox="1"/>
          <p:nvPr/>
        </p:nvSpPr>
        <p:spPr>
          <a:xfrm>
            <a:off x="4151577" y="3148499"/>
            <a:ext cx="3905779" cy="8878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670" spc="-33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SPRINT 3</a:t>
            </a:r>
          </a:p>
        </p:txBody>
      </p:sp>
      <p:sp>
        <p:nvSpPr>
          <p:cNvPr id="6" name="4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77968"/>
            <a:ext cx="99906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802334"/>
            <a:ext cx="9990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1608667" y="2577968"/>
            <a:ext cx="189825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1608667" y="2802334"/>
            <a:ext cx="189825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3506920" y="2577968"/>
            <a:ext cx="159570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3506920" y="2802334"/>
            <a:ext cx="159570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5102622" y="2577968"/>
            <a:ext cx="15348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5102622" y="2802334"/>
            <a:ext cx="15348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637470" y="2577968"/>
            <a:ext cx="97459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6637470" y="2802334"/>
            <a:ext cx="97459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7612062" y="2577968"/>
            <a:ext cx="213029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7612062" y="2802334"/>
            <a:ext cx="213029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9742355" y="2577968"/>
            <a:ext cx="1840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9742355" y="2802334"/>
            <a:ext cx="1840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2810801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3226461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1608667" y="2810801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1608667" y="3226461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3506920" y="2810801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3506920" y="3226461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5102622" y="2810801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5102622" y="3226461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6637470" y="2810801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6637470" y="3226461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7612062" y="2810801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7612062" y="3226461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9742355" y="2810801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9742355" y="3226461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3234928"/>
            <a:ext cx="999067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3502025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1608667" y="3234928"/>
            <a:ext cx="189825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1608667" y="3502025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3506920" y="3234928"/>
            <a:ext cx="1595702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3506920" y="3502025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5102622" y="3234928"/>
            <a:ext cx="1534848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5102622" y="3502025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6637470" y="3234928"/>
            <a:ext cx="97459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6637470" y="3502025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7612062" y="3234928"/>
            <a:ext cx="2130293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7612062" y="3502025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9742355" y="3234928"/>
            <a:ext cx="1840045" cy="27556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9742355" y="3502025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3510492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3926152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1608667" y="3510492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1608667" y="3926152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3506920" y="3510492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3506920" y="3926152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5102622" y="3510492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5102622" y="3926152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6637470" y="3510492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6637470" y="3926152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7612062" y="3510492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7612062" y="3926152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9742355" y="3510492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9742355" y="3926152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3934619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4350279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1608667" y="3934619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1608667" y="4350279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3506920" y="3934619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3506920" y="4350279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5102622" y="3934619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5102622" y="4350279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6637470" y="3934619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6637470" y="4350279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7612062" y="3934619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7612062" y="4350279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9742355" y="3934619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9742355" y="4350279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caja"/>
          <p:cNvSpPr/>
          <p:nvPr/>
        </p:nvSpPr>
        <p:spPr>
          <a:xfrm>
            <a:off x="609600" y="4358746"/>
            <a:ext cx="999067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bottom"/>
          <p:cNvSpPr/>
          <p:nvPr/>
        </p:nvSpPr>
        <p:spPr>
          <a:xfrm>
            <a:off x="609600" y="4774406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caja"/>
          <p:cNvSpPr/>
          <p:nvPr/>
        </p:nvSpPr>
        <p:spPr>
          <a:xfrm>
            <a:off x="1608667" y="4358746"/>
            <a:ext cx="189825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bottom"/>
          <p:cNvSpPr/>
          <p:nvPr/>
        </p:nvSpPr>
        <p:spPr>
          <a:xfrm>
            <a:off x="1608667" y="4774406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caja"/>
          <p:cNvSpPr/>
          <p:nvPr/>
        </p:nvSpPr>
        <p:spPr>
          <a:xfrm>
            <a:off x="3506920" y="4358746"/>
            <a:ext cx="1595702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bottom"/>
          <p:cNvSpPr/>
          <p:nvPr/>
        </p:nvSpPr>
        <p:spPr>
          <a:xfrm>
            <a:off x="3506920" y="4774406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caja"/>
          <p:cNvSpPr/>
          <p:nvPr/>
        </p:nvSpPr>
        <p:spPr>
          <a:xfrm>
            <a:off x="5102622" y="4358746"/>
            <a:ext cx="1534848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bottom"/>
          <p:cNvSpPr/>
          <p:nvPr/>
        </p:nvSpPr>
        <p:spPr>
          <a:xfrm>
            <a:off x="5102622" y="4774406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caja"/>
          <p:cNvSpPr/>
          <p:nvPr/>
        </p:nvSpPr>
        <p:spPr>
          <a:xfrm>
            <a:off x="6637470" y="4358746"/>
            <a:ext cx="97459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bottom"/>
          <p:cNvSpPr/>
          <p:nvPr/>
        </p:nvSpPr>
        <p:spPr>
          <a:xfrm>
            <a:off x="6637470" y="4774406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aja"/>
          <p:cNvSpPr/>
          <p:nvPr/>
        </p:nvSpPr>
        <p:spPr>
          <a:xfrm>
            <a:off x="7612062" y="4358746"/>
            <a:ext cx="2130293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bottom"/>
          <p:cNvSpPr/>
          <p:nvPr/>
        </p:nvSpPr>
        <p:spPr>
          <a:xfrm>
            <a:off x="7612062" y="4774406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aja"/>
          <p:cNvSpPr/>
          <p:nvPr/>
        </p:nvSpPr>
        <p:spPr>
          <a:xfrm>
            <a:off x="9742355" y="4358746"/>
            <a:ext cx="1840045" cy="424127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bottom"/>
          <p:cNvSpPr/>
          <p:nvPr/>
        </p:nvSpPr>
        <p:spPr>
          <a:xfrm>
            <a:off x="9742355" y="4774406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4782873"/>
            <a:ext cx="999067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5198533"/>
            <a:ext cx="999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1608667" y="4782873"/>
            <a:ext cx="189825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1608667" y="5198533"/>
            <a:ext cx="189825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3506920" y="4782873"/>
            <a:ext cx="1595702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3506920" y="5198533"/>
            <a:ext cx="159570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5102622" y="4782873"/>
            <a:ext cx="1534848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5102622" y="5198533"/>
            <a:ext cx="15348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6637470" y="4782873"/>
            <a:ext cx="9745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6637470" y="5198533"/>
            <a:ext cx="9745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7612062" y="4782873"/>
            <a:ext cx="2130293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7612062" y="5198533"/>
            <a:ext cx="213029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9742355" y="4782873"/>
            <a:ext cx="1840045" cy="4241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bottom"/>
          <p:cNvSpPr/>
          <p:nvPr/>
        </p:nvSpPr>
        <p:spPr>
          <a:xfrm>
            <a:off x="9742355" y="5198533"/>
            <a:ext cx="1840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Benchmark"/>
          <p:cNvSpPr txBox="1"/>
          <p:nvPr/>
        </p:nvSpPr>
        <p:spPr>
          <a:xfrm>
            <a:off x="609600" y="457120"/>
            <a:ext cx="254000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Benchmark</a:t>
            </a:r>
          </a:p>
        </p:txBody>
      </p:sp>
      <p:sp>
        <p:nvSpPr>
          <p:cNvPr id="104" name="Comparativa completa de competidores"/>
          <p:cNvSpPr txBox="1"/>
          <p:nvPr/>
        </p:nvSpPr>
        <p:spPr>
          <a:xfrm>
            <a:off x="609600" y="844871"/>
            <a:ext cx="2540000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Comparativa completa de competidores</a:t>
            </a:r>
          </a:p>
        </p:txBody>
      </p:sp>
      <p:sp>
        <p:nvSpPr>
          <p:cNvPr id="10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0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07" name="EMPRESA"/>
          <p:cNvSpPr txBox="1"/>
          <p:nvPr/>
        </p:nvSpPr>
        <p:spPr>
          <a:xfrm>
            <a:off x="694267" y="2639431"/>
            <a:ext cx="846667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EMPRESA</a:t>
            </a:r>
          </a:p>
        </p:txBody>
      </p:sp>
      <p:sp>
        <p:nvSpPr>
          <p:cNvPr id="108" name="TIPO DE EMPRESA"/>
          <p:cNvSpPr txBox="1"/>
          <p:nvPr/>
        </p:nvSpPr>
        <p:spPr>
          <a:xfrm>
            <a:off x="1693333" y="2639431"/>
            <a:ext cx="174585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TIPO DE EMPRESA</a:t>
            </a:r>
          </a:p>
        </p:txBody>
      </p:sp>
      <p:sp>
        <p:nvSpPr>
          <p:cNvPr id="109" name="CLIENTE PRINCIPAL"/>
          <p:cNvSpPr txBox="1"/>
          <p:nvPr/>
        </p:nvSpPr>
        <p:spPr>
          <a:xfrm>
            <a:off x="3591586" y="2639431"/>
            <a:ext cx="144330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CLIENTE PRINCIPAL</a:t>
            </a:r>
          </a:p>
        </p:txBody>
      </p:sp>
      <p:sp>
        <p:nvSpPr>
          <p:cNvPr id="110" name="PRECIO / COMISIÓN"/>
          <p:cNvSpPr txBox="1"/>
          <p:nvPr/>
        </p:nvSpPr>
        <p:spPr>
          <a:xfrm>
            <a:off x="5187289" y="2639431"/>
            <a:ext cx="138244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PRECIO / COMISIÓN</a:t>
            </a:r>
          </a:p>
        </p:txBody>
      </p:sp>
      <p:sp>
        <p:nvSpPr>
          <p:cNvPr id="111" name="SOPORTE"/>
          <p:cNvSpPr txBox="1"/>
          <p:nvPr/>
        </p:nvSpPr>
        <p:spPr>
          <a:xfrm>
            <a:off x="6722136" y="2639431"/>
            <a:ext cx="82219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SOPORTE</a:t>
            </a:r>
          </a:p>
        </p:txBody>
      </p:sp>
      <p:sp>
        <p:nvSpPr>
          <p:cNvPr id="112" name="ASIGNACIÓN CERCANÍA"/>
          <p:cNvSpPr txBox="1"/>
          <p:nvPr/>
        </p:nvSpPr>
        <p:spPr>
          <a:xfrm>
            <a:off x="7696729" y="2639431"/>
            <a:ext cx="197789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ASIGNACIÓN CERCANÍA</a:t>
            </a:r>
          </a:p>
        </p:txBody>
      </p:sp>
      <p:sp>
        <p:nvSpPr>
          <p:cNvPr id="113" name="CONFIANZA Y VERIFICACIÓN"/>
          <p:cNvSpPr txBox="1"/>
          <p:nvPr/>
        </p:nvSpPr>
        <p:spPr>
          <a:xfrm>
            <a:off x="9827022" y="2639431"/>
            <a:ext cx="168764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CONFIANZA Y VERIFICACIÓN</a:t>
            </a:r>
          </a:p>
        </p:txBody>
      </p:sp>
      <p:sp>
        <p:nvSpPr>
          <p:cNvPr id="114" name="Reeparando"/>
          <p:cNvSpPr txBox="1"/>
          <p:nvPr/>
        </p:nvSpPr>
        <p:spPr>
          <a:xfrm>
            <a:off x="694267" y="2871188"/>
            <a:ext cx="846667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Reeparando</a:t>
            </a:r>
          </a:p>
        </p:txBody>
      </p:sp>
      <p:sp>
        <p:nvSpPr>
          <p:cNvPr id="115" name="Intermediación con garantía instituc"/>
          <p:cNvSpPr txBox="1"/>
          <p:nvPr/>
        </p:nvSpPr>
        <p:spPr>
          <a:xfrm>
            <a:off x="1693333" y="2871188"/>
            <a:ext cx="1728920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Intermediación con garantía institucional</a:t>
            </a:r>
          </a:p>
        </p:txBody>
      </p:sp>
      <p:sp>
        <p:nvSpPr>
          <p:cNvPr id="116" name="Hogares / pymes"/>
          <p:cNvSpPr txBox="1"/>
          <p:nvPr/>
        </p:nvSpPr>
        <p:spPr>
          <a:xfrm>
            <a:off x="3591586" y="2871188"/>
            <a:ext cx="1443302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Hogares / pymes</a:t>
            </a:r>
          </a:p>
        </p:txBody>
      </p:sp>
      <p:sp>
        <p:nvSpPr>
          <p:cNvPr id="117" name="Comisión 15–25%"/>
          <p:cNvSpPr txBox="1"/>
          <p:nvPr/>
        </p:nvSpPr>
        <p:spPr>
          <a:xfrm>
            <a:off x="5187289" y="2871188"/>
            <a:ext cx="1382448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Comisión 15–25%</a:t>
            </a:r>
          </a:p>
        </p:txBody>
      </p:sp>
      <p:sp>
        <p:nvSpPr>
          <p:cNvPr id="118" name="Email / teléfono"/>
          <p:cNvSpPr txBox="1"/>
          <p:nvPr/>
        </p:nvSpPr>
        <p:spPr>
          <a:xfrm>
            <a:off x="6722136" y="2871188"/>
            <a:ext cx="82219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Email / teléfono</a:t>
            </a:r>
          </a:p>
        </p:txBody>
      </p:sp>
      <p:sp>
        <p:nvSpPr>
          <p:cNvPr id="119" name="No"/>
          <p:cNvSpPr txBox="1"/>
          <p:nvPr/>
        </p:nvSpPr>
        <p:spPr>
          <a:xfrm>
            <a:off x="7696729" y="2871188"/>
            <a:ext cx="197789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No</a:t>
            </a:r>
          </a:p>
        </p:txBody>
      </p:sp>
      <p:sp>
        <p:nvSpPr>
          <p:cNvPr id="120" name="Garantía y respaldo ante fallas"/>
          <p:cNvSpPr txBox="1"/>
          <p:nvPr/>
        </p:nvSpPr>
        <p:spPr>
          <a:xfrm>
            <a:off x="9827022" y="2871188"/>
            <a:ext cx="1687645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Garantía y respaldo ante fallas</a:t>
            </a:r>
          </a:p>
        </p:txBody>
      </p:sp>
      <p:sp>
        <p:nvSpPr>
          <p:cNvPr id="121" name="Zolvers"/>
          <p:cNvSpPr txBox="1"/>
          <p:nvPr/>
        </p:nvSpPr>
        <p:spPr>
          <a:xfrm>
            <a:off x="694267" y="3295315"/>
            <a:ext cx="846667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Zolvers</a:t>
            </a:r>
          </a:p>
        </p:txBody>
      </p:sp>
      <p:sp>
        <p:nvSpPr>
          <p:cNvPr id="122" name="Servicios domésticos verificados"/>
          <p:cNvSpPr txBox="1"/>
          <p:nvPr/>
        </p:nvSpPr>
        <p:spPr>
          <a:xfrm>
            <a:off x="1693333" y="3295315"/>
            <a:ext cx="1745853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Servicios domésticos verificados</a:t>
            </a:r>
          </a:p>
        </p:txBody>
      </p:sp>
      <p:sp>
        <p:nvSpPr>
          <p:cNvPr id="123" name="Hogares"/>
          <p:cNvSpPr txBox="1"/>
          <p:nvPr/>
        </p:nvSpPr>
        <p:spPr>
          <a:xfrm>
            <a:off x="3591586" y="3295315"/>
            <a:ext cx="1443302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Hogares</a:t>
            </a:r>
          </a:p>
        </p:txBody>
      </p:sp>
      <p:sp>
        <p:nvSpPr>
          <p:cNvPr id="124" name="Comisión 10–20%"/>
          <p:cNvSpPr txBox="1"/>
          <p:nvPr/>
        </p:nvSpPr>
        <p:spPr>
          <a:xfrm>
            <a:off x="5187289" y="3295315"/>
            <a:ext cx="1382448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Comisión 10–20%</a:t>
            </a:r>
          </a:p>
        </p:txBody>
      </p:sp>
      <p:sp>
        <p:nvSpPr>
          <p:cNvPr id="125" name="Email / teléfono"/>
          <p:cNvSpPr txBox="1"/>
          <p:nvPr/>
        </p:nvSpPr>
        <p:spPr>
          <a:xfrm>
            <a:off x="6722136" y="3295315"/>
            <a:ext cx="822193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Email / teléfono</a:t>
            </a:r>
          </a:p>
        </p:txBody>
      </p:sp>
      <p:sp>
        <p:nvSpPr>
          <p:cNvPr id="126" name="No"/>
          <p:cNvSpPr txBox="1"/>
          <p:nvPr/>
        </p:nvSpPr>
        <p:spPr>
          <a:xfrm>
            <a:off x="7696729" y="3295315"/>
            <a:ext cx="1977893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No</a:t>
            </a:r>
          </a:p>
        </p:txBody>
      </p:sp>
      <p:sp>
        <p:nvSpPr>
          <p:cNvPr id="127" name="Reputación"/>
          <p:cNvSpPr txBox="1"/>
          <p:nvPr/>
        </p:nvSpPr>
        <p:spPr>
          <a:xfrm>
            <a:off x="9827022" y="3295315"/>
            <a:ext cx="1687645" cy="1750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Reputación</a:t>
            </a:r>
          </a:p>
        </p:txBody>
      </p:sp>
      <p:sp>
        <p:nvSpPr>
          <p:cNvPr id="128" name="IguanaFix"/>
          <p:cNvSpPr txBox="1"/>
          <p:nvPr/>
        </p:nvSpPr>
        <p:spPr>
          <a:xfrm>
            <a:off x="694267" y="3570878"/>
            <a:ext cx="846667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IguanaFix</a:t>
            </a:r>
          </a:p>
        </p:txBody>
      </p:sp>
      <p:sp>
        <p:nvSpPr>
          <p:cNvPr id="129" name="Marketplace con técnicos certificado"/>
          <p:cNvSpPr txBox="1"/>
          <p:nvPr/>
        </p:nvSpPr>
        <p:spPr>
          <a:xfrm>
            <a:off x="1693333" y="3570878"/>
            <a:ext cx="1728920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Marketplace con técnicos certificados</a:t>
            </a:r>
          </a:p>
        </p:txBody>
      </p:sp>
      <p:sp>
        <p:nvSpPr>
          <p:cNvPr id="130" name="Hogares / pymes"/>
          <p:cNvSpPr txBox="1"/>
          <p:nvPr/>
        </p:nvSpPr>
        <p:spPr>
          <a:xfrm>
            <a:off x="3591586" y="3570878"/>
            <a:ext cx="1443302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Hogares / pymes</a:t>
            </a:r>
          </a:p>
        </p:txBody>
      </p:sp>
      <p:sp>
        <p:nvSpPr>
          <p:cNvPr id="131" name="Comisión 15–20%"/>
          <p:cNvSpPr txBox="1"/>
          <p:nvPr/>
        </p:nvSpPr>
        <p:spPr>
          <a:xfrm>
            <a:off x="5187289" y="3570878"/>
            <a:ext cx="1382448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Comisión 15–20%</a:t>
            </a:r>
          </a:p>
        </p:txBody>
      </p:sp>
      <p:sp>
        <p:nvSpPr>
          <p:cNvPr id="132" name="Email / app"/>
          <p:cNvSpPr txBox="1"/>
          <p:nvPr/>
        </p:nvSpPr>
        <p:spPr>
          <a:xfrm>
            <a:off x="6722136" y="3570878"/>
            <a:ext cx="82219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Email / app</a:t>
            </a:r>
          </a:p>
        </p:txBody>
      </p:sp>
      <p:sp>
        <p:nvSpPr>
          <p:cNvPr id="133" name="Asignación manual limitada"/>
          <p:cNvSpPr txBox="1"/>
          <p:nvPr/>
        </p:nvSpPr>
        <p:spPr>
          <a:xfrm>
            <a:off x="7696729" y="3570878"/>
            <a:ext cx="197789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Asignación manual limitada</a:t>
            </a:r>
          </a:p>
        </p:txBody>
      </p:sp>
      <p:sp>
        <p:nvSpPr>
          <p:cNvPr id="134" name="Técnicos verificados y reputación di"/>
          <p:cNvSpPr txBox="1"/>
          <p:nvPr/>
        </p:nvSpPr>
        <p:spPr>
          <a:xfrm>
            <a:off x="9827022" y="3570878"/>
            <a:ext cx="1670711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Técnicos verificados y reputación digital</a:t>
            </a:r>
          </a:p>
        </p:txBody>
      </p:sp>
      <p:sp>
        <p:nvSpPr>
          <p:cNvPr id="135" name="TaskRabbit"/>
          <p:cNvSpPr txBox="1"/>
          <p:nvPr/>
        </p:nvSpPr>
        <p:spPr>
          <a:xfrm>
            <a:off x="694267" y="3995006"/>
            <a:ext cx="846667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TaskRabbit</a:t>
            </a:r>
          </a:p>
        </p:txBody>
      </p:sp>
      <p:sp>
        <p:nvSpPr>
          <p:cNvPr id="136" name="Plataforma internacional end-to-end"/>
          <p:cNvSpPr txBox="1"/>
          <p:nvPr/>
        </p:nvSpPr>
        <p:spPr>
          <a:xfrm>
            <a:off x="1693333" y="3995006"/>
            <a:ext cx="1728920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Plataforma internacional end-to-end</a:t>
            </a:r>
          </a:p>
        </p:txBody>
      </p:sp>
      <p:sp>
        <p:nvSpPr>
          <p:cNvPr id="137" name="Usuarios globales"/>
          <p:cNvSpPr txBox="1"/>
          <p:nvPr/>
        </p:nvSpPr>
        <p:spPr>
          <a:xfrm>
            <a:off x="3591586" y="3995006"/>
            <a:ext cx="1443302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Usuarios globales</a:t>
            </a:r>
          </a:p>
        </p:txBody>
      </p:sp>
      <p:sp>
        <p:nvSpPr>
          <p:cNvPr id="138" name="Service fee 5–10% + trust 15%"/>
          <p:cNvSpPr txBox="1"/>
          <p:nvPr/>
        </p:nvSpPr>
        <p:spPr>
          <a:xfrm>
            <a:off x="5187289" y="3995006"/>
            <a:ext cx="1365515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Service fee 5–10% + trust 15%</a:t>
            </a:r>
          </a:p>
        </p:txBody>
      </p:sp>
      <p:sp>
        <p:nvSpPr>
          <p:cNvPr id="139" name="App / chat"/>
          <p:cNvSpPr txBox="1"/>
          <p:nvPr/>
        </p:nvSpPr>
        <p:spPr>
          <a:xfrm>
            <a:off x="6722136" y="3995006"/>
            <a:ext cx="82219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App / chat</a:t>
            </a:r>
          </a:p>
        </p:txBody>
      </p:sp>
      <p:sp>
        <p:nvSpPr>
          <p:cNvPr id="140" name="Matching avanzado por cercanía y tip"/>
          <p:cNvSpPr txBox="1"/>
          <p:nvPr/>
        </p:nvSpPr>
        <p:spPr>
          <a:xfrm>
            <a:off x="7696729" y="3995006"/>
            <a:ext cx="1960959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Matching avanzado por cercanía y tipo de tarea</a:t>
            </a:r>
          </a:p>
        </p:txBody>
      </p:sp>
      <p:sp>
        <p:nvSpPr>
          <p:cNvPr id="141" name="Modelo confiable y verificado"/>
          <p:cNvSpPr txBox="1"/>
          <p:nvPr/>
        </p:nvSpPr>
        <p:spPr>
          <a:xfrm>
            <a:off x="9827022" y="3995006"/>
            <a:ext cx="1687645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"/>
                <a:cs typeface="IBM Plex Sans"/>
                <a:ea typeface="IBM Plex Sans"/>
              </a:rPr>
              <a:t>Modelo confiable y verificado</a:t>
            </a:r>
          </a:p>
        </p:txBody>
      </p:sp>
      <p:sp>
        <p:nvSpPr>
          <p:cNvPr id="142" name="OFIX"/>
          <p:cNvSpPr txBox="1"/>
          <p:nvPr/>
        </p:nvSpPr>
        <p:spPr>
          <a:xfrm>
            <a:off x="694267" y="4419133"/>
            <a:ext cx="846667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1B54D6"/>
                </a:solidFill>
                <a:latin typeface="IBM Plex Sans Bold"/>
                <a:cs typeface="IBM Plex Sans Bold"/>
                <a:ea typeface="IBM Plex Sans Bold"/>
              </a:rPr>
              <a:t>OFIX</a:t>
            </a:r>
          </a:p>
        </p:txBody>
      </p:sp>
      <p:sp>
        <p:nvSpPr>
          <p:cNvPr id="143" name="Plataforma de oficios verificados"/>
          <p:cNvSpPr txBox="1"/>
          <p:nvPr/>
        </p:nvSpPr>
        <p:spPr>
          <a:xfrm>
            <a:off x="1693333" y="4419133"/>
            <a:ext cx="174585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Plataforma de oficios verificados</a:t>
            </a:r>
          </a:p>
        </p:txBody>
      </p:sp>
      <p:sp>
        <p:nvSpPr>
          <p:cNvPr id="144" name="Hogares / pymes gastronómicas"/>
          <p:cNvSpPr txBox="1"/>
          <p:nvPr/>
        </p:nvSpPr>
        <p:spPr>
          <a:xfrm>
            <a:off x="3591586" y="4419133"/>
            <a:ext cx="1426369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Hogares / pymes gastronómicas</a:t>
            </a:r>
          </a:p>
        </p:txBody>
      </p:sp>
      <p:sp>
        <p:nvSpPr>
          <p:cNvPr id="145" name="Comisión por transacción: 20%"/>
          <p:cNvSpPr txBox="1"/>
          <p:nvPr/>
        </p:nvSpPr>
        <p:spPr>
          <a:xfrm>
            <a:off x="5187289" y="4419133"/>
            <a:ext cx="1365515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Comisión por transacción: 20%</a:t>
            </a:r>
          </a:p>
        </p:txBody>
      </p:sp>
      <p:sp>
        <p:nvSpPr>
          <p:cNvPr id="146" name="Chat interno / app"/>
          <p:cNvSpPr txBox="1"/>
          <p:nvPr/>
        </p:nvSpPr>
        <p:spPr>
          <a:xfrm>
            <a:off x="6722136" y="4419133"/>
            <a:ext cx="805259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Chat interno / app</a:t>
            </a:r>
          </a:p>
        </p:txBody>
      </p:sp>
      <p:sp>
        <p:nvSpPr>
          <p:cNvPr id="147" name="Geolocalización integrada"/>
          <p:cNvSpPr txBox="1"/>
          <p:nvPr/>
        </p:nvSpPr>
        <p:spPr>
          <a:xfrm>
            <a:off x="7696729" y="4419133"/>
            <a:ext cx="197789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Geolocalización integrada</a:t>
            </a:r>
          </a:p>
        </p:txBody>
      </p:sp>
      <p:sp>
        <p:nvSpPr>
          <p:cNvPr id="148" name="Verificación de identidad + reputaci"/>
          <p:cNvSpPr txBox="1"/>
          <p:nvPr/>
        </p:nvSpPr>
        <p:spPr>
          <a:xfrm>
            <a:off x="9827022" y="4419133"/>
            <a:ext cx="1670711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Verificación de identidad + reputación</a:t>
            </a:r>
          </a:p>
        </p:txBody>
      </p:sp>
      <p:sp>
        <p:nvSpPr>
          <p:cNvPr id="149" name="Plataformas informales"/>
          <p:cNvSpPr txBox="1"/>
          <p:nvPr/>
        </p:nvSpPr>
        <p:spPr>
          <a:xfrm>
            <a:off x="694267" y="4843260"/>
            <a:ext cx="829733" cy="32364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 SemiBold"/>
                <a:cs typeface="IBM Plex Sans SemiBold"/>
                <a:ea typeface="IBM Plex Sans SemiBold"/>
              </a:rPr>
              <a:t>Plataformas informales</a:t>
            </a:r>
          </a:p>
        </p:txBody>
      </p:sp>
      <p:sp>
        <p:nvSpPr>
          <p:cNvPr id="150" name="Publicaciones espontáneas"/>
          <p:cNvSpPr txBox="1"/>
          <p:nvPr/>
        </p:nvSpPr>
        <p:spPr>
          <a:xfrm>
            <a:off x="1693333" y="4843260"/>
            <a:ext cx="174585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Publicaciones espontáneas</a:t>
            </a:r>
          </a:p>
        </p:txBody>
      </p:sp>
      <p:sp>
        <p:nvSpPr>
          <p:cNvPr id="151" name="Público general"/>
          <p:cNvSpPr txBox="1"/>
          <p:nvPr/>
        </p:nvSpPr>
        <p:spPr>
          <a:xfrm>
            <a:off x="3591586" y="4843260"/>
            <a:ext cx="1443302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Público general</a:t>
            </a:r>
          </a:p>
        </p:txBody>
      </p:sp>
      <p:sp>
        <p:nvSpPr>
          <p:cNvPr id="152" name="Gratuito"/>
          <p:cNvSpPr txBox="1"/>
          <p:nvPr/>
        </p:nvSpPr>
        <p:spPr>
          <a:xfrm>
            <a:off x="5187289" y="4843260"/>
            <a:ext cx="1382448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Gratuito</a:t>
            </a:r>
          </a:p>
        </p:txBody>
      </p:sp>
      <p:sp>
        <p:nvSpPr>
          <p:cNvPr id="153" name="Ninguno"/>
          <p:cNvSpPr txBox="1"/>
          <p:nvPr/>
        </p:nvSpPr>
        <p:spPr>
          <a:xfrm>
            <a:off x="6722136" y="4843260"/>
            <a:ext cx="82219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Ninguno</a:t>
            </a:r>
          </a:p>
        </p:txBody>
      </p:sp>
      <p:sp>
        <p:nvSpPr>
          <p:cNvPr id="154" name="No"/>
          <p:cNvSpPr txBox="1"/>
          <p:nvPr/>
        </p:nvSpPr>
        <p:spPr>
          <a:xfrm>
            <a:off x="7696729" y="4843260"/>
            <a:ext cx="1977893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No</a:t>
            </a:r>
          </a:p>
        </p:txBody>
      </p:sp>
      <p:sp>
        <p:nvSpPr>
          <p:cNvPr id="155" name="Sin verificación ni reputación"/>
          <p:cNvSpPr txBox="1"/>
          <p:nvPr/>
        </p:nvSpPr>
        <p:spPr>
          <a:xfrm>
            <a:off x="9827022" y="4843260"/>
            <a:ext cx="1687645" cy="32364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Sin verificación ni reputación</a:t>
            </a:r>
          </a:p>
        </p:txBody>
      </p:sp>
      <p:sp>
        <p:nvSpPr>
          <p:cNvPr id="156" name="4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53424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2133600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2447660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2761721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075781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" y="3389842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09600" y="3703902"/>
            <a:ext cx="42333" cy="42333"/>
          </a:xfrm>
          <a:prstGeom prst="ellipse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239933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239933" y="1574800"/>
            <a:ext cx="53424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39933" y="2133600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239933" y="2447660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239933" y="276172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6239933" y="307578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ANÁLISIS FODA"/>
          <p:cNvSpPr txBox="1"/>
          <p:nvPr/>
        </p:nvSpPr>
        <p:spPr>
          <a:xfrm>
            <a:off x="609600" y="457120"/>
            <a:ext cx="2592388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ANÁLISIS FODA</a:t>
            </a:r>
          </a:p>
        </p:txBody>
      </p:sp>
      <p:sp>
        <p:nvSpPr>
          <p:cNvPr id="20" name="Fortalezas y debilidades · análisis "/>
          <p:cNvSpPr txBox="1"/>
          <p:nvPr/>
        </p:nvSpPr>
        <p:spPr>
          <a:xfrm>
            <a:off x="609600" y="844871"/>
            <a:ext cx="2592388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Fortalezas y debilidades · análisis interno</a:t>
            </a:r>
          </a:p>
        </p:txBody>
      </p:sp>
      <p:sp>
        <p:nvSpPr>
          <p:cNvPr id="2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3" name="FORTALEZAS"/>
          <p:cNvSpPr txBox="1"/>
          <p:nvPr/>
        </p:nvSpPr>
        <p:spPr>
          <a:xfrm>
            <a:off x="609600" y="1789197"/>
            <a:ext cx="53594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FORTALEZAS</a:t>
            </a:r>
          </a:p>
        </p:txBody>
      </p:sp>
      <p:sp>
        <p:nvSpPr>
          <p:cNvPr id="24" name="Geolocalización con Google Maps"/>
          <p:cNvSpPr txBox="1"/>
          <p:nvPr/>
        </p:nvSpPr>
        <p:spPr>
          <a:xfrm>
            <a:off x="753533" y="2057609"/>
            <a:ext cx="2110317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Geolocalización con Google Maps</a:t>
            </a:r>
          </a:p>
        </p:txBody>
      </p:sp>
      <p:sp>
        <p:nvSpPr>
          <p:cNvPr id="25" name="Verificación de identidad y reputaci"/>
          <p:cNvSpPr txBox="1"/>
          <p:nvPr/>
        </p:nvSpPr>
        <p:spPr>
          <a:xfrm>
            <a:off x="753533" y="2371669"/>
            <a:ext cx="2373577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Verificación de identidad y reputación</a:t>
            </a:r>
          </a:p>
        </p:txBody>
      </p:sp>
      <p:sp>
        <p:nvSpPr>
          <p:cNvPr id="26" name="Modelo de respaldo y seguro premium "/>
          <p:cNvSpPr txBox="1"/>
          <p:nvPr/>
        </p:nvSpPr>
        <p:spPr>
          <a:xfrm>
            <a:off x="753533" y="2685730"/>
            <a:ext cx="2953147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Modelo de respaldo y seguro premium previsto</a:t>
            </a:r>
          </a:p>
        </p:txBody>
      </p:sp>
      <p:sp>
        <p:nvSpPr>
          <p:cNvPr id="27" name="UX simple y moderna"/>
          <p:cNvSpPr txBox="1"/>
          <p:nvPr/>
        </p:nvSpPr>
        <p:spPr>
          <a:xfrm>
            <a:off x="753533" y="2999790"/>
            <a:ext cx="1349772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UX simple y moderna</a:t>
            </a:r>
          </a:p>
        </p:txBody>
      </p:sp>
      <p:sp>
        <p:nvSpPr>
          <p:cNvPr id="28" name="Pagos digitales transparentes"/>
          <p:cNvSpPr txBox="1"/>
          <p:nvPr/>
        </p:nvSpPr>
        <p:spPr>
          <a:xfrm>
            <a:off x="753533" y="3313850"/>
            <a:ext cx="1868223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Pagos digitales transparentes</a:t>
            </a:r>
          </a:p>
        </p:txBody>
      </p:sp>
      <p:sp>
        <p:nvSpPr>
          <p:cNvPr id="29" name="Profesionalización del trabajo infor"/>
          <p:cNvSpPr txBox="1"/>
          <p:nvPr/>
        </p:nvSpPr>
        <p:spPr>
          <a:xfrm>
            <a:off x="753533" y="3627911"/>
            <a:ext cx="2420673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Profesionalización del trabajo informal</a:t>
            </a:r>
          </a:p>
        </p:txBody>
      </p:sp>
      <p:sp>
        <p:nvSpPr>
          <p:cNvPr id="30" name="DEBILIDADES"/>
          <p:cNvSpPr txBox="1"/>
          <p:nvPr/>
        </p:nvSpPr>
        <p:spPr>
          <a:xfrm>
            <a:off x="6239933" y="1789197"/>
            <a:ext cx="53594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DEBILIDADES</a:t>
            </a:r>
          </a:p>
        </p:txBody>
      </p:sp>
      <p:sp>
        <p:nvSpPr>
          <p:cNvPr id="31" name="Recursos limitados para marketing y "/>
          <p:cNvSpPr txBox="1"/>
          <p:nvPr/>
        </p:nvSpPr>
        <p:spPr>
          <a:xfrm>
            <a:off x="6383867" y="2057609"/>
            <a:ext cx="2807758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Recursos limitados para marketing y soporte</a:t>
            </a:r>
          </a:p>
        </p:txBody>
      </p:sp>
      <p:sp>
        <p:nvSpPr>
          <p:cNvPr id="32" name="Dificultad para lograr masa crítica "/>
          <p:cNvSpPr txBox="1"/>
          <p:nvPr/>
        </p:nvSpPr>
        <p:spPr>
          <a:xfrm>
            <a:off x="6383867" y="2371669"/>
            <a:ext cx="2520289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Dificultad para lograr masa crítica inicial</a:t>
            </a:r>
          </a:p>
        </p:txBody>
      </p:sp>
      <p:sp>
        <p:nvSpPr>
          <p:cNvPr id="33" name="Costos y complejidad en procesos de "/>
          <p:cNvSpPr txBox="1"/>
          <p:nvPr/>
        </p:nvSpPr>
        <p:spPr>
          <a:xfrm>
            <a:off x="6383867" y="2685730"/>
            <a:ext cx="3714353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y complejidad en procesos de verificación y seguros</a:t>
            </a:r>
          </a:p>
        </p:txBody>
      </p:sp>
      <p:sp>
        <p:nvSpPr>
          <p:cNvPr id="34" name="Escasa notoriedad de marca"/>
          <p:cNvSpPr txBox="1"/>
          <p:nvPr/>
        </p:nvSpPr>
        <p:spPr>
          <a:xfrm>
            <a:off x="6383867" y="2999790"/>
            <a:ext cx="1786467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Escasa notoriedad de marca</a:t>
            </a:r>
          </a:p>
        </p:txBody>
      </p:sp>
      <p:sp>
        <p:nvSpPr>
          <p:cNvPr id="35" name="4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1574800"/>
            <a:ext cx="53424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2133600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2447660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276172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07578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" y="338984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6239933" y="1574800"/>
            <a:ext cx="5342467" cy="4690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239933" y="1574800"/>
            <a:ext cx="5342467" cy="25400"/>
          </a:xfrm>
          <a:prstGeom prst="rect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239933" y="2133600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39933" y="2424774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239933" y="2715948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239933" y="3007122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6239933" y="3298296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239933" y="3589470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239933" y="3880644"/>
            <a:ext cx="42333" cy="42333"/>
          </a:xfrm>
          <a:prstGeom prst="ellipse">
            <a:avLst/>
          </a:prstGeom>
          <a:solidFill>
            <a:srgbClr val="7A87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ANÁLISIS FODA"/>
          <p:cNvSpPr txBox="1"/>
          <p:nvPr/>
        </p:nvSpPr>
        <p:spPr>
          <a:xfrm>
            <a:off x="609600" y="457120"/>
            <a:ext cx="284440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ANÁLISIS FODA</a:t>
            </a:r>
          </a:p>
        </p:txBody>
      </p:sp>
      <p:sp>
        <p:nvSpPr>
          <p:cNvPr id="22" name="Oportunidades y amenazas · análisis "/>
          <p:cNvSpPr txBox="1"/>
          <p:nvPr/>
        </p:nvSpPr>
        <p:spPr>
          <a:xfrm>
            <a:off x="609600" y="844871"/>
            <a:ext cx="2844403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Oportunidades y amenazas · análisis externo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5" name="OPORTUNIDADES"/>
          <p:cNvSpPr txBox="1"/>
          <p:nvPr/>
        </p:nvSpPr>
        <p:spPr>
          <a:xfrm>
            <a:off x="609600" y="1789197"/>
            <a:ext cx="53594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OPORTUNIDADES</a:t>
            </a:r>
          </a:p>
        </p:txBody>
      </p:sp>
      <p:sp>
        <p:nvSpPr>
          <p:cNvPr id="26" name="Crecimiento del mercado digital"/>
          <p:cNvSpPr txBox="1"/>
          <p:nvPr/>
        </p:nvSpPr>
        <p:spPr>
          <a:xfrm>
            <a:off x="753533" y="2057609"/>
            <a:ext cx="2010040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Crecimiento del mercado digital</a:t>
            </a:r>
          </a:p>
        </p:txBody>
      </p:sp>
      <p:sp>
        <p:nvSpPr>
          <p:cNvPr id="27" name="Alta informalidad del sector"/>
          <p:cNvSpPr txBox="1"/>
          <p:nvPr/>
        </p:nvSpPr>
        <p:spPr>
          <a:xfrm>
            <a:off x="753533" y="2371669"/>
            <a:ext cx="1749690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Alta informalidad del sector</a:t>
            </a:r>
          </a:p>
        </p:txBody>
      </p:sp>
      <p:sp>
        <p:nvSpPr>
          <p:cNvPr id="28" name="Mayor confianza en pagos electrónico"/>
          <p:cNvSpPr txBox="1"/>
          <p:nvPr/>
        </p:nvSpPr>
        <p:spPr>
          <a:xfrm>
            <a:off x="753533" y="2685730"/>
            <a:ext cx="2434696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Mayor confianza en pagos electrónicos</a:t>
            </a:r>
          </a:p>
        </p:txBody>
      </p:sp>
      <p:sp>
        <p:nvSpPr>
          <p:cNvPr id="29" name="Alianzas con aseguradoras y entidade"/>
          <p:cNvSpPr txBox="1"/>
          <p:nvPr/>
        </p:nvSpPr>
        <p:spPr>
          <a:xfrm>
            <a:off x="753533" y="2999790"/>
            <a:ext cx="3161374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Alianzas con aseguradoras y entidades financieras</a:t>
            </a:r>
          </a:p>
        </p:txBody>
      </p:sp>
      <p:sp>
        <p:nvSpPr>
          <p:cNvPr id="30" name="Expansión regional en Argentina, Uru"/>
          <p:cNvSpPr txBox="1"/>
          <p:nvPr/>
        </p:nvSpPr>
        <p:spPr>
          <a:xfrm>
            <a:off x="753533" y="3313850"/>
            <a:ext cx="3075649" cy="2118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Expansión regional en Argentina, Uruguay y Chile</a:t>
            </a:r>
          </a:p>
        </p:txBody>
      </p:sp>
      <p:sp>
        <p:nvSpPr>
          <p:cNvPr id="31" name="AMENAZAS"/>
          <p:cNvSpPr txBox="1"/>
          <p:nvPr/>
        </p:nvSpPr>
        <p:spPr>
          <a:xfrm>
            <a:off x="6239933" y="1789197"/>
            <a:ext cx="53594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AMENAZAS</a:t>
            </a:r>
          </a:p>
        </p:txBody>
      </p:sp>
      <p:sp>
        <p:nvSpPr>
          <p:cNvPr id="32" name="Competencia consolidada (Zolvers, Ho"/>
          <p:cNvSpPr txBox="1"/>
          <p:nvPr/>
        </p:nvSpPr>
        <p:spPr>
          <a:xfrm>
            <a:off x="6383867" y="2065812"/>
            <a:ext cx="3088614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Competencia consolidada (Zolvers, HomeSolution)</a:t>
            </a:r>
          </a:p>
        </p:txBody>
      </p:sp>
      <p:sp>
        <p:nvSpPr>
          <p:cNvPr id="33" name="Competencia informal (Facebook, What"/>
          <p:cNvSpPr txBox="1"/>
          <p:nvPr/>
        </p:nvSpPr>
        <p:spPr>
          <a:xfrm>
            <a:off x="6383867" y="2356986"/>
            <a:ext cx="2764499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Competencia informal (Facebook, WhatsApp)</a:t>
            </a:r>
          </a:p>
        </p:txBody>
      </p:sp>
      <p:sp>
        <p:nvSpPr>
          <p:cNvPr id="34" name="Resistencia a la formalización"/>
          <p:cNvSpPr txBox="1"/>
          <p:nvPr/>
        </p:nvSpPr>
        <p:spPr>
          <a:xfrm>
            <a:off x="6383867" y="2648160"/>
            <a:ext cx="1811205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Resistencia a la formalización</a:t>
            </a:r>
          </a:p>
        </p:txBody>
      </p:sp>
      <p:sp>
        <p:nvSpPr>
          <p:cNvPr id="35" name="Inestabilidad económica e inflación"/>
          <p:cNvSpPr txBox="1"/>
          <p:nvPr/>
        </p:nvSpPr>
        <p:spPr>
          <a:xfrm>
            <a:off x="6383867" y="2939334"/>
            <a:ext cx="2171965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Inestabilidad económica e inflación</a:t>
            </a:r>
          </a:p>
        </p:txBody>
      </p:sp>
      <p:sp>
        <p:nvSpPr>
          <p:cNvPr id="36" name="Cambios regulatorios"/>
          <p:cNvSpPr txBox="1"/>
          <p:nvPr/>
        </p:nvSpPr>
        <p:spPr>
          <a:xfrm>
            <a:off x="6383867" y="3230508"/>
            <a:ext cx="1306777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Cambios regulatorios</a:t>
            </a:r>
          </a:p>
        </p:txBody>
      </p:sp>
      <p:sp>
        <p:nvSpPr>
          <p:cNvPr id="37" name="Regulación laboral más estricta o im"/>
          <p:cNvSpPr txBox="1"/>
          <p:nvPr/>
        </p:nvSpPr>
        <p:spPr>
          <a:xfrm>
            <a:off x="6383867" y="3521682"/>
            <a:ext cx="2686315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Regulación laboral más estricta o impositiva</a:t>
            </a:r>
          </a:p>
        </p:txBody>
      </p:sp>
      <p:sp>
        <p:nvSpPr>
          <p:cNvPr id="38" name="Posible ingreso de actores internaci"/>
          <p:cNvSpPr txBox="1"/>
          <p:nvPr/>
        </p:nvSpPr>
        <p:spPr>
          <a:xfrm>
            <a:off x="6383867" y="3812856"/>
            <a:ext cx="2578497" cy="1946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Posible ingreso de actores internacionales</a:t>
            </a:r>
          </a:p>
        </p:txBody>
      </p:sp>
      <p:sp>
        <p:nvSpPr>
          <p:cNvPr id="39" name="4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5" name="SPRINT 4"/>
          <p:cNvSpPr txBox="1"/>
          <p:nvPr/>
        </p:nvSpPr>
        <p:spPr>
          <a:xfrm>
            <a:off x="4151577" y="3148499"/>
            <a:ext cx="3905779" cy="8878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670" spc="-333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SPRINT 4</a:t>
            </a:r>
          </a:p>
        </p:txBody>
      </p:sp>
      <p:sp>
        <p:nvSpPr>
          <p:cNvPr id="6" name="4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15658"/>
            <a:ext cx="2794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7400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3403600" y="2515658"/>
            <a:ext cx="111349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3403600" y="27400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517099" y="2515658"/>
            <a:ext cx="122872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517099" y="27400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5745824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5745824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204869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7204869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8663914" y="2515658"/>
            <a:ext cx="145904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8663914" y="27400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10122958" y="2515658"/>
            <a:ext cx="145944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10122958" y="27400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2748492"/>
            <a:ext cx="2794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30109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3403600" y="2748492"/>
            <a:ext cx="111349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3403600" y="30109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4517099" y="2748492"/>
            <a:ext cx="122872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4517099" y="30109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5745824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5745824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7204869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7204869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8663914" y="2748492"/>
            <a:ext cx="1459045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8663914" y="30109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ja"/>
          <p:cNvSpPr/>
          <p:nvPr/>
        </p:nvSpPr>
        <p:spPr>
          <a:xfrm>
            <a:off x="10122958" y="2748492"/>
            <a:ext cx="145944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10122958" y="30109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3019425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3281892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3403600" y="3019425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3403600" y="3281892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4517099" y="3019425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4517099" y="3281892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5745824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5745824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7204869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7204869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8663914" y="3019425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8663914" y="3281892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10122958" y="3019425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10122958" y="3281892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3290358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3552825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3403600" y="3290358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3403600" y="3552825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4517099" y="3290358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4517099" y="3552825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5745824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5745824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7204869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7204869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8663914" y="3290358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8663914" y="3552825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10122958" y="3290358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10122958" y="3552825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3561292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38237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3403600" y="3561292"/>
            <a:ext cx="111349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3403600" y="38237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4517099" y="3561292"/>
            <a:ext cx="122872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4517099" y="38237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5745824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5745824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7204869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7204869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8663914" y="3561292"/>
            <a:ext cx="145904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8663914" y="38237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10122958" y="3561292"/>
            <a:ext cx="145944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10122958" y="38237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609600" y="38322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top"/>
          <p:cNvSpPr/>
          <p:nvPr/>
        </p:nvSpPr>
        <p:spPr>
          <a:xfrm>
            <a:off x="609600" y="38322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3403600" y="38322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top"/>
          <p:cNvSpPr/>
          <p:nvPr/>
        </p:nvSpPr>
        <p:spPr>
          <a:xfrm>
            <a:off x="3403600" y="38322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4517099" y="38322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top"/>
          <p:cNvSpPr/>
          <p:nvPr/>
        </p:nvSpPr>
        <p:spPr>
          <a:xfrm>
            <a:off x="4517099" y="38322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5745824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top"/>
          <p:cNvSpPr/>
          <p:nvPr/>
        </p:nvSpPr>
        <p:spPr>
          <a:xfrm>
            <a:off x="5745824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7204869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top"/>
          <p:cNvSpPr/>
          <p:nvPr/>
        </p:nvSpPr>
        <p:spPr>
          <a:xfrm>
            <a:off x="7204869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8663914" y="38322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top"/>
          <p:cNvSpPr/>
          <p:nvPr/>
        </p:nvSpPr>
        <p:spPr>
          <a:xfrm>
            <a:off x="8663914" y="38322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10122958" y="38322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top"/>
          <p:cNvSpPr/>
          <p:nvPr/>
        </p:nvSpPr>
        <p:spPr>
          <a:xfrm>
            <a:off x="10122958" y="38322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40989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4357158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3403600" y="40989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3403600" y="4357158"/>
            <a:ext cx="111349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4517099" y="40989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4517099" y="4357158"/>
            <a:ext cx="122872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5745824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5745824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7204869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7204869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8663914" y="40989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8663914" y="4357158"/>
            <a:ext cx="145904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10122958" y="40989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bottom"/>
          <p:cNvSpPr/>
          <p:nvPr/>
        </p:nvSpPr>
        <p:spPr>
          <a:xfrm>
            <a:off x="10122958" y="4357158"/>
            <a:ext cx="145944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609600" y="4365625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top"/>
          <p:cNvSpPr/>
          <p:nvPr/>
        </p:nvSpPr>
        <p:spPr>
          <a:xfrm>
            <a:off x="609600" y="4365625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3403600" y="4365625"/>
            <a:ext cx="111349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top"/>
          <p:cNvSpPr/>
          <p:nvPr/>
        </p:nvSpPr>
        <p:spPr>
          <a:xfrm>
            <a:off x="3403600" y="4365625"/>
            <a:ext cx="111349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4517099" y="4365625"/>
            <a:ext cx="122872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top"/>
          <p:cNvSpPr/>
          <p:nvPr/>
        </p:nvSpPr>
        <p:spPr>
          <a:xfrm>
            <a:off x="4517099" y="4365625"/>
            <a:ext cx="122872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5745824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top"/>
          <p:cNvSpPr/>
          <p:nvPr/>
        </p:nvSpPr>
        <p:spPr>
          <a:xfrm>
            <a:off x="5745824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7204869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top"/>
          <p:cNvSpPr/>
          <p:nvPr/>
        </p:nvSpPr>
        <p:spPr>
          <a:xfrm>
            <a:off x="7204869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rco"/>
          <p:cNvSpPr/>
          <p:nvPr/>
        </p:nvSpPr>
        <p:spPr>
          <a:xfrm>
            <a:off x="8663914" y="4365625"/>
            <a:ext cx="145904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borde top"/>
          <p:cNvSpPr/>
          <p:nvPr/>
        </p:nvSpPr>
        <p:spPr>
          <a:xfrm>
            <a:off x="8663914" y="4365625"/>
            <a:ext cx="145904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rco"/>
          <p:cNvSpPr/>
          <p:nvPr/>
        </p:nvSpPr>
        <p:spPr>
          <a:xfrm>
            <a:off x="10122958" y="4365625"/>
            <a:ext cx="145944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rde top"/>
          <p:cNvSpPr/>
          <p:nvPr/>
        </p:nvSpPr>
        <p:spPr>
          <a:xfrm>
            <a:off x="10122958" y="4365625"/>
            <a:ext cx="145944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caja"/>
          <p:cNvSpPr/>
          <p:nvPr/>
        </p:nvSpPr>
        <p:spPr>
          <a:xfrm>
            <a:off x="609600" y="4886325"/>
            <a:ext cx="10972800" cy="455083"/>
          </a:xfrm>
          <a:prstGeom prst="roundRect">
            <a:avLst>
              <a:gd name="adj" fmla="val 74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Estado de Resultados"/>
          <p:cNvSpPr txBox="1"/>
          <p:nvPr/>
        </p:nvSpPr>
        <p:spPr>
          <a:xfrm>
            <a:off x="609600" y="457120"/>
            <a:ext cx="333573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Estado de Resultados</a:t>
            </a:r>
          </a:p>
        </p:txBody>
      </p:sp>
      <p:sp>
        <p:nvSpPr>
          <p:cNvPr id="119" name="EN DÓLARES"/>
          <p:cNvSpPr txBox="1"/>
          <p:nvPr/>
        </p:nvSpPr>
        <p:spPr>
          <a:xfrm>
            <a:off x="609600" y="866330"/>
            <a:ext cx="333573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EN DÓLARES</a:t>
            </a:r>
          </a:p>
        </p:txBody>
      </p:sp>
      <p:sp>
        <p:nvSpPr>
          <p:cNvPr id="12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2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22" name="AÑO 0"/>
          <p:cNvSpPr txBox="1"/>
          <p:nvPr/>
        </p:nvSpPr>
        <p:spPr>
          <a:xfrm>
            <a:off x="3471333" y="2577122"/>
            <a:ext cx="96109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0</a:t>
            </a:r>
          </a:p>
        </p:txBody>
      </p:sp>
      <p:sp>
        <p:nvSpPr>
          <p:cNvPr id="123" name="AÑO 1"/>
          <p:cNvSpPr txBox="1"/>
          <p:nvPr/>
        </p:nvSpPr>
        <p:spPr>
          <a:xfrm>
            <a:off x="4584832" y="2577122"/>
            <a:ext cx="107632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124" name="AÑO 2"/>
          <p:cNvSpPr txBox="1"/>
          <p:nvPr/>
        </p:nvSpPr>
        <p:spPr>
          <a:xfrm>
            <a:off x="5813557" y="2577122"/>
            <a:ext cx="130664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125" name="AÑO 3"/>
          <p:cNvSpPr txBox="1"/>
          <p:nvPr/>
        </p:nvSpPr>
        <p:spPr>
          <a:xfrm>
            <a:off x="7272602" y="2577122"/>
            <a:ext cx="130664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126" name="AÑO 4"/>
          <p:cNvSpPr txBox="1"/>
          <p:nvPr/>
        </p:nvSpPr>
        <p:spPr>
          <a:xfrm>
            <a:off x="8731647" y="2577122"/>
            <a:ext cx="130664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127" name="AÑO 5"/>
          <p:cNvSpPr txBox="1"/>
          <p:nvPr/>
        </p:nvSpPr>
        <p:spPr>
          <a:xfrm>
            <a:off x="10190692" y="2577122"/>
            <a:ext cx="130704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128" name="Ingresos netos"/>
          <p:cNvSpPr txBox="1"/>
          <p:nvPr/>
        </p:nvSpPr>
        <p:spPr>
          <a:xfrm>
            <a:off x="694267" y="2811630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netos</a:t>
            </a:r>
          </a:p>
        </p:txBody>
      </p:sp>
      <p:sp>
        <p:nvSpPr>
          <p:cNvPr id="129" name="—"/>
          <p:cNvSpPr txBox="1"/>
          <p:nvPr/>
        </p:nvSpPr>
        <p:spPr>
          <a:xfrm>
            <a:off x="3471333" y="2812621"/>
            <a:ext cx="96109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30" name="693.651"/>
          <p:cNvSpPr txBox="1"/>
          <p:nvPr/>
        </p:nvSpPr>
        <p:spPr>
          <a:xfrm>
            <a:off x="4584832" y="2812621"/>
            <a:ext cx="10763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693.651</a:t>
            </a:r>
          </a:p>
        </p:txBody>
      </p:sp>
      <p:sp>
        <p:nvSpPr>
          <p:cNvPr id="131" name="1.163.246"/>
          <p:cNvSpPr txBox="1"/>
          <p:nvPr/>
        </p:nvSpPr>
        <p:spPr>
          <a:xfrm>
            <a:off x="5813557" y="2812621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1.163.246</a:t>
            </a:r>
          </a:p>
        </p:txBody>
      </p:sp>
      <p:sp>
        <p:nvSpPr>
          <p:cNvPr id="132" name="2.907.770"/>
          <p:cNvSpPr txBox="1"/>
          <p:nvPr/>
        </p:nvSpPr>
        <p:spPr>
          <a:xfrm>
            <a:off x="7272602" y="2812621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2.907.770</a:t>
            </a:r>
          </a:p>
        </p:txBody>
      </p:sp>
      <p:sp>
        <p:nvSpPr>
          <p:cNvPr id="133" name="3.489.324"/>
          <p:cNvSpPr txBox="1"/>
          <p:nvPr/>
        </p:nvSpPr>
        <p:spPr>
          <a:xfrm>
            <a:off x="8731647" y="2812621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3.489.324</a:t>
            </a:r>
          </a:p>
        </p:txBody>
      </p:sp>
      <p:sp>
        <p:nvSpPr>
          <p:cNvPr id="134" name="4.012.723"/>
          <p:cNvSpPr txBox="1"/>
          <p:nvPr/>
        </p:nvSpPr>
        <p:spPr>
          <a:xfrm>
            <a:off x="10190692" y="2812621"/>
            <a:ext cx="130704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4.012.723</a:t>
            </a:r>
          </a:p>
        </p:txBody>
      </p:sp>
      <p:sp>
        <p:nvSpPr>
          <p:cNvPr id="135" name="Costos variables (sin D&amp;A)"/>
          <p:cNvSpPr txBox="1"/>
          <p:nvPr/>
        </p:nvSpPr>
        <p:spPr>
          <a:xfrm>
            <a:off x="694267" y="3082563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variables (sin D&amp;A)</a:t>
            </a:r>
          </a:p>
        </p:txBody>
      </p:sp>
      <p:sp>
        <p:nvSpPr>
          <p:cNvPr id="136" name="—"/>
          <p:cNvSpPr txBox="1"/>
          <p:nvPr/>
        </p:nvSpPr>
        <p:spPr>
          <a:xfrm>
            <a:off x="3471333" y="3083555"/>
            <a:ext cx="96109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37" name="−609.874"/>
          <p:cNvSpPr txBox="1"/>
          <p:nvPr/>
        </p:nvSpPr>
        <p:spPr>
          <a:xfrm>
            <a:off x="4584832" y="3083555"/>
            <a:ext cx="10763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−609.874</a:t>
            </a:r>
          </a:p>
        </p:txBody>
      </p:sp>
      <p:sp>
        <p:nvSpPr>
          <p:cNvPr id="138" name="−1.022.752"/>
          <p:cNvSpPr txBox="1"/>
          <p:nvPr/>
        </p:nvSpPr>
        <p:spPr>
          <a:xfrm>
            <a:off x="5813557" y="3083555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−1.022.752</a:t>
            </a:r>
          </a:p>
        </p:txBody>
      </p:sp>
      <p:sp>
        <p:nvSpPr>
          <p:cNvPr id="139" name="−2.556.577"/>
          <p:cNvSpPr txBox="1"/>
          <p:nvPr/>
        </p:nvSpPr>
        <p:spPr>
          <a:xfrm>
            <a:off x="7272602" y="3083555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−2.556.577</a:t>
            </a:r>
          </a:p>
        </p:txBody>
      </p:sp>
      <p:sp>
        <p:nvSpPr>
          <p:cNvPr id="140" name="−3.067.892"/>
          <p:cNvSpPr txBox="1"/>
          <p:nvPr/>
        </p:nvSpPr>
        <p:spPr>
          <a:xfrm>
            <a:off x="8731647" y="3083555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−3.067.892</a:t>
            </a:r>
          </a:p>
        </p:txBody>
      </p:sp>
      <p:sp>
        <p:nvSpPr>
          <p:cNvPr id="141" name="−3.528.076"/>
          <p:cNvSpPr txBox="1"/>
          <p:nvPr/>
        </p:nvSpPr>
        <p:spPr>
          <a:xfrm>
            <a:off x="10190692" y="3083555"/>
            <a:ext cx="130704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−3.528.076</a:t>
            </a:r>
          </a:p>
        </p:txBody>
      </p:sp>
      <p:sp>
        <p:nvSpPr>
          <p:cNvPr id="142" name="Costos fijos (sin D&amp;A)"/>
          <p:cNvSpPr txBox="1"/>
          <p:nvPr/>
        </p:nvSpPr>
        <p:spPr>
          <a:xfrm>
            <a:off x="694267" y="3353497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fijos (sin D&amp;A)</a:t>
            </a:r>
          </a:p>
        </p:txBody>
      </p:sp>
      <p:sp>
        <p:nvSpPr>
          <p:cNvPr id="143" name="−49.368"/>
          <p:cNvSpPr txBox="1"/>
          <p:nvPr/>
        </p:nvSpPr>
        <p:spPr>
          <a:xfrm>
            <a:off x="3471333" y="3354488"/>
            <a:ext cx="96109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−49.368</a:t>
            </a:r>
          </a:p>
        </p:txBody>
      </p:sp>
      <p:sp>
        <p:nvSpPr>
          <p:cNvPr id="144" name="−98.769"/>
          <p:cNvSpPr txBox="1"/>
          <p:nvPr/>
        </p:nvSpPr>
        <p:spPr>
          <a:xfrm>
            <a:off x="4584832" y="3354488"/>
            <a:ext cx="10763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−98.769</a:t>
            </a:r>
          </a:p>
        </p:txBody>
      </p:sp>
      <p:sp>
        <p:nvSpPr>
          <p:cNvPr id="145" name="−108.049"/>
          <p:cNvSpPr txBox="1"/>
          <p:nvPr/>
        </p:nvSpPr>
        <p:spPr>
          <a:xfrm>
            <a:off x="5813557" y="3354488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−108.049</a:t>
            </a:r>
          </a:p>
        </p:txBody>
      </p:sp>
      <p:sp>
        <p:nvSpPr>
          <p:cNvPr id="146" name="−118.461"/>
          <p:cNvSpPr txBox="1"/>
          <p:nvPr/>
        </p:nvSpPr>
        <p:spPr>
          <a:xfrm>
            <a:off x="7272602" y="3354488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−118.461</a:t>
            </a:r>
          </a:p>
        </p:txBody>
      </p:sp>
      <p:sp>
        <p:nvSpPr>
          <p:cNvPr id="147" name="−130.420"/>
          <p:cNvSpPr txBox="1"/>
          <p:nvPr/>
        </p:nvSpPr>
        <p:spPr>
          <a:xfrm>
            <a:off x="8731647" y="3354488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−130.420</a:t>
            </a:r>
          </a:p>
        </p:txBody>
      </p:sp>
      <p:sp>
        <p:nvSpPr>
          <p:cNvPr id="148" name="−144.000"/>
          <p:cNvSpPr txBox="1"/>
          <p:nvPr/>
        </p:nvSpPr>
        <p:spPr>
          <a:xfrm>
            <a:off x="10190692" y="3354488"/>
            <a:ext cx="130704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−144.000</a:t>
            </a:r>
          </a:p>
        </p:txBody>
      </p:sp>
      <p:sp>
        <p:nvSpPr>
          <p:cNvPr id="149" name="Depreciaciones y amortizaciones"/>
          <p:cNvSpPr txBox="1"/>
          <p:nvPr/>
        </p:nvSpPr>
        <p:spPr>
          <a:xfrm>
            <a:off x="694267" y="3624430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Depreciaciones y amortizaciones</a:t>
            </a:r>
          </a:p>
        </p:txBody>
      </p:sp>
      <p:sp>
        <p:nvSpPr>
          <p:cNvPr id="150" name="—"/>
          <p:cNvSpPr txBox="1"/>
          <p:nvPr/>
        </p:nvSpPr>
        <p:spPr>
          <a:xfrm>
            <a:off x="3471333" y="3625421"/>
            <a:ext cx="96109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51" name="−5.299"/>
          <p:cNvSpPr txBox="1"/>
          <p:nvPr/>
        </p:nvSpPr>
        <p:spPr>
          <a:xfrm>
            <a:off x="4584832" y="3625421"/>
            <a:ext cx="107632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−5.299</a:t>
            </a:r>
          </a:p>
        </p:txBody>
      </p:sp>
      <p:sp>
        <p:nvSpPr>
          <p:cNvPr id="152" name="−6.525"/>
          <p:cNvSpPr txBox="1"/>
          <p:nvPr/>
        </p:nvSpPr>
        <p:spPr>
          <a:xfrm>
            <a:off x="5813557" y="3625421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−6.525</a:t>
            </a:r>
          </a:p>
        </p:txBody>
      </p:sp>
      <p:sp>
        <p:nvSpPr>
          <p:cNvPr id="153" name="−8.064"/>
          <p:cNvSpPr txBox="1"/>
          <p:nvPr/>
        </p:nvSpPr>
        <p:spPr>
          <a:xfrm>
            <a:off x="7272602" y="3625421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−8.064</a:t>
            </a:r>
          </a:p>
        </p:txBody>
      </p:sp>
      <p:sp>
        <p:nvSpPr>
          <p:cNvPr id="154" name="−8.631"/>
          <p:cNvSpPr txBox="1"/>
          <p:nvPr/>
        </p:nvSpPr>
        <p:spPr>
          <a:xfrm>
            <a:off x="8731647" y="3625421"/>
            <a:ext cx="130664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−8.631</a:t>
            </a:r>
          </a:p>
        </p:txBody>
      </p:sp>
      <p:sp>
        <p:nvSpPr>
          <p:cNvPr id="155" name="−9.564"/>
          <p:cNvSpPr txBox="1"/>
          <p:nvPr/>
        </p:nvSpPr>
        <p:spPr>
          <a:xfrm>
            <a:off x="10190692" y="3625421"/>
            <a:ext cx="130704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−9.564</a:t>
            </a:r>
          </a:p>
        </p:txBody>
      </p:sp>
      <p:sp>
        <p:nvSpPr>
          <p:cNvPr id="156" name="Resultado operativo"/>
          <p:cNvSpPr txBox="1"/>
          <p:nvPr/>
        </p:nvSpPr>
        <p:spPr>
          <a:xfrm>
            <a:off x="694267" y="3903830"/>
            <a:ext cx="2641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Resultado operativo</a:t>
            </a:r>
          </a:p>
        </p:txBody>
      </p:sp>
      <p:sp>
        <p:nvSpPr>
          <p:cNvPr id="157" name="−49.368"/>
          <p:cNvSpPr txBox="1"/>
          <p:nvPr/>
        </p:nvSpPr>
        <p:spPr>
          <a:xfrm>
            <a:off x="3471333" y="3904821"/>
            <a:ext cx="961099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−49.368</a:t>
            </a:r>
          </a:p>
        </p:txBody>
      </p:sp>
      <p:sp>
        <p:nvSpPr>
          <p:cNvPr id="158" name="−20.291"/>
          <p:cNvSpPr txBox="1"/>
          <p:nvPr/>
        </p:nvSpPr>
        <p:spPr>
          <a:xfrm>
            <a:off x="4584832" y="3904821"/>
            <a:ext cx="107632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−20.291</a:t>
            </a:r>
          </a:p>
        </p:txBody>
      </p:sp>
      <p:sp>
        <p:nvSpPr>
          <p:cNvPr id="159" name="25.920"/>
          <p:cNvSpPr txBox="1"/>
          <p:nvPr/>
        </p:nvSpPr>
        <p:spPr>
          <a:xfrm>
            <a:off x="5813557" y="3904821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25.920</a:t>
            </a:r>
          </a:p>
        </p:txBody>
      </p:sp>
      <p:sp>
        <p:nvSpPr>
          <p:cNvPr id="160" name="224.668"/>
          <p:cNvSpPr txBox="1"/>
          <p:nvPr/>
        </p:nvSpPr>
        <p:spPr>
          <a:xfrm>
            <a:off x="7272602" y="3904821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224.668</a:t>
            </a:r>
          </a:p>
        </p:txBody>
      </p:sp>
      <p:sp>
        <p:nvSpPr>
          <p:cNvPr id="161" name="282.381"/>
          <p:cNvSpPr txBox="1"/>
          <p:nvPr/>
        </p:nvSpPr>
        <p:spPr>
          <a:xfrm>
            <a:off x="8731647" y="3904821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282.381</a:t>
            </a:r>
          </a:p>
        </p:txBody>
      </p:sp>
      <p:sp>
        <p:nvSpPr>
          <p:cNvPr id="162" name="331.083"/>
          <p:cNvSpPr txBox="1"/>
          <p:nvPr/>
        </p:nvSpPr>
        <p:spPr>
          <a:xfrm>
            <a:off x="10190692" y="3904821"/>
            <a:ext cx="130704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331.083</a:t>
            </a:r>
          </a:p>
        </p:txBody>
      </p:sp>
      <p:sp>
        <p:nvSpPr>
          <p:cNvPr id="163" name="Impuesto a las ganancias"/>
          <p:cNvSpPr txBox="1"/>
          <p:nvPr/>
        </p:nvSpPr>
        <p:spPr>
          <a:xfrm>
            <a:off x="694267" y="4162063"/>
            <a:ext cx="2641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Impuesto a las ganancias</a:t>
            </a:r>
          </a:p>
        </p:txBody>
      </p:sp>
      <p:sp>
        <p:nvSpPr>
          <p:cNvPr id="164" name="17.279"/>
          <p:cNvSpPr txBox="1"/>
          <p:nvPr/>
        </p:nvSpPr>
        <p:spPr>
          <a:xfrm>
            <a:off x="3471333" y="4163055"/>
            <a:ext cx="961099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17.279</a:t>
            </a:r>
          </a:p>
        </p:txBody>
      </p:sp>
      <p:sp>
        <p:nvSpPr>
          <p:cNvPr id="165" name="7.102"/>
          <p:cNvSpPr txBox="1"/>
          <p:nvPr/>
        </p:nvSpPr>
        <p:spPr>
          <a:xfrm>
            <a:off x="4584832" y="4163055"/>
            <a:ext cx="107632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7.102</a:t>
            </a:r>
          </a:p>
        </p:txBody>
      </p:sp>
      <p:sp>
        <p:nvSpPr>
          <p:cNvPr id="166" name="−9.072"/>
          <p:cNvSpPr txBox="1"/>
          <p:nvPr/>
        </p:nvSpPr>
        <p:spPr>
          <a:xfrm>
            <a:off x="5813557" y="4163055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−9.072</a:t>
            </a:r>
          </a:p>
        </p:txBody>
      </p:sp>
      <p:sp>
        <p:nvSpPr>
          <p:cNvPr id="167" name="−78.634"/>
          <p:cNvSpPr txBox="1"/>
          <p:nvPr/>
        </p:nvSpPr>
        <p:spPr>
          <a:xfrm>
            <a:off x="7272602" y="4163055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−78.634</a:t>
            </a:r>
          </a:p>
        </p:txBody>
      </p:sp>
      <p:sp>
        <p:nvSpPr>
          <p:cNvPr id="168" name="−98.833"/>
          <p:cNvSpPr txBox="1"/>
          <p:nvPr/>
        </p:nvSpPr>
        <p:spPr>
          <a:xfrm>
            <a:off x="8731647" y="4163055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−98.833</a:t>
            </a:r>
          </a:p>
        </p:txBody>
      </p:sp>
      <p:sp>
        <p:nvSpPr>
          <p:cNvPr id="169" name="−115.879"/>
          <p:cNvSpPr txBox="1"/>
          <p:nvPr/>
        </p:nvSpPr>
        <p:spPr>
          <a:xfrm>
            <a:off x="10190692" y="4163055"/>
            <a:ext cx="130704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−115.879</a:t>
            </a:r>
          </a:p>
        </p:txBody>
      </p:sp>
      <p:sp>
        <p:nvSpPr>
          <p:cNvPr id="170" name="Resultado neto"/>
          <p:cNvSpPr txBox="1"/>
          <p:nvPr/>
        </p:nvSpPr>
        <p:spPr>
          <a:xfrm>
            <a:off x="694267" y="4437230"/>
            <a:ext cx="2641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Resultado neto</a:t>
            </a:r>
          </a:p>
        </p:txBody>
      </p:sp>
      <p:sp>
        <p:nvSpPr>
          <p:cNvPr id="171" name="−32.089"/>
          <p:cNvSpPr txBox="1"/>
          <p:nvPr/>
        </p:nvSpPr>
        <p:spPr>
          <a:xfrm>
            <a:off x="3471333" y="4438221"/>
            <a:ext cx="961099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−32.089</a:t>
            </a:r>
          </a:p>
        </p:txBody>
      </p:sp>
      <p:sp>
        <p:nvSpPr>
          <p:cNvPr id="172" name="−13.189"/>
          <p:cNvSpPr txBox="1"/>
          <p:nvPr/>
        </p:nvSpPr>
        <p:spPr>
          <a:xfrm>
            <a:off x="4584832" y="4438221"/>
            <a:ext cx="107632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−13.189</a:t>
            </a:r>
          </a:p>
        </p:txBody>
      </p:sp>
      <p:sp>
        <p:nvSpPr>
          <p:cNvPr id="173" name="16.848"/>
          <p:cNvSpPr txBox="1"/>
          <p:nvPr/>
        </p:nvSpPr>
        <p:spPr>
          <a:xfrm>
            <a:off x="5813557" y="4438221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16.848</a:t>
            </a:r>
          </a:p>
        </p:txBody>
      </p:sp>
      <p:sp>
        <p:nvSpPr>
          <p:cNvPr id="174" name="146.034"/>
          <p:cNvSpPr txBox="1"/>
          <p:nvPr/>
        </p:nvSpPr>
        <p:spPr>
          <a:xfrm>
            <a:off x="7272602" y="4438221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146.034</a:t>
            </a:r>
          </a:p>
        </p:txBody>
      </p:sp>
      <p:sp>
        <p:nvSpPr>
          <p:cNvPr id="175" name="183.548"/>
          <p:cNvSpPr txBox="1"/>
          <p:nvPr/>
        </p:nvSpPr>
        <p:spPr>
          <a:xfrm>
            <a:off x="8731647" y="4438221"/>
            <a:ext cx="130664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183.548</a:t>
            </a:r>
          </a:p>
        </p:txBody>
      </p:sp>
      <p:sp>
        <p:nvSpPr>
          <p:cNvPr id="176" name="215.204"/>
          <p:cNvSpPr txBox="1"/>
          <p:nvPr/>
        </p:nvSpPr>
        <p:spPr>
          <a:xfrm>
            <a:off x="10190692" y="4438221"/>
            <a:ext cx="130704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215.204</a:t>
            </a:r>
          </a:p>
        </p:txBody>
      </p:sp>
      <p:sp>
        <p:nvSpPr>
          <p:cNvPr id="177" name="Alícuota de impuesto a las ganancias"/>
          <p:cNvSpPr txBox="1"/>
          <p:nvPr/>
        </p:nvSpPr>
        <p:spPr>
          <a:xfrm>
            <a:off x="812800" y="5018037"/>
            <a:ext cx="10583333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Alícuota de impuesto a las ganancias: </a:t>
            </a:r>
            <a:r>
              <a:rPr b="0" i="0" sz="10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35%</a:t>
            </a: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 Los quebrantos de los Años 0 a 2 difieren el pago efectivo hasta el Año 3.</a:t>
            </a:r>
          </a:p>
        </p:txBody>
      </p:sp>
      <p:sp>
        <p:nvSpPr>
          <p:cNvPr id="178" name="4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41600"/>
            <a:ext cx="196307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865967"/>
            <a:ext cx="196307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2572676" y="2641600"/>
            <a:ext cx="61528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2572676" y="2865967"/>
            <a:ext cx="6152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3187965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3187965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3732212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3732212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4276460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4276460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4820708" y="2641600"/>
            <a:ext cx="54424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4820708" y="28659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5364956" y="2641600"/>
            <a:ext cx="54477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5364956" y="2865967"/>
            <a:ext cx="5447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2874433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3136900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2572676" y="2874433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2572676" y="3136900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3187965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3187965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3732212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3732212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4276460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4276460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4820708" y="28744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4820708" y="31369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5364956" y="2874433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5364956" y="3136900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3145367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3407833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2572676" y="3145367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2572676" y="3407833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3187965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3187965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3732212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3732212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4276460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4276460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4820708" y="3145367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4820708" y="3407833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5364956" y="3145367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5364956" y="3407833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3416300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3678767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2572676" y="3416300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2572676" y="3678767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3187965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3187965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3732212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3732212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4276460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4276460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4820708" y="3416300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4820708" y="3678767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5364956" y="3416300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5364956" y="3678767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3687233"/>
            <a:ext cx="196307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3949700"/>
            <a:ext cx="196307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2572676" y="3687233"/>
            <a:ext cx="6152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2572676" y="3949700"/>
            <a:ext cx="6152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3187965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3187965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3732212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3732212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4276460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4276460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4820708" y="3687233"/>
            <a:ext cx="54424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4820708" y="3949700"/>
            <a:ext cx="54424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5364956" y="3687233"/>
            <a:ext cx="5447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5364956" y="3949700"/>
            <a:ext cx="5447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609600" y="3958167"/>
            <a:ext cx="196307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top"/>
          <p:cNvSpPr/>
          <p:nvPr/>
        </p:nvSpPr>
        <p:spPr>
          <a:xfrm>
            <a:off x="609600" y="3958167"/>
            <a:ext cx="196307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2572676" y="3958167"/>
            <a:ext cx="61528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top"/>
          <p:cNvSpPr/>
          <p:nvPr/>
        </p:nvSpPr>
        <p:spPr>
          <a:xfrm>
            <a:off x="2572676" y="3958167"/>
            <a:ext cx="6152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3187965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top"/>
          <p:cNvSpPr/>
          <p:nvPr/>
        </p:nvSpPr>
        <p:spPr>
          <a:xfrm>
            <a:off x="3187965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3732212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top"/>
          <p:cNvSpPr/>
          <p:nvPr/>
        </p:nvSpPr>
        <p:spPr>
          <a:xfrm>
            <a:off x="3732212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4276460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top"/>
          <p:cNvSpPr/>
          <p:nvPr/>
        </p:nvSpPr>
        <p:spPr>
          <a:xfrm>
            <a:off x="4276460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4820708" y="3958167"/>
            <a:ext cx="54424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top"/>
          <p:cNvSpPr/>
          <p:nvPr/>
        </p:nvSpPr>
        <p:spPr>
          <a:xfrm>
            <a:off x="4820708" y="3958167"/>
            <a:ext cx="54424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5364956" y="3958167"/>
            <a:ext cx="54477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top"/>
          <p:cNvSpPr/>
          <p:nvPr/>
        </p:nvSpPr>
        <p:spPr>
          <a:xfrm>
            <a:off x="5364956" y="3958167"/>
            <a:ext cx="5447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aja"/>
          <p:cNvSpPr/>
          <p:nvPr/>
        </p:nvSpPr>
        <p:spPr>
          <a:xfrm>
            <a:off x="609600" y="4377267"/>
            <a:ext cx="5300133" cy="573617"/>
          </a:xfrm>
          <a:prstGeom prst="roundRect">
            <a:avLst>
              <a:gd name="adj" fmla="val 5904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marco"/>
          <p:cNvSpPr/>
          <p:nvPr/>
        </p:nvSpPr>
        <p:spPr>
          <a:xfrm>
            <a:off x="6282267" y="2641600"/>
            <a:ext cx="1341041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borde bottom"/>
          <p:cNvSpPr/>
          <p:nvPr/>
        </p:nvSpPr>
        <p:spPr>
          <a:xfrm>
            <a:off x="6282267" y="2865967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marco"/>
          <p:cNvSpPr/>
          <p:nvPr/>
        </p:nvSpPr>
        <p:spPr>
          <a:xfrm>
            <a:off x="7623307" y="2641600"/>
            <a:ext cx="56184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borde bottom"/>
          <p:cNvSpPr/>
          <p:nvPr/>
        </p:nvSpPr>
        <p:spPr>
          <a:xfrm>
            <a:off x="7623307" y="2865967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marco"/>
          <p:cNvSpPr/>
          <p:nvPr/>
        </p:nvSpPr>
        <p:spPr>
          <a:xfrm>
            <a:off x="8185150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borde bottom"/>
          <p:cNvSpPr/>
          <p:nvPr/>
        </p:nvSpPr>
        <p:spPr>
          <a:xfrm>
            <a:off x="8185150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marco"/>
          <p:cNvSpPr/>
          <p:nvPr/>
        </p:nvSpPr>
        <p:spPr>
          <a:xfrm>
            <a:off x="8849122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borde bottom"/>
          <p:cNvSpPr/>
          <p:nvPr/>
        </p:nvSpPr>
        <p:spPr>
          <a:xfrm>
            <a:off x="8849122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marco"/>
          <p:cNvSpPr/>
          <p:nvPr/>
        </p:nvSpPr>
        <p:spPr>
          <a:xfrm>
            <a:off x="9513094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borde bottom"/>
          <p:cNvSpPr/>
          <p:nvPr/>
        </p:nvSpPr>
        <p:spPr>
          <a:xfrm>
            <a:off x="9513094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marco"/>
          <p:cNvSpPr/>
          <p:nvPr/>
        </p:nvSpPr>
        <p:spPr>
          <a:xfrm>
            <a:off x="10177066" y="2641600"/>
            <a:ext cx="66397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borde bottom"/>
          <p:cNvSpPr/>
          <p:nvPr/>
        </p:nvSpPr>
        <p:spPr>
          <a:xfrm>
            <a:off x="10177066" y="2865967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arco"/>
          <p:cNvSpPr/>
          <p:nvPr/>
        </p:nvSpPr>
        <p:spPr>
          <a:xfrm>
            <a:off x="10841038" y="2641600"/>
            <a:ext cx="74136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borde bottom"/>
          <p:cNvSpPr/>
          <p:nvPr/>
        </p:nvSpPr>
        <p:spPr>
          <a:xfrm>
            <a:off x="10841038" y="2865967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marco"/>
          <p:cNvSpPr/>
          <p:nvPr/>
        </p:nvSpPr>
        <p:spPr>
          <a:xfrm>
            <a:off x="6282267" y="2874433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borde bottom"/>
          <p:cNvSpPr/>
          <p:nvPr/>
        </p:nvSpPr>
        <p:spPr>
          <a:xfrm>
            <a:off x="6282267" y="3136900"/>
            <a:ext cx="134104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marco"/>
          <p:cNvSpPr/>
          <p:nvPr/>
        </p:nvSpPr>
        <p:spPr>
          <a:xfrm>
            <a:off x="7623307" y="2874433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orde bottom"/>
          <p:cNvSpPr/>
          <p:nvPr/>
        </p:nvSpPr>
        <p:spPr>
          <a:xfrm>
            <a:off x="7623307" y="3136900"/>
            <a:ext cx="56184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arco"/>
          <p:cNvSpPr/>
          <p:nvPr/>
        </p:nvSpPr>
        <p:spPr>
          <a:xfrm>
            <a:off x="8185150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borde bottom"/>
          <p:cNvSpPr/>
          <p:nvPr/>
        </p:nvSpPr>
        <p:spPr>
          <a:xfrm>
            <a:off x="8185150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marco"/>
          <p:cNvSpPr/>
          <p:nvPr/>
        </p:nvSpPr>
        <p:spPr>
          <a:xfrm>
            <a:off x="8849122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borde bottom"/>
          <p:cNvSpPr/>
          <p:nvPr/>
        </p:nvSpPr>
        <p:spPr>
          <a:xfrm>
            <a:off x="8849122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marco"/>
          <p:cNvSpPr/>
          <p:nvPr/>
        </p:nvSpPr>
        <p:spPr>
          <a:xfrm>
            <a:off x="9513094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borde bottom"/>
          <p:cNvSpPr/>
          <p:nvPr/>
        </p:nvSpPr>
        <p:spPr>
          <a:xfrm>
            <a:off x="9513094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marco"/>
          <p:cNvSpPr/>
          <p:nvPr/>
        </p:nvSpPr>
        <p:spPr>
          <a:xfrm>
            <a:off x="10177066" y="2874433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borde bottom"/>
          <p:cNvSpPr/>
          <p:nvPr/>
        </p:nvSpPr>
        <p:spPr>
          <a:xfrm>
            <a:off x="10177066" y="3136900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marco"/>
          <p:cNvSpPr/>
          <p:nvPr/>
        </p:nvSpPr>
        <p:spPr>
          <a:xfrm>
            <a:off x="10841038" y="2874433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borde bottom"/>
          <p:cNvSpPr/>
          <p:nvPr/>
        </p:nvSpPr>
        <p:spPr>
          <a:xfrm>
            <a:off x="10841038" y="3136900"/>
            <a:ext cx="74136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marco"/>
          <p:cNvSpPr/>
          <p:nvPr/>
        </p:nvSpPr>
        <p:spPr>
          <a:xfrm>
            <a:off x="6282267" y="3145367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borde bottom"/>
          <p:cNvSpPr/>
          <p:nvPr/>
        </p:nvSpPr>
        <p:spPr>
          <a:xfrm>
            <a:off x="6282267" y="3407833"/>
            <a:ext cx="134104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marco"/>
          <p:cNvSpPr/>
          <p:nvPr/>
        </p:nvSpPr>
        <p:spPr>
          <a:xfrm>
            <a:off x="7623307" y="3145367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borde bottom"/>
          <p:cNvSpPr/>
          <p:nvPr/>
        </p:nvSpPr>
        <p:spPr>
          <a:xfrm>
            <a:off x="7623307" y="3407833"/>
            <a:ext cx="56184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marco"/>
          <p:cNvSpPr/>
          <p:nvPr/>
        </p:nvSpPr>
        <p:spPr>
          <a:xfrm>
            <a:off x="8185150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borde bottom"/>
          <p:cNvSpPr/>
          <p:nvPr/>
        </p:nvSpPr>
        <p:spPr>
          <a:xfrm>
            <a:off x="8185150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marco"/>
          <p:cNvSpPr/>
          <p:nvPr/>
        </p:nvSpPr>
        <p:spPr>
          <a:xfrm>
            <a:off x="8849122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borde bottom"/>
          <p:cNvSpPr/>
          <p:nvPr/>
        </p:nvSpPr>
        <p:spPr>
          <a:xfrm>
            <a:off x="8849122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marco"/>
          <p:cNvSpPr/>
          <p:nvPr/>
        </p:nvSpPr>
        <p:spPr>
          <a:xfrm>
            <a:off x="9513094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borde bottom"/>
          <p:cNvSpPr/>
          <p:nvPr/>
        </p:nvSpPr>
        <p:spPr>
          <a:xfrm>
            <a:off x="9513094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marco"/>
          <p:cNvSpPr/>
          <p:nvPr/>
        </p:nvSpPr>
        <p:spPr>
          <a:xfrm>
            <a:off x="10177066" y="3145367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borde bottom"/>
          <p:cNvSpPr/>
          <p:nvPr/>
        </p:nvSpPr>
        <p:spPr>
          <a:xfrm>
            <a:off x="10177066" y="3407833"/>
            <a:ext cx="66397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marco"/>
          <p:cNvSpPr/>
          <p:nvPr/>
        </p:nvSpPr>
        <p:spPr>
          <a:xfrm>
            <a:off x="10841038" y="3145367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borde bottom"/>
          <p:cNvSpPr/>
          <p:nvPr/>
        </p:nvSpPr>
        <p:spPr>
          <a:xfrm>
            <a:off x="10841038" y="3407833"/>
            <a:ext cx="74136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marco"/>
          <p:cNvSpPr/>
          <p:nvPr/>
        </p:nvSpPr>
        <p:spPr>
          <a:xfrm>
            <a:off x="6282267" y="3416300"/>
            <a:ext cx="134104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borde top"/>
          <p:cNvSpPr/>
          <p:nvPr/>
        </p:nvSpPr>
        <p:spPr>
          <a:xfrm>
            <a:off x="6282267" y="3416300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marco"/>
          <p:cNvSpPr/>
          <p:nvPr/>
        </p:nvSpPr>
        <p:spPr>
          <a:xfrm>
            <a:off x="7623307" y="3416300"/>
            <a:ext cx="56184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borde top"/>
          <p:cNvSpPr/>
          <p:nvPr/>
        </p:nvSpPr>
        <p:spPr>
          <a:xfrm>
            <a:off x="7623307" y="3416300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marco"/>
          <p:cNvSpPr/>
          <p:nvPr/>
        </p:nvSpPr>
        <p:spPr>
          <a:xfrm>
            <a:off x="8185150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borde top"/>
          <p:cNvSpPr/>
          <p:nvPr/>
        </p:nvSpPr>
        <p:spPr>
          <a:xfrm>
            <a:off x="8185150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marco"/>
          <p:cNvSpPr/>
          <p:nvPr/>
        </p:nvSpPr>
        <p:spPr>
          <a:xfrm>
            <a:off x="8849122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borde top"/>
          <p:cNvSpPr/>
          <p:nvPr/>
        </p:nvSpPr>
        <p:spPr>
          <a:xfrm>
            <a:off x="8849122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marco"/>
          <p:cNvSpPr/>
          <p:nvPr/>
        </p:nvSpPr>
        <p:spPr>
          <a:xfrm>
            <a:off x="9513094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borde top"/>
          <p:cNvSpPr/>
          <p:nvPr/>
        </p:nvSpPr>
        <p:spPr>
          <a:xfrm>
            <a:off x="9513094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marco"/>
          <p:cNvSpPr/>
          <p:nvPr/>
        </p:nvSpPr>
        <p:spPr>
          <a:xfrm>
            <a:off x="10177066" y="3416300"/>
            <a:ext cx="66397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borde top"/>
          <p:cNvSpPr/>
          <p:nvPr/>
        </p:nvSpPr>
        <p:spPr>
          <a:xfrm>
            <a:off x="10177066" y="3416300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marco"/>
          <p:cNvSpPr/>
          <p:nvPr/>
        </p:nvSpPr>
        <p:spPr>
          <a:xfrm>
            <a:off x="10841038" y="3416300"/>
            <a:ext cx="74136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borde top"/>
          <p:cNvSpPr/>
          <p:nvPr/>
        </p:nvSpPr>
        <p:spPr>
          <a:xfrm>
            <a:off x="10841038" y="3416300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marco"/>
          <p:cNvSpPr/>
          <p:nvPr/>
        </p:nvSpPr>
        <p:spPr>
          <a:xfrm>
            <a:off x="6282267" y="3687233"/>
            <a:ext cx="1341041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borde top"/>
          <p:cNvSpPr/>
          <p:nvPr/>
        </p:nvSpPr>
        <p:spPr>
          <a:xfrm>
            <a:off x="6282267" y="3687233"/>
            <a:ext cx="134104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marco"/>
          <p:cNvSpPr/>
          <p:nvPr/>
        </p:nvSpPr>
        <p:spPr>
          <a:xfrm>
            <a:off x="7623307" y="3687233"/>
            <a:ext cx="56184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borde top"/>
          <p:cNvSpPr/>
          <p:nvPr/>
        </p:nvSpPr>
        <p:spPr>
          <a:xfrm>
            <a:off x="7623307" y="3687233"/>
            <a:ext cx="56184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marco"/>
          <p:cNvSpPr/>
          <p:nvPr/>
        </p:nvSpPr>
        <p:spPr>
          <a:xfrm>
            <a:off x="8185150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borde top"/>
          <p:cNvSpPr/>
          <p:nvPr/>
        </p:nvSpPr>
        <p:spPr>
          <a:xfrm>
            <a:off x="8185150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marco"/>
          <p:cNvSpPr/>
          <p:nvPr/>
        </p:nvSpPr>
        <p:spPr>
          <a:xfrm>
            <a:off x="8849122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borde top"/>
          <p:cNvSpPr/>
          <p:nvPr/>
        </p:nvSpPr>
        <p:spPr>
          <a:xfrm>
            <a:off x="8849122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marco"/>
          <p:cNvSpPr/>
          <p:nvPr/>
        </p:nvSpPr>
        <p:spPr>
          <a:xfrm>
            <a:off x="9513094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borde top"/>
          <p:cNvSpPr/>
          <p:nvPr/>
        </p:nvSpPr>
        <p:spPr>
          <a:xfrm>
            <a:off x="9513094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marco"/>
          <p:cNvSpPr/>
          <p:nvPr/>
        </p:nvSpPr>
        <p:spPr>
          <a:xfrm>
            <a:off x="10177066" y="3687233"/>
            <a:ext cx="66397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borde top"/>
          <p:cNvSpPr/>
          <p:nvPr/>
        </p:nvSpPr>
        <p:spPr>
          <a:xfrm>
            <a:off x="10177066" y="3687233"/>
            <a:ext cx="66397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marco"/>
          <p:cNvSpPr/>
          <p:nvPr/>
        </p:nvSpPr>
        <p:spPr>
          <a:xfrm>
            <a:off x="10841038" y="3687233"/>
            <a:ext cx="74136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borde top"/>
          <p:cNvSpPr/>
          <p:nvPr/>
        </p:nvSpPr>
        <p:spPr>
          <a:xfrm>
            <a:off x="10841038" y="3687233"/>
            <a:ext cx="741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marco"/>
          <p:cNvSpPr/>
          <p:nvPr/>
        </p:nvSpPr>
        <p:spPr>
          <a:xfrm>
            <a:off x="6282267" y="4394200"/>
            <a:ext cx="151923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orde bottom"/>
          <p:cNvSpPr/>
          <p:nvPr/>
        </p:nvSpPr>
        <p:spPr>
          <a:xfrm>
            <a:off x="6282267" y="4618567"/>
            <a:ext cx="151923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marco"/>
          <p:cNvSpPr/>
          <p:nvPr/>
        </p:nvSpPr>
        <p:spPr>
          <a:xfrm>
            <a:off x="7801504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borde bottom"/>
          <p:cNvSpPr/>
          <p:nvPr/>
        </p:nvSpPr>
        <p:spPr>
          <a:xfrm>
            <a:off x="7801504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marco"/>
          <p:cNvSpPr/>
          <p:nvPr/>
        </p:nvSpPr>
        <p:spPr>
          <a:xfrm>
            <a:off x="8386630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borde bottom"/>
          <p:cNvSpPr/>
          <p:nvPr/>
        </p:nvSpPr>
        <p:spPr>
          <a:xfrm>
            <a:off x="8386630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marco"/>
          <p:cNvSpPr/>
          <p:nvPr/>
        </p:nvSpPr>
        <p:spPr>
          <a:xfrm>
            <a:off x="8971756" y="4394200"/>
            <a:ext cx="58512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orde bottom"/>
          <p:cNvSpPr/>
          <p:nvPr/>
        </p:nvSpPr>
        <p:spPr>
          <a:xfrm>
            <a:off x="8971756" y="4618567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marco"/>
          <p:cNvSpPr/>
          <p:nvPr/>
        </p:nvSpPr>
        <p:spPr>
          <a:xfrm>
            <a:off x="9556882" y="4394200"/>
            <a:ext cx="65259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borde bottom"/>
          <p:cNvSpPr/>
          <p:nvPr/>
        </p:nvSpPr>
        <p:spPr>
          <a:xfrm>
            <a:off x="9556882" y="4618567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marco"/>
          <p:cNvSpPr/>
          <p:nvPr/>
        </p:nvSpPr>
        <p:spPr>
          <a:xfrm>
            <a:off x="10209477" y="4394200"/>
            <a:ext cx="652595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borde bottom"/>
          <p:cNvSpPr/>
          <p:nvPr/>
        </p:nvSpPr>
        <p:spPr>
          <a:xfrm>
            <a:off x="10209477" y="4618567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marco"/>
          <p:cNvSpPr/>
          <p:nvPr/>
        </p:nvSpPr>
        <p:spPr>
          <a:xfrm>
            <a:off x="10862072" y="4394200"/>
            <a:ext cx="720328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orde bottom"/>
          <p:cNvSpPr/>
          <p:nvPr/>
        </p:nvSpPr>
        <p:spPr>
          <a:xfrm>
            <a:off x="10862072" y="4618567"/>
            <a:ext cx="72032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marco"/>
          <p:cNvSpPr/>
          <p:nvPr/>
        </p:nvSpPr>
        <p:spPr>
          <a:xfrm>
            <a:off x="6282267" y="4627033"/>
            <a:ext cx="151923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orde bottom"/>
          <p:cNvSpPr/>
          <p:nvPr/>
        </p:nvSpPr>
        <p:spPr>
          <a:xfrm>
            <a:off x="6282267" y="4889500"/>
            <a:ext cx="151923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marco"/>
          <p:cNvSpPr/>
          <p:nvPr/>
        </p:nvSpPr>
        <p:spPr>
          <a:xfrm>
            <a:off x="7801504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orde bottom"/>
          <p:cNvSpPr/>
          <p:nvPr/>
        </p:nvSpPr>
        <p:spPr>
          <a:xfrm>
            <a:off x="7801504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marco"/>
          <p:cNvSpPr/>
          <p:nvPr/>
        </p:nvSpPr>
        <p:spPr>
          <a:xfrm>
            <a:off x="8386630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orde bottom"/>
          <p:cNvSpPr/>
          <p:nvPr/>
        </p:nvSpPr>
        <p:spPr>
          <a:xfrm>
            <a:off x="8386630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marco"/>
          <p:cNvSpPr/>
          <p:nvPr/>
        </p:nvSpPr>
        <p:spPr>
          <a:xfrm>
            <a:off x="8971756" y="4627033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borde bottom"/>
          <p:cNvSpPr/>
          <p:nvPr/>
        </p:nvSpPr>
        <p:spPr>
          <a:xfrm>
            <a:off x="8971756" y="4889500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marco"/>
          <p:cNvSpPr/>
          <p:nvPr/>
        </p:nvSpPr>
        <p:spPr>
          <a:xfrm>
            <a:off x="9556882" y="4627033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borde bottom"/>
          <p:cNvSpPr/>
          <p:nvPr/>
        </p:nvSpPr>
        <p:spPr>
          <a:xfrm>
            <a:off x="9556882" y="4889500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marco"/>
          <p:cNvSpPr/>
          <p:nvPr/>
        </p:nvSpPr>
        <p:spPr>
          <a:xfrm>
            <a:off x="10209477" y="4627033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borde bottom"/>
          <p:cNvSpPr/>
          <p:nvPr/>
        </p:nvSpPr>
        <p:spPr>
          <a:xfrm>
            <a:off x="10209477" y="4889500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marco"/>
          <p:cNvSpPr/>
          <p:nvPr/>
        </p:nvSpPr>
        <p:spPr>
          <a:xfrm>
            <a:off x="10862072" y="4627033"/>
            <a:ext cx="72032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borde bottom"/>
          <p:cNvSpPr/>
          <p:nvPr/>
        </p:nvSpPr>
        <p:spPr>
          <a:xfrm>
            <a:off x="10862072" y="4889500"/>
            <a:ext cx="72032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marco"/>
          <p:cNvSpPr/>
          <p:nvPr/>
        </p:nvSpPr>
        <p:spPr>
          <a:xfrm>
            <a:off x="6282267" y="4897967"/>
            <a:ext cx="151923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borde bottom"/>
          <p:cNvSpPr/>
          <p:nvPr/>
        </p:nvSpPr>
        <p:spPr>
          <a:xfrm>
            <a:off x="6282267" y="5160433"/>
            <a:ext cx="151923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marco"/>
          <p:cNvSpPr/>
          <p:nvPr/>
        </p:nvSpPr>
        <p:spPr>
          <a:xfrm>
            <a:off x="7801504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borde bottom"/>
          <p:cNvSpPr/>
          <p:nvPr/>
        </p:nvSpPr>
        <p:spPr>
          <a:xfrm>
            <a:off x="7801504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marco"/>
          <p:cNvSpPr/>
          <p:nvPr/>
        </p:nvSpPr>
        <p:spPr>
          <a:xfrm>
            <a:off x="8386630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borde bottom"/>
          <p:cNvSpPr/>
          <p:nvPr/>
        </p:nvSpPr>
        <p:spPr>
          <a:xfrm>
            <a:off x="8386630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marco"/>
          <p:cNvSpPr/>
          <p:nvPr/>
        </p:nvSpPr>
        <p:spPr>
          <a:xfrm>
            <a:off x="8971756" y="4897967"/>
            <a:ext cx="58512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borde bottom"/>
          <p:cNvSpPr/>
          <p:nvPr/>
        </p:nvSpPr>
        <p:spPr>
          <a:xfrm>
            <a:off x="8971756" y="5160433"/>
            <a:ext cx="58512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marco"/>
          <p:cNvSpPr/>
          <p:nvPr/>
        </p:nvSpPr>
        <p:spPr>
          <a:xfrm>
            <a:off x="9556882" y="4897967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borde bottom"/>
          <p:cNvSpPr/>
          <p:nvPr/>
        </p:nvSpPr>
        <p:spPr>
          <a:xfrm>
            <a:off x="9556882" y="5160433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marco"/>
          <p:cNvSpPr/>
          <p:nvPr/>
        </p:nvSpPr>
        <p:spPr>
          <a:xfrm>
            <a:off x="10209477" y="4897967"/>
            <a:ext cx="652595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borde bottom"/>
          <p:cNvSpPr/>
          <p:nvPr/>
        </p:nvSpPr>
        <p:spPr>
          <a:xfrm>
            <a:off x="10209477" y="5160433"/>
            <a:ext cx="652595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marco"/>
          <p:cNvSpPr/>
          <p:nvPr/>
        </p:nvSpPr>
        <p:spPr>
          <a:xfrm>
            <a:off x="10862072" y="4897967"/>
            <a:ext cx="720328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orde bottom"/>
          <p:cNvSpPr/>
          <p:nvPr/>
        </p:nvSpPr>
        <p:spPr>
          <a:xfrm>
            <a:off x="10862072" y="5160433"/>
            <a:ext cx="72032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marco"/>
          <p:cNvSpPr/>
          <p:nvPr/>
        </p:nvSpPr>
        <p:spPr>
          <a:xfrm>
            <a:off x="6282267" y="5168900"/>
            <a:ext cx="151923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borde top"/>
          <p:cNvSpPr/>
          <p:nvPr/>
        </p:nvSpPr>
        <p:spPr>
          <a:xfrm>
            <a:off x="6282267" y="5168900"/>
            <a:ext cx="151923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arco"/>
          <p:cNvSpPr/>
          <p:nvPr/>
        </p:nvSpPr>
        <p:spPr>
          <a:xfrm>
            <a:off x="7801504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borde top"/>
          <p:cNvSpPr/>
          <p:nvPr/>
        </p:nvSpPr>
        <p:spPr>
          <a:xfrm>
            <a:off x="7801504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marco"/>
          <p:cNvSpPr/>
          <p:nvPr/>
        </p:nvSpPr>
        <p:spPr>
          <a:xfrm>
            <a:off x="8386630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borde top"/>
          <p:cNvSpPr/>
          <p:nvPr/>
        </p:nvSpPr>
        <p:spPr>
          <a:xfrm>
            <a:off x="8386630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marco"/>
          <p:cNvSpPr/>
          <p:nvPr/>
        </p:nvSpPr>
        <p:spPr>
          <a:xfrm>
            <a:off x="8971756" y="5168900"/>
            <a:ext cx="58512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borde top"/>
          <p:cNvSpPr/>
          <p:nvPr/>
        </p:nvSpPr>
        <p:spPr>
          <a:xfrm>
            <a:off x="8971756" y="5168900"/>
            <a:ext cx="58512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marco"/>
          <p:cNvSpPr/>
          <p:nvPr/>
        </p:nvSpPr>
        <p:spPr>
          <a:xfrm>
            <a:off x="9556882" y="5168900"/>
            <a:ext cx="65259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borde top"/>
          <p:cNvSpPr/>
          <p:nvPr/>
        </p:nvSpPr>
        <p:spPr>
          <a:xfrm>
            <a:off x="9556882" y="5168900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marco"/>
          <p:cNvSpPr/>
          <p:nvPr/>
        </p:nvSpPr>
        <p:spPr>
          <a:xfrm>
            <a:off x="10209477" y="5168900"/>
            <a:ext cx="652595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borde top"/>
          <p:cNvSpPr/>
          <p:nvPr/>
        </p:nvSpPr>
        <p:spPr>
          <a:xfrm>
            <a:off x="10209477" y="5168900"/>
            <a:ext cx="652595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marco"/>
          <p:cNvSpPr/>
          <p:nvPr/>
        </p:nvSpPr>
        <p:spPr>
          <a:xfrm>
            <a:off x="10862072" y="5168900"/>
            <a:ext cx="720328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borde top"/>
          <p:cNvSpPr/>
          <p:nvPr/>
        </p:nvSpPr>
        <p:spPr>
          <a:xfrm>
            <a:off x="10862072" y="5168900"/>
            <a:ext cx="720328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CAPEX y NOF"/>
          <p:cNvSpPr txBox="1"/>
          <p:nvPr/>
        </p:nvSpPr>
        <p:spPr>
          <a:xfrm>
            <a:off x="609600" y="457120"/>
            <a:ext cx="210886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CAPEX y NOF</a:t>
            </a:r>
          </a:p>
        </p:txBody>
      </p:sp>
      <p:sp>
        <p:nvSpPr>
          <p:cNvPr id="217" name="EN DÓLARES"/>
          <p:cNvSpPr txBox="1"/>
          <p:nvPr/>
        </p:nvSpPr>
        <p:spPr>
          <a:xfrm>
            <a:off x="609600" y="866330"/>
            <a:ext cx="210886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EN DÓLARES</a:t>
            </a:r>
          </a:p>
        </p:txBody>
      </p:sp>
      <p:sp>
        <p:nvSpPr>
          <p:cNvPr id="218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1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20" name="INVERSIONES EN ACTIVOS FIJOS (CAPEX)"/>
          <p:cNvSpPr txBox="1"/>
          <p:nvPr/>
        </p:nvSpPr>
        <p:spPr>
          <a:xfrm>
            <a:off x="609600" y="2424197"/>
            <a:ext cx="53170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INVERSIONES EN ACTIVOS FIJOS (CAPEX)</a:t>
            </a:r>
          </a:p>
        </p:txBody>
      </p:sp>
      <p:sp>
        <p:nvSpPr>
          <p:cNvPr id="221" name="AÑO 0"/>
          <p:cNvSpPr txBox="1"/>
          <p:nvPr/>
        </p:nvSpPr>
        <p:spPr>
          <a:xfrm>
            <a:off x="2640409" y="2703064"/>
            <a:ext cx="46288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0</a:t>
            </a:r>
          </a:p>
        </p:txBody>
      </p:sp>
      <p:sp>
        <p:nvSpPr>
          <p:cNvPr id="222" name="AÑO 1"/>
          <p:cNvSpPr txBox="1"/>
          <p:nvPr/>
        </p:nvSpPr>
        <p:spPr>
          <a:xfrm>
            <a:off x="3255698" y="2703064"/>
            <a:ext cx="39184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223" name="AÑO 2"/>
          <p:cNvSpPr txBox="1"/>
          <p:nvPr/>
        </p:nvSpPr>
        <p:spPr>
          <a:xfrm>
            <a:off x="3799946" y="2703064"/>
            <a:ext cx="39184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224" name="AÑO 3"/>
          <p:cNvSpPr txBox="1"/>
          <p:nvPr/>
        </p:nvSpPr>
        <p:spPr>
          <a:xfrm>
            <a:off x="4344194" y="2703064"/>
            <a:ext cx="39184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225" name="AÑO 4"/>
          <p:cNvSpPr txBox="1"/>
          <p:nvPr/>
        </p:nvSpPr>
        <p:spPr>
          <a:xfrm>
            <a:off x="4888442" y="2703064"/>
            <a:ext cx="39184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226" name="AÑO 5"/>
          <p:cNvSpPr txBox="1"/>
          <p:nvPr/>
        </p:nvSpPr>
        <p:spPr>
          <a:xfrm>
            <a:off x="5432690" y="2703064"/>
            <a:ext cx="392377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227" name="Desarrollo app y sitio web"/>
          <p:cNvSpPr txBox="1"/>
          <p:nvPr/>
        </p:nvSpPr>
        <p:spPr>
          <a:xfrm>
            <a:off x="694267" y="2937572"/>
            <a:ext cx="1810676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Desarrollo app y sitio web</a:t>
            </a:r>
          </a:p>
        </p:txBody>
      </p:sp>
      <p:sp>
        <p:nvSpPr>
          <p:cNvPr id="228" name="34.000"/>
          <p:cNvSpPr txBox="1"/>
          <p:nvPr/>
        </p:nvSpPr>
        <p:spPr>
          <a:xfrm>
            <a:off x="2640409" y="2938563"/>
            <a:ext cx="4628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34.000</a:t>
            </a:r>
          </a:p>
        </p:txBody>
      </p:sp>
      <p:sp>
        <p:nvSpPr>
          <p:cNvPr id="229" name="—"/>
          <p:cNvSpPr txBox="1"/>
          <p:nvPr/>
        </p:nvSpPr>
        <p:spPr>
          <a:xfrm>
            <a:off x="3255698" y="2938563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0" name="—"/>
          <p:cNvSpPr txBox="1"/>
          <p:nvPr/>
        </p:nvSpPr>
        <p:spPr>
          <a:xfrm>
            <a:off x="3799946" y="2938563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1" name="—"/>
          <p:cNvSpPr txBox="1"/>
          <p:nvPr/>
        </p:nvSpPr>
        <p:spPr>
          <a:xfrm>
            <a:off x="4344194" y="2938563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2" name="—"/>
          <p:cNvSpPr txBox="1"/>
          <p:nvPr/>
        </p:nvSpPr>
        <p:spPr>
          <a:xfrm>
            <a:off x="4888442" y="2938563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3" name="—"/>
          <p:cNvSpPr txBox="1"/>
          <p:nvPr/>
        </p:nvSpPr>
        <p:spPr>
          <a:xfrm>
            <a:off x="5432690" y="2938563"/>
            <a:ext cx="3923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34" name="Herramientas de trabajo"/>
          <p:cNvSpPr txBox="1"/>
          <p:nvPr/>
        </p:nvSpPr>
        <p:spPr>
          <a:xfrm>
            <a:off x="694267" y="3208505"/>
            <a:ext cx="1810676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Herramientas de trabajo</a:t>
            </a:r>
          </a:p>
        </p:txBody>
      </p:sp>
      <p:sp>
        <p:nvSpPr>
          <p:cNvPr id="235" name="2.500"/>
          <p:cNvSpPr txBox="1"/>
          <p:nvPr/>
        </p:nvSpPr>
        <p:spPr>
          <a:xfrm>
            <a:off x="2640409" y="3209496"/>
            <a:ext cx="4628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2.500</a:t>
            </a:r>
          </a:p>
        </p:txBody>
      </p:sp>
      <p:sp>
        <p:nvSpPr>
          <p:cNvPr id="236" name="900"/>
          <p:cNvSpPr txBox="1"/>
          <p:nvPr/>
        </p:nvSpPr>
        <p:spPr>
          <a:xfrm>
            <a:off x="3255698" y="3209496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900</a:t>
            </a:r>
          </a:p>
        </p:txBody>
      </p:sp>
      <p:sp>
        <p:nvSpPr>
          <p:cNvPr id="237" name="1.600"/>
          <p:cNvSpPr txBox="1"/>
          <p:nvPr/>
        </p:nvSpPr>
        <p:spPr>
          <a:xfrm>
            <a:off x="3799946" y="3209496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1.600</a:t>
            </a:r>
          </a:p>
        </p:txBody>
      </p:sp>
      <p:sp>
        <p:nvSpPr>
          <p:cNvPr id="238" name="1.400"/>
          <p:cNvSpPr txBox="1"/>
          <p:nvPr/>
        </p:nvSpPr>
        <p:spPr>
          <a:xfrm>
            <a:off x="4344194" y="3209496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1.400</a:t>
            </a:r>
          </a:p>
        </p:txBody>
      </p:sp>
      <p:sp>
        <p:nvSpPr>
          <p:cNvPr id="239" name="1.600"/>
          <p:cNvSpPr txBox="1"/>
          <p:nvPr/>
        </p:nvSpPr>
        <p:spPr>
          <a:xfrm>
            <a:off x="4888442" y="3209496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1.600</a:t>
            </a:r>
          </a:p>
        </p:txBody>
      </p:sp>
      <p:sp>
        <p:nvSpPr>
          <p:cNvPr id="240" name="1.400"/>
          <p:cNvSpPr txBox="1"/>
          <p:nvPr/>
        </p:nvSpPr>
        <p:spPr>
          <a:xfrm>
            <a:off x="5432690" y="3209496"/>
            <a:ext cx="3923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1.400</a:t>
            </a:r>
          </a:p>
        </p:txBody>
      </p:sp>
      <p:sp>
        <p:nvSpPr>
          <p:cNvPr id="241" name="Registración de marca y patente"/>
          <p:cNvSpPr txBox="1"/>
          <p:nvPr/>
        </p:nvSpPr>
        <p:spPr>
          <a:xfrm>
            <a:off x="694267" y="3479438"/>
            <a:ext cx="1810676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Registración de marca y patente</a:t>
            </a:r>
          </a:p>
        </p:txBody>
      </p:sp>
      <p:sp>
        <p:nvSpPr>
          <p:cNvPr id="242" name="1.200"/>
          <p:cNvSpPr txBox="1"/>
          <p:nvPr/>
        </p:nvSpPr>
        <p:spPr>
          <a:xfrm>
            <a:off x="2640409" y="3480430"/>
            <a:ext cx="4628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1.200</a:t>
            </a:r>
          </a:p>
        </p:txBody>
      </p:sp>
      <p:sp>
        <p:nvSpPr>
          <p:cNvPr id="243" name="—"/>
          <p:cNvSpPr txBox="1"/>
          <p:nvPr/>
        </p:nvSpPr>
        <p:spPr>
          <a:xfrm>
            <a:off x="3255698" y="3480430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4" name="—"/>
          <p:cNvSpPr txBox="1"/>
          <p:nvPr/>
        </p:nvSpPr>
        <p:spPr>
          <a:xfrm>
            <a:off x="3799946" y="3480430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5" name="—"/>
          <p:cNvSpPr txBox="1"/>
          <p:nvPr/>
        </p:nvSpPr>
        <p:spPr>
          <a:xfrm>
            <a:off x="4344194" y="3480430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6" name="—"/>
          <p:cNvSpPr txBox="1"/>
          <p:nvPr/>
        </p:nvSpPr>
        <p:spPr>
          <a:xfrm>
            <a:off x="4888442" y="3480430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7" name="—"/>
          <p:cNvSpPr txBox="1"/>
          <p:nvPr/>
        </p:nvSpPr>
        <p:spPr>
          <a:xfrm>
            <a:off x="5432690" y="3480430"/>
            <a:ext cx="3923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48" name="Otros activos fijos"/>
          <p:cNvSpPr txBox="1"/>
          <p:nvPr/>
        </p:nvSpPr>
        <p:spPr>
          <a:xfrm>
            <a:off x="694267" y="3750372"/>
            <a:ext cx="1810676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Otros activos fijos</a:t>
            </a:r>
          </a:p>
        </p:txBody>
      </p:sp>
      <p:sp>
        <p:nvSpPr>
          <p:cNvPr id="249" name="1.395"/>
          <p:cNvSpPr txBox="1"/>
          <p:nvPr/>
        </p:nvSpPr>
        <p:spPr>
          <a:xfrm>
            <a:off x="2640409" y="3751363"/>
            <a:ext cx="4628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1.395</a:t>
            </a:r>
          </a:p>
        </p:txBody>
      </p:sp>
      <p:sp>
        <p:nvSpPr>
          <p:cNvPr id="250" name="465"/>
          <p:cNvSpPr txBox="1"/>
          <p:nvPr/>
        </p:nvSpPr>
        <p:spPr>
          <a:xfrm>
            <a:off x="3255698" y="3751363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465</a:t>
            </a:r>
          </a:p>
        </p:txBody>
      </p:sp>
      <p:sp>
        <p:nvSpPr>
          <p:cNvPr id="251" name="930"/>
          <p:cNvSpPr txBox="1"/>
          <p:nvPr/>
        </p:nvSpPr>
        <p:spPr>
          <a:xfrm>
            <a:off x="3799946" y="3751363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</a:t>
            </a:r>
          </a:p>
        </p:txBody>
      </p:sp>
      <p:sp>
        <p:nvSpPr>
          <p:cNvPr id="252" name="930"/>
          <p:cNvSpPr txBox="1"/>
          <p:nvPr/>
        </p:nvSpPr>
        <p:spPr>
          <a:xfrm>
            <a:off x="4344194" y="3751363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</a:t>
            </a:r>
          </a:p>
        </p:txBody>
      </p:sp>
      <p:sp>
        <p:nvSpPr>
          <p:cNvPr id="253" name="930"/>
          <p:cNvSpPr txBox="1"/>
          <p:nvPr/>
        </p:nvSpPr>
        <p:spPr>
          <a:xfrm>
            <a:off x="4888442" y="3751363"/>
            <a:ext cx="39184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</a:t>
            </a:r>
          </a:p>
        </p:txBody>
      </p:sp>
      <p:sp>
        <p:nvSpPr>
          <p:cNvPr id="254" name="930"/>
          <p:cNvSpPr txBox="1"/>
          <p:nvPr/>
        </p:nvSpPr>
        <p:spPr>
          <a:xfrm>
            <a:off x="5432690" y="3751363"/>
            <a:ext cx="3923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</a:t>
            </a:r>
          </a:p>
        </p:txBody>
      </p:sp>
      <p:sp>
        <p:nvSpPr>
          <p:cNvPr id="255" name="Total inversiones"/>
          <p:cNvSpPr txBox="1"/>
          <p:nvPr/>
        </p:nvSpPr>
        <p:spPr>
          <a:xfrm>
            <a:off x="694267" y="4029772"/>
            <a:ext cx="1810676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Total inversiones</a:t>
            </a:r>
          </a:p>
        </p:txBody>
      </p:sp>
      <p:sp>
        <p:nvSpPr>
          <p:cNvPr id="256" name="39.095"/>
          <p:cNvSpPr txBox="1"/>
          <p:nvPr/>
        </p:nvSpPr>
        <p:spPr>
          <a:xfrm>
            <a:off x="2640409" y="4030763"/>
            <a:ext cx="462889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39.095</a:t>
            </a:r>
          </a:p>
        </p:txBody>
      </p:sp>
      <p:sp>
        <p:nvSpPr>
          <p:cNvPr id="257" name="1.365"/>
          <p:cNvSpPr txBox="1"/>
          <p:nvPr/>
        </p:nvSpPr>
        <p:spPr>
          <a:xfrm>
            <a:off x="3255698" y="4030763"/>
            <a:ext cx="39184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1.365</a:t>
            </a:r>
          </a:p>
        </p:txBody>
      </p:sp>
      <p:sp>
        <p:nvSpPr>
          <p:cNvPr id="258" name="2.530"/>
          <p:cNvSpPr txBox="1"/>
          <p:nvPr/>
        </p:nvSpPr>
        <p:spPr>
          <a:xfrm>
            <a:off x="3799946" y="4030763"/>
            <a:ext cx="39184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2.530</a:t>
            </a:r>
          </a:p>
        </p:txBody>
      </p:sp>
      <p:sp>
        <p:nvSpPr>
          <p:cNvPr id="259" name="2.330"/>
          <p:cNvSpPr txBox="1"/>
          <p:nvPr/>
        </p:nvSpPr>
        <p:spPr>
          <a:xfrm>
            <a:off x="4344194" y="4030763"/>
            <a:ext cx="39184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2.330</a:t>
            </a:r>
          </a:p>
        </p:txBody>
      </p:sp>
      <p:sp>
        <p:nvSpPr>
          <p:cNvPr id="260" name="2.530"/>
          <p:cNvSpPr txBox="1"/>
          <p:nvPr/>
        </p:nvSpPr>
        <p:spPr>
          <a:xfrm>
            <a:off x="4888442" y="4030763"/>
            <a:ext cx="39184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2.530</a:t>
            </a:r>
          </a:p>
        </p:txBody>
      </p:sp>
      <p:sp>
        <p:nvSpPr>
          <p:cNvPr id="261" name="2.330"/>
          <p:cNvSpPr txBox="1"/>
          <p:nvPr/>
        </p:nvSpPr>
        <p:spPr>
          <a:xfrm>
            <a:off x="5432690" y="4030763"/>
            <a:ext cx="392377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2.330</a:t>
            </a:r>
          </a:p>
        </p:txBody>
      </p:sp>
      <p:sp>
        <p:nvSpPr>
          <p:cNvPr id="262" name="El 87% del CAPEX se concentra en el "/>
          <p:cNvSpPr txBox="1"/>
          <p:nvPr/>
        </p:nvSpPr>
        <p:spPr>
          <a:xfrm>
            <a:off x="762000" y="4493509"/>
            <a:ext cx="4995333" cy="35965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</a:t>
            </a:r>
            <a:r>
              <a:rPr b="0" i="0" sz="9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87% del CAPEX se concentra en el Año 0</a:t>
            </a:r>
            <a:r>
              <a:rPr b="0" i="0" sz="9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 Después la inversión de capital es marginal: el negocio no requiere activos para escalar.</a:t>
            </a:r>
          </a:p>
        </p:txBody>
      </p:sp>
      <p:sp>
        <p:nvSpPr>
          <p:cNvPr id="263" name="NECESIDADES OPERATIVAS DE FONDOS (NO"/>
          <p:cNvSpPr txBox="1"/>
          <p:nvPr/>
        </p:nvSpPr>
        <p:spPr>
          <a:xfrm>
            <a:off x="6282267" y="2424197"/>
            <a:ext cx="53170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NECESIDADES OPERATIVAS DE FONDOS (NOF)</a:t>
            </a:r>
          </a:p>
        </p:txBody>
      </p:sp>
      <p:sp>
        <p:nvSpPr>
          <p:cNvPr id="264" name="AÑO 0"/>
          <p:cNvSpPr txBox="1"/>
          <p:nvPr/>
        </p:nvSpPr>
        <p:spPr>
          <a:xfrm>
            <a:off x="7691041" y="2703064"/>
            <a:ext cx="40944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0</a:t>
            </a:r>
          </a:p>
        </p:txBody>
      </p:sp>
      <p:sp>
        <p:nvSpPr>
          <p:cNvPr id="265" name="AÑO 1"/>
          <p:cNvSpPr txBox="1"/>
          <p:nvPr/>
        </p:nvSpPr>
        <p:spPr>
          <a:xfrm>
            <a:off x="8252883" y="2703064"/>
            <a:ext cx="51157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266" name="AÑO 2"/>
          <p:cNvSpPr txBox="1"/>
          <p:nvPr/>
        </p:nvSpPr>
        <p:spPr>
          <a:xfrm>
            <a:off x="8916855" y="2703064"/>
            <a:ext cx="51157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267" name="AÑO 3"/>
          <p:cNvSpPr txBox="1"/>
          <p:nvPr/>
        </p:nvSpPr>
        <p:spPr>
          <a:xfrm>
            <a:off x="9580827" y="2703064"/>
            <a:ext cx="51157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268" name="AÑO 4"/>
          <p:cNvSpPr txBox="1"/>
          <p:nvPr/>
        </p:nvSpPr>
        <p:spPr>
          <a:xfrm>
            <a:off x="10244799" y="2703064"/>
            <a:ext cx="51157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269" name="AÑO 5"/>
          <p:cNvSpPr txBox="1"/>
          <p:nvPr/>
        </p:nvSpPr>
        <p:spPr>
          <a:xfrm>
            <a:off x="10908771" y="2703064"/>
            <a:ext cx="58896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270" name="Cuentas por cobrar"/>
          <p:cNvSpPr txBox="1"/>
          <p:nvPr/>
        </p:nvSpPr>
        <p:spPr>
          <a:xfrm>
            <a:off x="6366933" y="2937572"/>
            <a:ext cx="1188641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Cuentas por cobrar</a:t>
            </a:r>
          </a:p>
        </p:txBody>
      </p:sp>
      <p:sp>
        <p:nvSpPr>
          <p:cNvPr id="271" name="0"/>
          <p:cNvSpPr txBox="1"/>
          <p:nvPr/>
        </p:nvSpPr>
        <p:spPr>
          <a:xfrm>
            <a:off x="7691041" y="2938563"/>
            <a:ext cx="40944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2" name="19.004"/>
          <p:cNvSpPr txBox="1"/>
          <p:nvPr/>
        </p:nvSpPr>
        <p:spPr>
          <a:xfrm>
            <a:off x="8252883" y="2938563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19.004</a:t>
            </a:r>
          </a:p>
        </p:txBody>
      </p:sp>
      <p:sp>
        <p:nvSpPr>
          <p:cNvPr id="273" name="31.870"/>
          <p:cNvSpPr txBox="1"/>
          <p:nvPr/>
        </p:nvSpPr>
        <p:spPr>
          <a:xfrm>
            <a:off x="8916855" y="2938563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31.870</a:t>
            </a:r>
          </a:p>
        </p:txBody>
      </p:sp>
      <p:sp>
        <p:nvSpPr>
          <p:cNvPr id="274" name="79.665"/>
          <p:cNvSpPr txBox="1"/>
          <p:nvPr/>
        </p:nvSpPr>
        <p:spPr>
          <a:xfrm>
            <a:off x="9580827" y="2938563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79.665</a:t>
            </a:r>
          </a:p>
        </p:txBody>
      </p:sp>
      <p:sp>
        <p:nvSpPr>
          <p:cNvPr id="275" name="95.598"/>
          <p:cNvSpPr txBox="1"/>
          <p:nvPr/>
        </p:nvSpPr>
        <p:spPr>
          <a:xfrm>
            <a:off x="10244799" y="2938563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95.598</a:t>
            </a:r>
          </a:p>
        </p:txBody>
      </p:sp>
      <p:sp>
        <p:nvSpPr>
          <p:cNvPr id="276" name="109.938"/>
          <p:cNvSpPr txBox="1"/>
          <p:nvPr/>
        </p:nvSpPr>
        <p:spPr>
          <a:xfrm>
            <a:off x="10908771" y="2938563"/>
            <a:ext cx="58896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109.938</a:t>
            </a:r>
          </a:p>
        </p:txBody>
      </p:sp>
      <p:sp>
        <p:nvSpPr>
          <p:cNvPr id="277" name="Cuentas por pagar"/>
          <p:cNvSpPr txBox="1"/>
          <p:nvPr/>
        </p:nvSpPr>
        <p:spPr>
          <a:xfrm>
            <a:off x="6366933" y="3208505"/>
            <a:ext cx="1188641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Cuentas por pagar</a:t>
            </a:r>
          </a:p>
        </p:txBody>
      </p:sp>
      <p:sp>
        <p:nvSpPr>
          <p:cNvPr id="278" name="769"/>
          <p:cNvSpPr txBox="1"/>
          <p:nvPr/>
        </p:nvSpPr>
        <p:spPr>
          <a:xfrm>
            <a:off x="7691041" y="3209496"/>
            <a:ext cx="40944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769</a:t>
            </a:r>
          </a:p>
        </p:txBody>
      </p:sp>
      <p:sp>
        <p:nvSpPr>
          <p:cNvPr id="279" name="1.522"/>
          <p:cNvSpPr txBox="1"/>
          <p:nvPr/>
        </p:nvSpPr>
        <p:spPr>
          <a:xfrm>
            <a:off x="8252883" y="3209496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1.522</a:t>
            </a:r>
          </a:p>
        </p:txBody>
      </p:sp>
      <p:sp>
        <p:nvSpPr>
          <p:cNvPr id="280" name="1.645"/>
          <p:cNvSpPr txBox="1"/>
          <p:nvPr/>
        </p:nvSpPr>
        <p:spPr>
          <a:xfrm>
            <a:off x="8916855" y="3209496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1.645</a:t>
            </a:r>
          </a:p>
        </p:txBody>
      </p:sp>
      <p:sp>
        <p:nvSpPr>
          <p:cNvPr id="281" name="1.781"/>
          <p:cNvSpPr txBox="1"/>
          <p:nvPr/>
        </p:nvSpPr>
        <p:spPr>
          <a:xfrm>
            <a:off x="9580827" y="3209496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1.781</a:t>
            </a:r>
          </a:p>
        </p:txBody>
      </p:sp>
      <p:sp>
        <p:nvSpPr>
          <p:cNvPr id="282" name="1.942"/>
          <p:cNvSpPr txBox="1"/>
          <p:nvPr/>
        </p:nvSpPr>
        <p:spPr>
          <a:xfrm>
            <a:off x="10244799" y="3209496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1.942</a:t>
            </a:r>
          </a:p>
        </p:txBody>
      </p:sp>
      <p:sp>
        <p:nvSpPr>
          <p:cNvPr id="283" name="2.123"/>
          <p:cNvSpPr txBox="1"/>
          <p:nvPr/>
        </p:nvSpPr>
        <p:spPr>
          <a:xfrm>
            <a:off x="10908771" y="3209496"/>
            <a:ext cx="58896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2.123</a:t>
            </a:r>
          </a:p>
        </p:txBody>
      </p:sp>
      <p:sp>
        <p:nvSpPr>
          <p:cNvPr id="284" name="NOF"/>
          <p:cNvSpPr txBox="1"/>
          <p:nvPr/>
        </p:nvSpPr>
        <p:spPr>
          <a:xfrm>
            <a:off x="6366933" y="3487905"/>
            <a:ext cx="1188641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NOF</a:t>
            </a:r>
          </a:p>
        </p:txBody>
      </p:sp>
      <p:sp>
        <p:nvSpPr>
          <p:cNvPr id="285" name="−769"/>
          <p:cNvSpPr txBox="1"/>
          <p:nvPr/>
        </p:nvSpPr>
        <p:spPr>
          <a:xfrm>
            <a:off x="7691041" y="3488896"/>
            <a:ext cx="40944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−769</a:t>
            </a:r>
          </a:p>
        </p:txBody>
      </p:sp>
      <p:sp>
        <p:nvSpPr>
          <p:cNvPr id="286" name="17.482"/>
          <p:cNvSpPr txBox="1"/>
          <p:nvPr/>
        </p:nvSpPr>
        <p:spPr>
          <a:xfrm>
            <a:off x="8252883" y="3488896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17.482</a:t>
            </a:r>
          </a:p>
        </p:txBody>
      </p:sp>
      <p:sp>
        <p:nvSpPr>
          <p:cNvPr id="287" name="30.225"/>
          <p:cNvSpPr txBox="1"/>
          <p:nvPr/>
        </p:nvSpPr>
        <p:spPr>
          <a:xfrm>
            <a:off x="8916855" y="3488896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30.225</a:t>
            </a:r>
          </a:p>
        </p:txBody>
      </p:sp>
      <p:sp>
        <p:nvSpPr>
          <p:cNvPr id="288" name="77.884"/>
          <p:cNvSpPr txBox="1"/>
          <p:nvPr/>
        </p:nvSpPr>
        <p:spPr>
          <a:xfrm>
            <a:off x="9580827" y="3488896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77.884</a:t>
            </a:r>
          </a:p>
        </p:txBody>
      </p:sp>
      <p:sp>
        <p:nvSpPr>
          <p:cNvPr id="289" name="93.656"/>
          <p:cNvSpPr txBox="1"/>
          <p:nvPr/>
        </p:nvSpPr>
        <p:spPr>
          <a:xfrm>
            <a:off x="10244799" y="3488896"/>
            <a:ext cx="51157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93.656</a:t>
            </a:r>
          </a:p>
        </p:txBody>
      </p:sp>
      <p:sp>
        <p:nvSpPr>
          <p:cNvPr id="290" name="107.815"/>
          <p:cNvSpPr txBox="1"/>
          <p:nvPr/>
        </p:nvSpPr>
        <p:spPr>
          <a:xfrm>
            <a:off x="10908771" y="3488896"/>
            <a:ext cx="58896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107.815</a:t>
            </a:r>
          </a:p>
        </p:txBody>
      </p:sp>
      <p:sp>
        <p:nvSpPr>
          <p:cNvPr id="291" name="Variación NOF"/>
          <p:cNvSpPr txBox="1"/>
          <p:nvPr/>
        </p:nvSpPr>
        <p:spPr>
          <a:xfrm>
            <a:off x="6366933" y="3758838"/>
            <a:ext cx="1188641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Variación NOF</a:t>
            </a:r>
          </a:p>
        </p:txBody>
      </p:sp>
      <p:sp>
        <p:nvSpPr>
          <p:cNvPr id="292" name="−769"/>
          <p:cNvSpPr txBox="1"/>
          <p:nvPr/>
        </p:nvSpPr>
        <p:spPr>
          <a:xfrm>
            <a:off x="7691041" y="3759830"/>
            <a:ext cx="40944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−769</a:t>
            </a:r>
          </a:p>
        </p:txBody>
      </p:sp>
      <p:sp>
        <p:nvSpPr>
          <p:cNvPr id="293" name="18.252"/>
          <p:cNvSpPr txBox="1"/>
          <p:nvPr/>
        </p:nvSpPr>
        <p:spPr>
          <a:xfrm>
            <a:off x="8252883" y="3759830"/>
            <a:ext cx="51157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18.252</a:t>
            </a:r>
          </a:p>
        </p:txBody>
      </p:sp>
      <p:sp>
        <p:nvSpPr>
          <p:cNvPr id="294" name="12.743"/>
          <p:cNvSpPr txBox="1"/>
          <p:nvPr/>
        </p:nvSpPr>
        <p:spPr>
          <a:xfrm>
            <a:off x="8916855" y="3759830"/>
            <a:ext cx="51157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12.743</a:t>
            </a:r>
          </a:p>
        </p:txBody>
      </p:sp>
      <p:sp>
        <p:nvSpPr>
          <p:cNvPr id="295" name="47.658"/>
          <p:cNvSpPr txBox="1"/>
          <p:nvPr/>
        </p:nvSpPr>
        <p:spPr>
          <a:xfrm>
            <a:off x="9580827" y="3759830"/>
            <a:ext cx="51157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47.658</a:t>
            </a:r>
          </a:p>
        </p:txBody>
      </p:sp>
      <p:sp>
        <p:nvSpPr>
          <p:cNvPr id="296" name="15.773"/>
          <p:cNvSpPr txBox="1"/>
          <p:nvPr/>
        </p:nvSpPr>
        <p:spPr>
          <a:xfrm>
            <a:off x="10244799" y="3759830"/>
            <a:ext cx="51157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15.773</a:t>
            </a:r>
          </a:p>
        </p:txBody>
      </p:sp>
      <p:sp>
        <p:nvSpPr>
          <p:cNvPr id="297" name="14.158"/>
          <p:cNvSpPr txBox="1"/>
          <p:nvPr/>
        </p:nvSpPr>
        <p:spPr>
          <a:xfrm>
            <a:off x="10908771" y="3759830"/>
            <a:ext cx="58896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14.158</a:t>
            </a:r>
          </a:p>
        </p:txBody>
      </p:sp>
      <p:sp>
        <p:nvSpPr>
          <p:cNvPr id="298" name="IMPUESTO A LAS GANANCIAS"/>
          <p:cNvSpPr txBox="1"/>
          <p:nvPr/>
        </p:nvSpPr>
        <p:spPr>
          <a:xfrm>
            <a:off x="6282267" y="4176797"/>
            <a:ext cx="53170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IMPUESTO A LAS GANANCIAS</a:t>
            </a:r>
          </a:p>
        </p:txBody>
      </p:sp>
      <p:sp>
        <p:nvSpPr>
          <p:cNvPr id="299" name="AÑO 0"/>
          <p:cNvSpPr txBox="1"/>
          <p:nvPr/>
        </p:nvSpPr>
        <p:spPr>
          <a:xfrm>
            <a:off x="7869237" y="4455664"/>
            <a:ext cx="43272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0</a:t>
            </a:r>
          </a:p>
        </p:txBody>
      </p:sp>
      <p:sp>
        <p:nvSpPr>
          <p:cNvPr id="300" name="AÑO 1"/>
          <p:cNvSpPr txBox="1"/>
          <p:nvPr/>
        </p:nvSpPr>
        <p:spPr>
          <a:xfrm>
            <a:off x="8454364" y="4455664"/>
            <a:ext cx="43272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301" name="AÑO 2"/>
          <p:cNvSpPr txBox="1"/>
          <p:nvPr/>
        </p:nvSpPr>
        <p:spPr>
          <a:xfrm>
            <a:off x="9039490" y="4455664"/>
            <a:ext cx="43272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302" name="AÑO 3"/>
          <p:cNvSpPr txBox="1"/>
          <p:nvPr/>
        </p:nvSpPr>
        <p:spPr>
          <a:xfrm>
            <a:off x="9624616" y="4455664"/>
            <a:ext cx="50019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303" name="AÑO 4"/>
          <p:cNvSpPr txBox="1"/>
          <p:nvPr/>
        </p:nvSpPr>
        <p:spPr>
          <a:xfrm>
            <a:off x="10277210" y="4455664"/>
            <a:ext cx="500195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304" name="AÑO 5"/>
          <p:cNvSpPr txBox="1"/>
          <p:nvPr/>
        </p:nvSpPr>
        <p:spPr>
          <a:xfrm>
            <a:off x="10929805" y="4455664"/>
            <a:ext cx="56792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305" name="Saldo a favor del ejercicio"/>
          <p:cNvSpPr txBox="1"/>
          <p:nvPr/>
        </p:nvSpPr>
        <p:spPr>
          <a:xfrm>
            <a:off x="6366933" y="4690172"/>
            <a:ext cx="136683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Saldo a favor del ejercicio</a:t>
            </a:r>
          </a:p>
        </p:txBody>
      </p:sp>
      <p:sp>
        <p:nvSpPr>
          <p:cNvPr id="306" name="17.279"/>
          <p:cNvSpPr txBox="1"/>
          <p:nvPr/>
        </p:nvSpPr>
        <p:spPr>
          <a:xfrm>
            <a:off x="7869237" y="4691163"/>
            <a:ext cx="43272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17.279</a:t>
            </a:r>
          </a:p>
        </p:txBody>
      </p:sp>
      <p:sp>
        <p:nvSpPr>
          <p:cNvPr id="307" name="7.102"/>
          <p:cNvSpPr txBox="1"/>
          <p:nvPr/>
        </p:nvSpPr>
        <p:spPr>
          <a:xfrm>
            <a:off x="8454364" y="4691163"/>
            <a:ext cx="43272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7.102</a:t>
            </a:r>
          </a:p>
        </p:txBody>
      </p:sp>
      <p:sp>
        <p:nvSpPr>
          <p:cNvPr id="308" name="—"/>
          <p:cNvSpPr txBox="1"/>
          <p:nvPr/>
        </p:nvSpPr>
        <p:spPr>
          <a:xfrm>
            <a:off x="9039490" y="4691163"/>
            <a:ext cx="43272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09" name="—"/>
          <p:cNvSpPr txBox="1"/>
          <p:nvPr/>
        </p:nvSpPr>
        <p:spPr>
          <a:xfrm>
            <a:off x="9624616" y="4691163"/>
            <a:ext cx="50019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0" name="—"/>
          <p:cNvSpPr txBox="1"/>
          <p:nvPr/>
        </p:nvSpPr>
        <p:spPr>
          <a:xfrm>
            <a:off x="10277210" y="4691163"/>
            <a:ext cx="50019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1" name="—"/>
          <p:cNvSpPr txBox="1"/>
          <p:nvPr/>
        </p:nvSpPr>
        <p:spPr>
          <a:xfrm>
            <a:off x="10929805" y="4691163"/>
            <a:ext cx="5679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2" name="Saldo a favor acumulado"/>
          <p:cNvSpPr txBox="1"/>
          <p:nvPr/>
        </p:nvSpPr>
        <p:spPr>
          <a:xfrm>
            <a:off x="6366933" y="4961105"/>
            <a:ext cx="136683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Saldo a favor acumulado</a:t>
            </a:r>
          </a:p>
        </p:txBody>
      </p:sp>
      <p:sp>
        <p:nvSpPr>
          <p:cNvPr id="313" name="17.279"/>
          <p:cNvSpPr txBox="1"/>
          <p:nvPr/>
        </p:nvSpPr>
        <p:spPr>
          <a:xfrm>
            <a:off x="7869237" y="4962096"/>
            <a:ext cx="43272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17.279</a:t>
            </a:r>
          </a:p>
        </p:txBody>
      </p:sp>
      <p:sp>
        <p:nvSpPr>
          <p:cNvPr id="314" name="24.381"/>
          <p:cNvSpPr txBox="1"/>
          <p:nvPr/>
        </p:nvSpPr>
        <p:spPr>
          <a:xfrm>
            <a:off x="8454364" y="4962096"/>
            <a:ext cx="43272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24.381</a:t>
            </a:r>
          </a:p>
        </p:txBody>
      </p:sp>
      <p:sp>
        <p:nvSpPr>
          <p:cNvPr id="315" name="15.309"/>
          <p:cNvSpPr txBox="1"/>
          <p:nvPr/>
        </p:nvSpPr>
        <p:spPr>
          <a:xfrm>
            <a:off x="9039490" y="4962096"/>
            <a:ext cx="43272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15.309</a:t>
            </a:r>
          </a:p>
        </p:txBody>
      </p:sp>
      <p:sp>
        <p:nvSpPr>
          <p:cNvPr id="316" name="—"/>
          <p:cNvSpPr txBox="1"/>
          <p:nvPr/>
        </p:nvSpPr>
        <p:spPr>
          <a:xfrm>
            <a:off x="9624616" y="4962096"/>
            <a:ext cx="50019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7" name="—"/>
          <p:cNvSpPr txBox="1"/>
          <p:nvPr/>
        </p:nvSpPr>
        <p:spPr>
          <a:xfrm>
            <a:off x="10277210" y="4962096"/>
            <a:ext cx="500195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8" name="—"/>
          <p:cNvSpPr txBox="1"/>
          <p:nvPr/>
        </p:nvSpPr>
        <p:spPr>
          <a:xfrm>
            <a:off x="10929805" y="4962096"/>
            <a:ext cx="567928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319" name="Saldo a pagar"/>
          <p:cNvSpPr txBox="1"/>
          <p:nvPr/>
        </p:nvSpPr>
        <p:spPr>
          <a:xfrm>
            <a:off x="6366933" y="5240505"/>
            <a:ext cx="1366837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Saldo a pagar</a:t>
            </a:r>
          </a:p>
        </p:txBody>
      </p:sp>
      <p:sp>
        <p:nvSpPr>
          <p:cNvPr id="320" name="—"/>
          <p:cNvSpPr txBox="1"/>
          <p:nvPr/>
        </p:nvSpPr>
        <p:spPr>
          <a:xfrm>
            <a:off x="7869237" y="5241496"/>
            <a:ext cx="43272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—</a:t>
            </a:r>
          </a:p>
        </p:txBody>
      </p:sp>
      <p:sp>
        <p:nvSpPr>
          <p:cNvPr id="321" name="—"/>
          <p:cNvSpPr txBox="1"/>
          <p:nvPr/>
        </p:nvSpPr>
        <p:spPr>
          <a:xfrm>
            <a:off x="8454364" y="5241496"/>
            <a:ext cx="43272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—</a:t>
            </a:r>
          </a:p>
        </p:txBody>
      </p:sp>
      <p:sp>
        <p:nvSpPr>
          <p:cNvPr id="322" name="—"/>
          <p:cNvSpPr txBox="1"/>
          <p:nvPr/>
        </p:nvSpPr>
        <p:spPr>
          <a:xfrm>
            <a:off x="9039490" y="5241496"/>
            <a:ext cx="43272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—</a:t>
            </a:r>
          </a:p>
        </p:txBody>
      </p:sp>
      <p:sp>
        <p:nvSpPr>
          <p:cNvPr id="323" name="−63.325"/>
          <p:cNvSpPr txBox="1"/>
          <p:nvPr/>
        </p:nvSpPr>
        <p:spPr>
          <a:xfrm>
            <a:off x="9624616" y="5241496"/>
            <a:ext cx="50019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−63.325</a:t>
            </a:r>
          </a:p>
        </p:txBody>
      </p:sp>
      <p:sp>
        <p:nvSpPr>
          <p:cNvPr id="324" name="−98.833"/>
          <p:cNvSpPr txBox="1"/>
          <p:nvPr/>
        </p:nvSpPr>
        <p:spPr>
          <a:xfrm>
            <a:off x="10277210" y="5241496"/>
            <a:ext cx="500195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−98.833</a:t>
            </a:r>
          </a:p>
        </p:txBody>
      </p:sp>
      <p:sp>
        <p:nvSpPr>
          <p:cNvPr id="325" name="−115.879"/>
          <p:cNvSpPr txBox="1"/>
          <p:nvPr/>
        </p:nvSpPr>
        <p:spPr>
          <a:xfrm>
            <a:off x="10929805" y="5241496"/>
            <a:ext cx="567928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−115.879</a:t>
            </a:r>
          </a:p>
        </p:txBody>
      </p:sp>
      <p:sp>
        <p:nvSpPr>
          <p:cNvPr id="326" name="4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591733"/>
            <a:ext cx="189653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18161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2506133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2506133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3241940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3241940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3977746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3977746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4713552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4713552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5449358" y="1591733"/>
            <a:ext cx="7358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5449358" y="18161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185165" y="1591733"/>
            <a:ext cx="88820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185165" y="18161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1824567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20870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2506133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2506133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3241940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3241940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3977746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3977746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4713552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4713552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5449358" y="18245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5449358" y="20870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6185165" y="1824567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6185165" y="20870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2095500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2357967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2506133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2506133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3241940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3241940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3977746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3977746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4713552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4713552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5449358" y="20955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5449358" y="23579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6185165" y="2095500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6185165" y="2357967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2366433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2628900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2506133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2506133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3241940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3241940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3977746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3977746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4713552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4713552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5449358" y="23664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5449358" y="26289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6185165" y="2366433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6185165" y="2628900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2637367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28998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2506133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2506133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3241940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3241940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3977746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3977746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4713552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4713552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5449358" y="2637367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5449358" y="28998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6185165" y="2637367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6185165" y="28998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609600" y="29083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top"/>
          <p:cNvSpPr/>
          <p:nvPr/>
        </p:nvSpPr>
        <p:spPr>
          <a:xfrm>
            <a:off x="609600" y="29083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2506133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top"/>
          <p:cNvSpPr/>
          <p:nvPr/>
        </p:nvSpPr>
        <p:spPr>
          <a:xfrm>
            <a:off x="2506133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3241940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top"/>
          <p:cNvSpPr/>
          <p:nvPr/>
        </p:nvSpPr>
        <p:spPr>
          <a:xfrm>
            <a:off x="3241940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3977746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top"/>
          <p:cNvSpPr/>
          <p:nvPr/>
        </p:nvSpPr>
        <p:spPr>
          <a:xfrm>
            <a:off x="3977746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4713552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top"/>
          <p:cNvSpPr/>
          <p:nvPr/>
        </p:nvSpPr>
        <p:spPr>
          <a:xfrm>
            <a:off x="4713552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5449358" y="29083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top"/>
          <p:cNvSpPr/>
          <p:nvPr/>
        </p:nvSpPr>
        <p:spPr>
          <a:xfrm>
            <a:off x="5449358" y="29083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6185165" y="29083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top"/>
          <p:cNvSpPr/>
          <p:nvPr/>
        </p:nvSpPr>
        <p:spPr>
          <a:xfrm>
            <a:off x="6185165" y="29083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31750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34332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2506133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2506133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3241940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3241940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3977746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3977746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4713552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4713552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5449358" y="31750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5449358" y="34332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6185165" y="31750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bottom"/>
          <p:cNvSpPr/>
          <p:nvPr/>
        </p:nvSpPr>
        <p:spPr>
          <a:xfrm>
            <a:off x="6185165" y="34332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609600" y="34417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top"/>
          <p:cNvSpPr/>
          <p:nvPr/>
        </p:nvSpPr>
        <p:spPr>
          <a:xfrm>
            <a:off x="609600" y="3441700"/>
            <a:ext cx="189653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2506133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top"/>
          <p:cNvSpPr/>
          <p:nvPr/>
        </p:nvSpPr>
        <p:spPr>
          <a:xfrm>
            <a:off x="2506133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3241940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top"/>
          <p:cNvSpPr/>
          <p:nvPr/>
        </p:nvSpPr>
        <p:spPr>
          <a:xfrm>
            <a:off x="3241940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3977746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top"/>
          <p:cNvSpPr/>
          <p:nvPr/>
        </p:nvSpPr>
        <p:spPr>
          <a:xfrm>
            <a:off x="3977746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4713552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top"/>
          <p:cNvSpPr/>
          <p:nvPr/>
        </p:nvSpPr>
        <p:spPr>
          <a:xfrm>
            <a:off x="4713552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rco"/>
          <p:cNvSpPr/>
          <p:nvPr/>
        </p:nvSpPr>
        <p:spPr>
          <a:xfrm>
            <a:off x="5449358" y="34417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borde top"/>
          <p:cNvSpPr/>
          <p:nvPr/>
        </p:nvSpPr>
        <p:spPr>
          <a:xfrm>
            <a:off x="5449358" y="3441700"/>
            <a:ext cx="7358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rco"/>
          <p:cNvSpPr/>
          <p:nvPr/>
        </p:nvSpPr>
        <p:spPr>
          <a:xfrm>
            <a:off x="6185165" y="34417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rde top"/>
          <p:cNvSpPr/>
          <p:nvPr/>
        </p:nvSpPr>
        <p:spPr>
          <a:xfrm>
            <a:off x="6185165" y="3441700"/>
            <a:ext cx="88820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marco"/>
          <p:cNvSpPr/>
          <p:nvPr/>
        </p:nvSpPr>
        <p:spPr>
          <a:xfrm>
            <a:off x="609600" y="3708400"/>
            <a:ext cx="189653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borde bottom"/>
          <p:cNvSpPr/>
          <p:nvPr/>
        </p:nvSpPr>
        <p:spPr>
          <a:xfrm>
            <a:off x="609600" y="3966633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marco"/>
          <p:cNvSpPr/>
          <p:nvPr/>
        </p:nvSpPr>
        <p:spPr>
          <a:xfrm>
            <a:off x="2506133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borde bottom"/>
          <p:cNvSpPr/>
          <p:nvPr/>
        </p:nvSpPr>
        <p:spPr>
          <a:xfrm>
            <a:off x="2506133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marco"/>
          <p:cNvSpPr/>
          <p:nvPr/>
        </p:nvSpPr>
        <p:spPr>
          <a:xfrm>
            <a:off x="3241940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borde bottom"/>
          <p:cNvSpPr/>
          <p:nvPr/>
        </p:nvSpPr>
        <p:spPr>
          <a:xfrm>
            <a:off x="3241940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rco"/>
          <p:cNvSpPr/>
          <p:nvPr/>
        </p:nvSpPr>
        <p:spPr>
          <a:xfrm>
            <a:off x="3977746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borde bottom"/>
          <p:cNvSpPr/>
          <p:nvPr/>
        </p:nvSpPr>
        <p:spPr>
          <a:xfrm>
            <a:off x="3977746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marco"/>
          <p:cNvSpPr/>
          <p:nvPr/>
        </p:nvSpPr>
        <p:spPr>
          <a:xfrm>
            <a:off x="4713552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borde bottom"/>
          <p:cNvSpPr/>
          <p:nvPr/>
        </p:nvSpPr>
        <p:spPr>
          <a:xfrm>
            <a:off x="4713552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marco"/>
          <p:cNvSpPr/>
          <p:nvPr/>
        </p:nvSpPr>
        <p:spPr>
          <a:xfrm>
            <a:off x="5449358" y="3708400"/>
            <a:ext cx="7358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borde bottom"/>
          <p:cNvSpPr/>
          <p:nvPr/>
        </p:nvSpPr>
        <p:spPr>
          <a:xfrm>
            <a:off x="5449358" y="3966633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arco"/>
          <p:cNvSpPr/>
          <p:nvPr/>
        </p:nvSpPr>
        <p:spPr>
          <a:xfrm>
            <a:off x="6185165" y="3708400"/>
            <a:ext cx="88820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borde bottom"/>
          <p:cNvSpPr/>
          <p:nvPr/>
        </p:nvSpPr>
        <p:spPr>
          <a:xfrm>
            <a:off x="6185165" y="3966633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marco"/>
          <p:cNvSpPr/>
          <p:nvPr/>
        </p:nvSpPr>
        <p:spPr>
          <a:xfrm>
            <a:off x="609600" y="3975100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borde bottom"/>
          <p:cNvSpPr/>
          <p:nvPr/>
        </p:nvSpPr>
        <p:spPr>
          <a:xfrm>
            <a:off x="609600" y="4237567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marco"/>
          <p:cNvSpPr/>
          <p:nvPr/>
        </p:nvSpPr>
        <p:spPr>
          <a:xfrm>
            <a:off x="2506133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borde bottom"/>
          <p:cNvSpPr/>
          <p:nvPr/>
        </p:nvSpPr>
        <p:spPr>
          <a:xfrm>
            <a:off x="2506133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marco"/>
          <p:cNvSpPr/>
          <p:nvPr/>
        </p:nvSpPr>
        <p:spPr>
          <a:xfrm>
            <a:off x="3241940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borde bottom"/>
          <p:cNvSpPr/>
          <p:nvPr/>
        </p:nvSpPr>
        <p:spPr>
          <a:xfrm>
            <a:off x="3241940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marco"/>
          <p:cNvSpPr/>
          <p:nvPr/>
        </p:nvSpPr>
        <p:spPr>
          <a:xfrm>
            <a:off x="3977746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borde bottom"/>
          <p:cNvSpPr/>
          <p:nvPr/>
        </p:nvSpPr>
        <p:spPr>
          <a:xfrm>
            <a:off x="3977746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marco"/>
          <p:cNvSpPr/>
          <p:nvPr/>
        </p:nvSpPr>
        <p:spPr>
          <a:xfrm>
            <a:off x="4713552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borde bottom"/>
          <p:cNvSpPr/>
          <p:nvPr/>
        </p:nvSpPr>
        <p:spPr>
          <a:xfrm>
            <a:off x="4713552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marco"/>
          <p:cNvSpPr/>
          <p:nvPr/>
        </p:nvSpPr>
        <p:spPr>
          <a:xfrm>
            <a:off x="5449358" y="3975100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borde bottom"/>
          <p:cNvSpPr/>
          <p:nvPr/>
        </p:nvSpPr>
        <p:spPr>
          <a:xfrm>
            <a:off x="5449358" y="4237567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marco"/>
          <p:cNvSpPr/>
          <p:nvPr/>
        </p:nvSpPr>
        <p:spPr>
          <a:xfrm>
            <a:off x="6185165" y="3975100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borde bottom"/>
          <p:cNvSpPr/>
          <p:nvPr/>
        </p:nvSpPr>
        <p:spPr>
          <a:xfrm>
            <a:off x="6185165" y="4237567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marco"/>
          <p:cNvSpPr/>
          <p:nvPr/>
        </p:nvSpPr>
        <p:spPr>
          <a:xfrm>
            <a:off x="609600" y="4246033"/>
            <a:ext cx="189653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borde bottom"/>
          <p:cNvSpPr/>
          <p:nvPr/>
        </p:nvSpPr>
        <p:spPr>
          <a:xfrm>
            <a:off x="609600" y="4508500"/>
            <a:ext cx="18965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marco"/>
          <p:cNvSpPr/>
          <p:nvPr/>
        </p:nvSpPr>
        <p:spPr>
          <a:xfrm>
            <a:off x="2506133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borde bottom"/>
          <p:cNvSpPr/>
          <p:nvPr/>
        </p:nvSpPr>
        <p:spPr>
          <a:xfrm>
            <a:off x="2506133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marco"/>
          <p:cNvSpPr/>
          <p:nvPr/>
        </p:nvSpPr>
        <p:spPr>
          <a:xfrm>
            <a:off x="3241940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borde bottom"/>
          <p:cNvSpPr/>
          <p:nvPr/>
        </p:nvSpPr>
        <p:spPr>
          <a:xfrm>
            <a:off x="3241940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marco"/>
          <p:cNvSpPr/>
          <p:nvPr/>
        </p:nvSpPr>
        <p:spPr>
          <a:xfrm>
            <a:off x="3977746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borde bottom"/>
          <p:cNvSpPr/>
          <p:nvPr/>
        </p:nvSpPr>
        <p:spPr>
          <a:xfrm>
            <a:off x="3977746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marco"/>
          <p:cNvSpPr/>
          <p:nvPr/>
        </p:nvSpPr>
        <p:spPr>
          <a:xfrm>
            <a:off x="4713552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borde bottom"/>
          <p:cNvSpPr/>
          <p:nvPr/>
        </p:nvSpPr>
        <p:spPr>
          <a:xfrm>
            <a:off x="4713552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marco"/>
          <p:cNvSpPr/>
          <p:nvPr/>
        </p:nvSpPr>
        <p:spPr>
          <a:xfrm>
            <a:off x="5449358" y="4246033"/>
            <a:ext cx="7358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orde bottom"/>
          <p:cNvSpPr/>
          <p:nvPr/>
        </p:nvSpPr>
        <p:spPr>
          <a:xfrm>
            <a:off x="5449358" y="4508500"/>
            <a:ext cx="7358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marco"/>
          <p:cNvSpPr/>
          <p:nvPr/>
        </p:nvSpPr>
        <p:spPr>
          <a:xfrm>
            <a:off x="6185165" y="4246033"/>
            <a:ext cx="88820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borde bottom"/>
          <p:cNvSpPr/>
          <p:nvPr/>
        </p:nvSpPr>
        <p:spPr>
          <a:xfrm>
            <a:off x="6185165" y="4508500"/>
            <a:ext cx="88820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marco"/>
          <p:cNvSpPr/>
          <p:nvPr/>
        </p:nvSpPr>
        <p:spPr>
          <a:xfrm>
            <a:off x="7412037" y="1591733"/>
            <a:ext cx="4170362" cy="1261533"/>
          </a:xfrm>
          <a:prstGeom prst="roundRect">
            <a:avLst>
              <a:gd name="adj" fmla="val 268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borde top"/>
          <p:cNvSpPr/>
          <p:nvPr/>
        </p:nvSpPr>
        <p:spPr>
          <a:xfrm>
            <a:off x="7412037" y="1591733"/>
            <a:ext cx="4170362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orde right"/>
          <p:cNvSpPr/>
          <p:nvPr/>
        </p:nvSpPr>
        <p:spPr>
          <a:xfrm>
            <a:off x="11573933" y="1591733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borde bottom"/>
          <p:cNvSpPr/>
          <p:nvPr/>
        </p:nvSpPr>
        <p:spPr>
          <a:xfrm>
            <a:off x="7412037" y="2844800"/>
            <a:ext cx="4170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borde left"/>
          <p:cNvSpPr/>
          <p:nvPr/>
        </p:nvSpPr>
        <p:spPr>
          <a:xfrm>
            <a:off x="7412037" y="1591733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marco"/>
          <p:cNvSpPr/>
          <p:nvPr/>
        </p:nvSpPr>
        <p:spPr>
          <a:xfrm>
            <a:off x="7623704" y="2353733"/>
            <a:ext cx="3747029" cy="321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borde top"/>
          <p:cNvSpPr/>
          <p:nvPr/>
        </p:nvSpPr>
        <p:spPr>
          <a:xfrm>
            <a:off x="7623704" y="2353733"/>
            <a:ext cx="37470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marco"/>
          <p:cNvSpPr/>
          <p:nvPr/>
        </p:nvSpPr>
        <p:spPr>
          <a:xfrm>
            <a:off x="7412037" y="3005667"/>
            <a:ext cx="4170362" cy="1261533"/>
          </a:xfrm>
          <a:prstGeom prst="roundRect">
            <a:avLst>
              <a:gd name="adj" fmla="val 2684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orde top"/>
          <p:cNvSpPr/>
          <p:nvPr/>
        </p:nvSpPr>
        <p:spPr>
          <a:xfrm>
            <a:off x="7412037" y="3005667"/>
            <a:ext cx="4170362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borde right"/>
          <p:cNvSpPr/>
          <p:nvPr/>
        </p:nvSpPr>
        <p:spPr>
          <a:xfrm>
            <a:off x="11573933" y="3005667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borde bottom"/>
          <p:cNvSpPr/>
          <p:nvPr/>
        </p:nvSpPr>
        <p:spPr>
          <a:xfrm>
            <a:off x="7412037" y="4258733"/>
            <a:ext cx="417036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orde left"/>
          <p:cNvSpPr/>
          <p:nvPr/>
        </p:nvSpPr>
        <p:spPr>
          <a:xfrm>
            <a:off x="7412037" y="3005667"/>
            <a:ext cx="8467" cy="1261533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marco"/>
          <p:cNvSpPr/>
          <p:nvPr/>
        </p:nvSpPr>
        <p:spPr>
          <a:xfrm>
            <a:off x="7623704" y="3767667"/>
            <a:ext cx="3747029" cy="3217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orde top"/>
          <p:cNvSpPr/>
          <p:nvPr/>
        </p:nvSpPr>
        <p:spPr>
          <a:xfrm>
            <a:off x="7623704" y="3767667"/>
            <a:ext cx="37470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caja"/>
          <p:cNvSpPr/>
          <p:nvPr/>
        </p:nvSpPr>
        <p:spPr>
          <a:xfrm>
            <a:off x="7412037" y="4419600"/>
            <a:ext cx="4170362" cy="1803400"/>
          </a:xfrm>
          <a:prstGeom prst="roundRect">
            <a:avLst>
              <a:gd name="adj" fmla="val 1877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marco"/>
          <p:cNvSpPr/>
          <p:nvPr/>
        </p:nvSpPr>
        <p:spPr>
          <a:xfrm>
            <a:off x="7598304" y="5638800"/>
            <a:ext cx="3797829" cy="2201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orde top"/>
          <p:cNvSpPr/>
          <p:nvPr/>
        </p:nvSpPr>
        <p:spPr>
          <a:xfrm>
            <a:off x="7598304" y="5638800"/>
            <a:ext cx="3797829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VAN y TIR"/>
          <p:cNvSpPr txBox="1"/>
          <p:nvPr/>
        </p:nvSpPr>
        <p:spPr>
          <a:xfrm>
            <a:off x="609600" y="457120"/>
            <a:ext cx="1550458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VAN y TIR</a:t>
            </a:r>
          </a:p>
        </p:txBody>
      </p:sp>
      <p:sp>
        <p:nvSpPr>
          <p:cNvPr id="177" name="EN DÓLARES · WACC 27,3%"/>
          <p:cNvSpPr txBox="1"/>
          <p:nvPr/>
        </p:nvSpPr>
        <p:spPr>
          <a:xfrm>
            <a:off x="609600" y="866330"/>
            <a:ext cx="1550458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EN DÓLARES · WACC 27,3%</a:t>
            </a:r>
          </a:p>
        </p:txBody>
      </p:sp>
      <p:sp>
        <p:nvSpPr>
          <p:cNvPr id="178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7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80" name="AÑO 0"/>
          <p:cNvSpPr txBox="1"/>
          <p:nvPr/>
        </p:nvSpPr>
        <p:spPr>
          <a:xfrm>
            <a:off x="2573867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0</a:t>
            </a:r>
          </a:p>
        </p:txBody>
      </p:sp>
      <p:sp>
        <p:nvSpPr>
          <p:cNvPr id="181" name="AÑO 1"/>
          <p:cNvSpPr txBox="1"/>
          <p:nvPr/>
        </p:nvSpPr>
        <p:spPr>
          <a:xfrm>
            <a:off x="3309673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182" name="AÑO 2"/>
          <p:cNvSpPr txBox="1"/>
          <p:nvPr/>
        </p:nvSpPr>
        <p:spPr>
          <a:xfrm>
            <a:off x="4045479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183" name="AÑO 3"/>
          <p:cNvSpPr txBox="1"/>
          <p:nvPr/>
        </p:nvSpPr>
        <p:spPr>
          <a:xfrm>
            <a:off x="4781285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184" name="AÑO 4"/>
          <p:cNvSpPr txBox="1"/>
          <p:nvPr/>
        </p:nvSpPr>
        <p:spPr>
          <a:xfrm>
            <a:off x="5517092" y="1653197"/>
            <a:ext cx="58340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185" name="AÑO 5"/>
          <p:cNvSpPr txBox="1"/>
          <p:nvPr/>
        </p:nvSpPr>
        <p:spPr>
          <a:xfrm>
            <a:off x="6252898" y="1653197"/>
            <a:ext cx="73580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186" name="EBITDA"/>
          <p:cNvSpPr txBox="1"/>
          <p:nvPr/>
        </p:nvSpPr>
        <p:spPr>
          <a:xfrm>
            <a:off x="694267" y="1887705"/>
            <a:ext cx="1744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EBITDA</a:t>
            </a:r>
          </a:p>
        </p:txBody>
      </p:sp>
      <p:sp>
        <p:nvSpPr>
          <p:cNvPr id="187" name="−49.368"/>
          <p:cNvSpPr txBox="1"/>
          <p:nvPr/>
        </p:nvSpPr>
        <p:spPr>
          <a:xfrm>
            <a:off x="2573867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−49.368</a:t>
            </a:r>
          </a:p>
        </p:txBody>
      </p:sp>
      <p:sp>
        <p:nvSpPr>
          <p:cNvPr id="188" name="−14.992"/>
          <p:cNvSpPr txBox="1"/>
          <p:nvPr/>
        </p:nvSpPr>
        <p:spPr>
          <a:xfrm>
            <a:off x="3309673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−14.992</a:t>
            </a:r>
          </a:p>
        </p:txBody>
      </p:sp>
      <p:sp>
        <p:nvSpPr>
          <p:cNvPr id="189" name="32.445"/>
          <p:cNvSpPr txBox="1"/>
          <p:nvPr/>
        </p:nvSpPr>
        <p:spPr>
          <a:xfrm>
            <a:off x="4045479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32.445</a:t>
            </a:r>
          </a:p>
        </p:txBody>
      </p:sp>
      <p:sp>
        <p:nvSpPr>
          <p:cNvPr id="190" name="232.732"/>
          <p:cNvSpPr txBox="1"/>
          <p:nvPr/>
        </p:nvSpPr>
        <p:spPr>
          <a:xfrm>
            <a:off x="4781285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232.732</a:t>
            </a:r>
          </a:p>
        </p:txBody>
      </p:sp>
      <p:sp>
        <p:nvSpPr>
          <p:cNvPr id="191" name="291.012"/>
          <p:cNvSpPr txBox="1"/>
          <p:nvPr/>
        </p:nvSpPr>
        <p:spPr>
          <a:xfrm>
            <a:off x="5517092" y="18886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291.012</a:t>
            </a:r>
          </a:p>
        </p:txBody>
      </p:sp>
      <p:sp>
        <p:nvSpPr>
          <p:cNvPr id="192" name="340.647"/>
          <p:cNvSpPr txBox="1"/>
          <p:nvPr/>
        </p:nvSpPr>
        <p:spPr>
          <a:xfrm>
            <a:off x="6252898" y="1888696"/>
            <a:ext cx="7358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340.647</a:t>
            </a:r>
          </a:p>
        </p:txBody>
      </p:sp>
      <p:sp>
        <p:nvSpPr>
          <p:cNvPr id="193" name="menos IIGG sobre rtdo. operativo"/>
          <p:cNvSpPr txBox="1"/>
          <p:nvPr/>
        </p:nvSpPr>
        <p:spPr>
          <a:xfrm>
            <a:off x="694267" y="2158638"/>
            <a:ext cx="1744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menos IIGG sobre rtdo. operativo</a:t>
            </a:r>
          </a:p>
        </p:txBody>
      </p:sp>
      <p:sp>
        <p:nvSpPr>
          <p:cNvPr id="194" name="—"/>
          <p:cNvSpPr txBox="1"/>
          <p:nvPr/>
        </p:nvSpPr>
        <p:spPr>
          <a:xfrm>
            <a:off x="2573867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95" name="—"/>
          <p:cNvSpPr txBox="1"/>
          <p:nvPr/>
        </p:nvSpPr>
        <p:spPr>
          <a:xfrm>
            <a:off x="3309673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96" name="—"/>
          <p:cNvSpPr txBox="1"/>
          <p:nvPr/>
        </p:nvSpPr>
        <p:spPr>
          <a:xfrm>
            <a:off x="4045479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197" name="−63.325"/>
          <p:cNvSpPr txBox="1"/>
          <p:nvPr/>
        </p:nvSpPr>
        <p:spPr>
          <a:xfrm>
            <a:off x="4781285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−63.325</a:t>
            </a:r>
          </a:p>
        </p:txBody>
      </p:sp>
      <p:sp>
        <p:nvSpPr>
          <p:cNvPr id="198" name="−98.833"/>
          <p:cNvSpPr txBox="1"/>
          <p:nvPr/>
        </p:nvSpPr>
        <p:spPr>
          <a:xfrm>
            <a:off x="5517092" y="21596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−98.833</a:t>
            </a:r>
          </a:p>
        </p:txBody>
      </p:sp>
      <p:sp>
        <p:nvSpPr>
          <p:cNvPr id="199" name="−115.879"/>
          <p:cNvSpPr txBox="1"/>
          <p:nvPr/>
        </p:nvSpPr>
        <p:spPr>
          <a:xfrm>
            <a:off x="6252898" y="2159630"/>
            <a:ext cx="7358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−115.879</a:t>
            </a:r>
          </a:p>
        </p:txBody>
      </p:sp>
      <p:sp>
        <p:nvSpPr>
          <p:cNvPr id="200" name="menos Variación NOF"/>
          <p:cNvSpPr txBox="1"/>
          <p:nvPr/>
        </p:nvSpPr>
        <p:spPr>
          <a:xfrm>
            <a:off x="694267" y="2429572"/>
            <a:ext cx="1744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menos Variación NOF</a:t>
            </a:r>
          </a:p>
        </p:txBody>
      </p:sp>
      <p:sp>
        <p:nvSpPr>
          <p:cNvPr id="201" name="769"/>
          <p:cNvSpPr txBox="1"/>
          <p:nvPr/>
        </p:nvSpPr>
        <p:spPr>
          <a:xfrm>
            <a:off x="2573867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769</a:t>
            </a:r>
          </a:p>
        </p:txBody>
      </p:sp>
      <p:sp>
        <p:nvSpPr>
          <p:cNvPr id="202" name="−18.252"/>
          <p:cNvSpPr txBox="1"/>
          <p:nvPr/>
        </p:nvSpPr>
        <p:spPr>
          <a:xfrm>
            <a:off x="3309673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−18.252</a:t>
            </a:r>
          </a:p>
        </p:txBody>
      </p:sp>
      <p:sp>
        <p:nvSpPr>
          <p:cNvPr id="203" name="−12.743"/>
          <p:cNvSpPr txBox="1"/>
          <p:nvPr/>
        </p:nvSpPr>
        <p:spPr>
          <a:xfrm>
            <a:off x="4045479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−12.743</a:t>
            </a:r>
          </a:p>
        </p:txBody>
      </p:sp>
      <p:sp>
        <p:nvSpPr>
          <p:cNvPr id="204" name="−47.658"/>
          <p:cNvSpPr txBox="1"/>
          <p:nvPr/>
        </p:nvSpPr>
        <p:spPr>
          <a:xfrm>
            <a:off x="4781285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−47.658</a:t>
            </a:r>
          </a:p>
        </p:txBody>
      </p:sp>
      <p:sp>
        <p:nvSpPr>
          <p:cNvPr id="205" name="−15.773"/>
          <p:cNvSpPr txBox="1"/>
          <p:nvPr/>
        </p:nvSpPr>
        <p:spPr>
          <a:xfrm>
            <a:off x="5517092" y="24305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−15.773</a:t>
            </a:r>
          </a:p>
        </p:txBody>
      </p:sp>
      <p:sp>
        <p:nvSpPr>
          <p:cNvPr id="206" name="−14.158"/>
          <p:cNvSpPr txBox="1"/>
          <p:nvPr/>
        </p:nvSpPr>
        <p:spPr>
          <a:xfrm>
            <a:off x="6252898" y="2430563"/>
            <a:ext cx="7358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−14.158</a:t>
            </a:r>
          </a:p>
        </p:txBody>
      </p:sp>
      <p:sp>
        <p:nvSpPr>
          <p:cNvPr id="207" name="menos CAPEX"/>
          <p:cNvSpPr txBox="1"/>
          <p:nvPr/>
        </p:nvSpPr>
        <p:spPr>
          <a:xfrm>
            <a:off x="694267" y="2700505"/>
            <a:ext cx="1744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menos CAPEX</a:t>
            </a:r>
          </a:p>
        </p:txBody>
      </p:sp>
      <p:sp>
        <p:nvSpPr>
          <p:cNvPr id="208" name="−39.095"/>
          <p:cNvSpPr txBox="1"/>
          <p:nvPr/>
        </p:nvSpPr>
        <p:spPr>
          <a:xfrm>
            <a:off x="2573867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−39.095</a:t>
            </a:r>
          </a:p>
        </p:txBody>
      </p:sp>
      <p:sp>
        <p:nvSpPr>
          <p:cNvPr id="209" name="−1.365"/>
          <p:cNvSpPr txBox="1"/>
          <p:nvPr/>
        </p:nvSpPr>
        <p:spPr>
          <a:xfrm>
            <a:off x="3309673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−1.365</a:t>
            </a:r>
          </a:p>
        </p:txBody>
      </p:sp>
      <p:sp>
        <p:nvSpPr>
          <p:cNvPr id="210" name="−2.530"/>
          <p:cNvSpPr txBox="1"/>
          <p:nvPr/>
        </p:nvSpPr>
        <p:spPr>
          <a:xfrm>
            <a:off x="4045479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−2.530</a:t>
            </a:r>
          </a:p>
        </p:txBody>
      </p:sp>
      <p:sp>
        <p:nvSpPr>
          <p:cNvPr id="211" name="−2.330"/>
          <p:cNvSpPr txBox="1"/>
          <p:nvPr/>
        </p:nvSpPr>
        <p:spPr>
          <a:xfrm>
            <a:off x="4781285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−2.330</a:t>
            </a:r>
          </a:p>
        </p:txBody>
      </p:sp>
      <p:sp>
        <p:nvSpPr>
          <p:cNvPr id="212" name="−2.530"/>
          <p:cNvSpPr txBox="1"/>
          <p:nvPr/>
        </p:nvSpPr>
        <p:spPr>
          <a:xfrm>
            <a:off x="5517092" y="2701496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−2.530</a:t>
            </a:r>
          </a:p>
        </p:txBody>
      </p:sp>
      <p:sp>
        <p:nvSpPr>
          <p:cNvPr id="213" name="−2.330"/>
          <p:cNvSpPr txBox="1"/>
          <p:nvPr/>
        </p:nvSpPr>
        <p:spPr>
          <a:xfrm>
            <a:off x="6252898" y="2701496"/>
            <a:ext cx="7358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−2.330</a:t>
            </a:r>
          </a:p>
        </p:txBody>
      </p:sp>
      <p:sp>
        <p:nvSpPr>
          <p:cNvPr id="214" name="FFLF sin valor terminal"/>
          <p:cNvSpPr txBox="1"/>
          <p:nvPr/>
        </p:nvSpPr>
        <p:spPr>
          <a:xfrm>
            <a:off x="694267" y="2979905"/>
            <a:ext cx="1744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FFLF sin valor terminal</a:t>
            </a:r>
          </a:p>
        </p:txBody>
      </p:sp>
      <p:sp>
        <p:nvSpPr>
          <p:cNvPr id="215" name="−87.694"/>
          <p:cNvSpPr txBox="1"/>
          <p:nvPr/>
        </p:nvSpPr>
        <p:spPr>
          <a:xfrm>
            <a:off x="2573867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−87.694</a:t>
            </a:r>
          </a:p>
        </p:txBody>
      </p:sp>
      <p:sp>
        <p:nvSpPr>
          <p:cNvPr id="216" name="−34.609"/>
          <p:cNvSpPr txBox="1"/>
          <p:nvPr/>
        </p:nvSpPr>
        <p:spPr>
          <a:xfrm>
            <a:off x="3309673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−34.609</a:t>
            </a:r>
          </a:p>
        </p:txBody>
      </p:sp>
      <p:sp>
        <p:nvSpPr>
          <p:cNvPr id="217" name="17.172"/>
          <p:cNvSpPr txBox="1"/>
          <p:nvPr/>
        </p:nvSpPr>
        <p:spPr>
          <a:xfrm>
            <a:off x="4045479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17.172</a:t>
            </a:r>
          </a:p>
        </p:txBody>
      </p:sp>
      <p:sp>
        <p:nvSpPr>
          <p:cNvPr id="218" name="119.419"/>
          <p:cNvSpPr txBox="1"/>
          <p:nvPr/>
        </p:nvSpPr>
        <p:spPr>
          <a:xfrm>
            <a:off x="4781285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119.419</a:t>
            </a:r>
          </a:p>
        </p:txBody>
      </p:sp>
      <p:sp>
        <p:nvSpPr>
          <p:cNvPr id="219" name="173.876"/>
          <p:cNvSpPr txBox="1"/>
          <p:nvPr/>
        </p:nvSpPr>
        <p:spPr>
          <a:xfrm>
            <a:off x="5517092" y="29808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173.876</a:t>
            </a:r>
          </a:p>
        </p:txBody>
      </p:sp>
      <p:sp>
        <p:nvSpPr>
          <p:cNvPr id="220" name="208.280"/>
          <p:cNvSpPr txBox="1"/>
          <p:nvPr/>
        </p:nvSpPr>
        <p:spPr>
          <a:xfrm>
            <a:off x="6252898" y="2980896"/>
            <a:ext cx="7358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208.280</a:t>
            </a:r>
          </a:p>
        </p:txBody>
      </p:sp>
      <p:sp>
        <p:nvSpPr>
          <p:cNvPr id="221" name="Valor terminal (g = 3%)"/>
          <p:cNvSpPr txBox="1"/>
          <p:nvPr/>
        </p:nvSpPr>
        <p:spPr>
          <a:xfrm>
            <a:off x="694267" y="3238138"/>
            <a:ext cx="1744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Valor terminal (g = 3%)</a:t>
            </a:r>
          </a:p>
        </p:txBody>
      </p:sp>
      <p:sp>
        <p:nvSpPr>
          <p:cNvPr id="222" name="—"/>
          <p:cNvSpPr txBox="1"/>
          <p:nvPr/>
        </p:nvSpPr>
        <p:spPr>
          <a:xfrm>
            <a:off x="2573867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3" name="—"/>
          <p:cNvSpPr txBox="1"/>
          <p:nvPr/>
        </p:nvSpPr>
        <p:spPr>
          <a:xfrm>
            <a:off x="3309673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4" name="—"/>
          <p:cNvSpPr txBox="1"/>
          <p:nvPr/>
        </p:nvSpPr>
        <p:spPr>
          <a:xfrm>
            <a:off x="4045479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5" name="—"/>
          <p:cNvSpPr txBox="1"/>
          <p:nvPr/>
        </p:nvSpPr>
        <p:spPr>
          <a:xfrm>
            <a:off x="4781285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6" name="—"/>
          <p:cNvSpPr txBox="1"/>
          <p:nvPr/>
        </p:nvSpPr>
        <p:spPr>
          <a:xfrm>
            <a:off x="5517092" y="32391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—</a:t>
            </a:r>
          </a:p>
        </p:txBody>
      </p:sp>
      <p:sp>
        <p:nvSpPr>
          <p:cNvPr id="227" name="882.198"/>
          <p:cNvSpPr txBox="1"/>
          <p:nvPr/>
        </p:nvSpPr>
        <p:spPr>
          <a:xfrm>
            <a:off x="6252898" y="3239130"/>
            <a:ext cx="7358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882.198</a:t>
            </a:r>
          </a:p>
        </p:txBody>
      </p:sp>
      <p:sp>
        <p:nvSpPr>
          <p:cNvPr id="228" name="FFLF con valor terminal"/>
          <p:cNvSpPr txBox="1"/>
          <p:nvPr/>
        </p:nvSpPr>
        <p:spPr>
          <a:xfrm>
            <a:off x="694267" y="3513305"/>
            <a:ext cx="1744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FFLF con valor terminal</a:t>
            </a:r>
          </a:p>
        </p:txBody>
      </p:sp>
      <p:sp>
        <p:nvSpPr>
          <p:cNvPr id="229" name="−87.694"/>
          <p:cNvSpPr txBox="1"/>
          <p:nvPr/>
        </p:nvSpPr>
        <p:spPr>
          <a:xfrm>
            <a:off x="2573867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−87.694</a:t>
            </a:r>
          </a:p>
        </p:txBody>
      </p:sp>
      <p:sp>
        <p:nvSpPr>
          <p:cNvPr id="230" name="−34.609"/>
          <p:cNvSpPr txBox="1"/>
          <p:nvPr/>
        </p:nvSpPr>
        <p:spPr>
          <a:xfrm>
            <a:off x="3309673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−34.609</a:t>
            </a:r>
          </a:p>
        </p:txBody>
      </p:sp>
      <p:sp>
        <p:nvSpPr>
          <p:cNvPr id="231" name="17.172"/>
          <p:cNvSpPr txBox="1"/>
          <p:nvPr/>
        </p:nvSpPr>
        <p:spPr>
          <a:xfrm>
            <a:off x="4045479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17.172</a:t>
            </a:r>
          </a:p>
        </p:txBody>
      </p:sp>
      <p:sp>
        <p:nvSpPr>
          <p:cNvPr id="232" name="119.419"/>
          <p:cNvSpPr txBox="1"/>
          <p:nvPr/>
        </p:nvSpPr>
        <p:spPr>
          <a:xfrm>
            <a:off x="4781285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119.419</a:t>
            </a:r>
          </a:p>
        </p:txBody>
      </p:sp>
      <p:sp>
        <p:nvSpPr>
          <p:cNvPr id="233" name="173.876"/>
          <p:cNvSpPr txBox="1"/>
          <p:nvPr/>
        </p:nvSpPr>
        <p:spPr>
          <a:xfrm>
            <a:off x="5517092" y="3514296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173.876</a:t>
            </a:r>
          </a:p>
        </p:txBody>
      </p:sp>
      <p:sp>
        <p:nvSpPr>
          <p:cNvPr id="234" name="1.090.478"/>
          <p:cNvSpPr txBox="1"/>
          <p:nvPr/>
        </p:nvSpPr>
        <p:spPr>
          <a:xfrm>
            <a:off x="6252898" y="3514296"/>
            <a:ext cx="7358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1.090.478</a:t>
            </a:r>
          </a:p>
        </p:txBody>
      </p:sp>
      <p:sp>
        <p:nvSpPr>
          <p:cNvPr id="235" name="Factor de descuento"/>
          <p:cNvSpPr txBox="1"/>
          <p:nvPr/>
        </p:nvSpPr>
        <p:spPr>
          <a:xfrm>
            <a:off x="694267" y="3771538"/>
            <a:ext cx="1744133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Factor de descuento</a:t>
            </a:r>
          </a:p>
        </p:txBody>
      </p:sp>
      <p:sp>
        <p:nvSpPr>
          <p:cNvPr id="236" name="1,00"/>
          <p:cNvSpPr txBox="1"/>
          <p:nvPr/>
        </p:nvSpPr>
        <p:spPr>
          <a:xfrm>
            <a:off x="2573867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1,00</a:t>
            </a:r>
          </a:p>
        </p:txBody>
      </p:sp>
      <p:sp>
        <p:nvSpPr>
          <p:cNvPr id="237" name="0,785"/>
          <p:cNvSpPr txBox="1"/>
          <p:nvPr/>
        </p:nvSpPr>
        <p:spPr>
          <a:xfrm>
            <a:off x="3309673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0,785</a:t>
            </a:r>
          </a:p>
        </p:txBody>
      </p:sp>
      <p:sp>
        <p:nvSpPr>
          <p:cNvPr id="238" name="0,617"/>
          <p:cNvSpPr txBox="1"/>
          <p:nvPr/>
        </p:nvSpPr>
        <p:spPr>
          <a:xfrm>
            <a:off x="4045479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0,617</a:t>
            </a:r>
          </a:p>
        </p:txBody>
      </p:sp>
      <p:sp>
        <p:nvSpPr>
          <p:cNvPr id="239" name="0,485"/>
          <p:cNvSpPr txBox="1"/>
          <p:nvPr/>
        </p:nvSpPr>
        <p:spPr>
          <a:xfrm>
            <a:off x="4781285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0,485</a:t>
            </a:r>
          </a:p>
        </p:txBody>
      </p:sp>
      <p:sp>
        <p:nvSpPr>
          <p:cNvPr id="240" name="0,381"/>
          <p:cNvSpPr txBox="1"/>
          <p:nvPr/>
        </p:nvSpPr>
        <p:spPr>
          <a:xfrm>
            <a:off x="5517092" y="3772530"/>
            <a:ext cx="5834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0,381</a:t>
            </a:r>
          </a:p>
        </p:txBody>
      </p:sp>
      <p:sp>
        <p:nvSpPr>
          <p:cNvPr id="241" name="0,299"/>
          <p:cNvSpPr txBox="1"/>
          <p:nvPr/>
        </p:nvSpPr>
        <p:spPr>
          <a:xfrm>
            <a:off x="6252898" y="3772530"/>
            <a:ext cx="73580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0,299</a:t>
            </a:r>
          </a:p>
        </p:txBody>
      </p:sp>
      <p:sp>
        <p:nvSpPr>
          <p:cNvPr id="242" name="FFLF s/VT descontados"/>
          <p:cNvSpPr txBox="1"/>
          <p:nvPr/>
        </p:nvSpPr>
        <p:spPr>
          <a:xfrm>
            <a:off x="694267" y="4038238"/>
            <a:ext cx="1744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FFLF s/VT descontados</a:t>
            </a:r>
          </a:p>
        </p:txBody>
      </p:sp>
      <p:sp>
        <p:nvSpPr>
          <p:cNvPr id="243" name="−87.694"/>
          <p:cNvSpPr txBox="1"/>
          <p:nvPr/>
        </p:nvSpPr>
        <p:spPr>
          <a:xfrm>
            <a:off x="2573867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244" name="−27.183"/>
          <p:cNvSpPr txBox="1"/>
          <p:nvPr/>
        </p:nvSpPr>
        <p:spPr>
          <a:xfrm>
            <a:off x="3309673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−27.183</a:t>
            </a:r>
          </a:p>
        </p:txBody>
      </p:sp>
      <p:sp>
        <p:nvSpPr>
          <p:cNvPr id="245" name="10.593"/>
          <p:cNvSpPr txBox="1"/>
          <p:nvPr/>
        </p:nvSpPr>
        <p:spPr>
          <a:xfrm>
            <a:off x="4045479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10.593</a:t>
            </a:r>
          </a:p>
        </p:txBody>
      </p:sp>
      <p:sp>
        <p:nvSpPr>
          <p:cNvPr id="246" name="57.864"/>
          <p:cNvSpPr txBox="1"/>
          <p:nvPr/>
        </p:nvSpPr>
        <p:spPr>
          <a:xfrm>
            <a:off x="4781285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57.864</a:t>
            </a:r>
          </a:p>
        </p:txBody>
      </p:sp>
      <p:sp>
        <p:nvSpPr>
          <p:cNvPr id="247" name="66.174"/>
          <p:cNvSpPr txBox="1"/>
          <p:nvPr/>
        </p:nvSpPr>
        <p:spPr>
          <a:xfrm>
            <a:off x="5517092" y="4039230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66.174</a:t>
            </a:r>
          </a:p>
        </p:txBody>
      </p:sp>
      <p:sp>
        <p:nvSpPr>
          <p:cNvPr id="248" name="62.260"/>
          <p:cNvSpPr txBox="1"/>
          <p:nvPr/>
        </p:nvSpPr>
        <p:spPr>
          <a:xfrm>
            <a:off x="6252898" y="4039230"/>
            <a:ext cx="7358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62.260</a:t>
            </a:r>
          </a:p>
        </p:txBody>
      </p:sp>
      <p:sp>
        <p:nvSpPr>
          <p:cNvPr id="249" name="FFLF c/VT descontados"/>
          <p:cNvSpPr txBox="1"/>
          <p:nvPr/>
        </p:nvSpPr>
        <p:spPr>
          <a:xfrm>
            <a:off x="694267" y="4309172"/>
            <a:ext cx="1744133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FFLF c/VT descontados</a:t>
            </a:r>
          </a:p>
        </p:txBody>
      </p:sp>
      <p:sp>
        <p:nvSpPr>
          <p:cNvPr id="250" name="−87.694"/>
          <p:cNvSpPr txBox="1"/>
          <p:nvPr/>
        </p:nvSpPr>
        <p:spPr>
          <a:xfrm>
            <a:off x="2573867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251" name="−27.183"/>
          <p:cNvSpPr txBox="1"/>
          <p:nvPr/>
        </p:nvSpPr>
        <p:spPr>
          <a:xfrm>
            <a:off x="3309673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−27.183</a:t>
            </a:r>
          </a:p>
        </p:txBody>
      </p:sp>
      <p:sp>
        <p:nvSpPr>
          <p:cNvPr id="252" name="10.593"/>
          <p:cNvSpPr txBox="1"/>
          <p:nvPr/>
        </p:nvSpPr>
        <p:spPr>
          <a:xfrm>
            <a:off x="4045479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10.593</a:t>
            </a:r>
          </a:p>
        </p:txBody>
      </p:sp>
      <p:sp>
        <p:nvSpPr>
          <p:cNvPr id="253" name="57.864"/>
          <p:cNvSpPr txBox="1"/>
          <p:nvPr/>
        </p:nvSpPr>
        <p:spPr>
          <a:xfrm>
            <a:off x="4781285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57.864</a:t>
            </a:r>
          </a:p>
        </p:txBody>
      </p:sp>
      <p:sp>
        <p:nvSpPr>
          <p:cNvPr id="254" name="66.174"/>
          <p:cNvSpPr txBox="1"/>
          <p:nvPr/>
        </p:nvSpPr>
        <p:spPr>
          <a:xfrm>
            <a:off x="5517092" y="4310163"/>
            <a:ext cx="5834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66.174</a:t>
            </a:r>
          </a:p>
        </p:txBody>
      </p:sp>
      <p:sp>
        <p:nvSpPr>
          <p:cNvPr id="255" name="325.969"/>
          <p:cNvSpPr txBox="1"/>
          <p:nvPr/>
        </p:nvSpPr>
        <p:spPr>
          <a:xfrm>
            <a:off x="6252898" y="4310163"/>
            <a:ext cx="73580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325.969</a:t>
            </a:r>
          </a:p>
        </p:txBody>
      </p:sp>
      <p:sp>
        <p:nvSpPr>
          <p:cNvPr id="256" name="SIN PERPETUIDAD"/>
          <p:cNvSpPr txBox="1"/>
          <p:nvPr/>
        </p:nvSpPr>
        <p:spPr>
          <a:xfrm>
            <a:off x="7623704" y="1789197"/>
            <a:ext cx="376396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SIN PERPETUIDAD</a:t>
            </a:r>
          </a:p>
        </p:txBody>
      </p:sp>
      <p:sp>
        <p:nvSpPr>
          <p:cNvPr id="257" name="VAN"/>
          <p:cNvSpPr txBox="1"/>
          <p:nvPr/>
        </p:nvSpPr>
        <p:spPr>
          <a:xfrm>
            <a:off x="7623704" y="2096562"/>
            <a:ext cx="252280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VAN</a:t>
            </a:r>
          </a:p>
        </p:txBody>
      </p:sp>
      <p:sp>
        <p:nvSpPr>
          <p:cNvPr id="258" name="USD 82.015"/>
          <p:cNvSpPr txBox="1"/>
          <p:nvPr/>
        </p:nvSpPr>
        <p:spPr>
          <a:xfrm>
            <a:off x="10072291" y="2067252"/>
            <a:ext cx="1315376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0D1520"/>
                </a:solidFill>
                <a:latin typeface="Archivo ExtraBold"/>
                <a:cs typeface="Archivo ExtraBold"/>
                <a:ea typeface="Archivo ExtraBold"/>
              </a:rPr>
              <a:t>USD 82.015</a:t>
            </a:r>
          </a:p>
        </p:txBody>
      </p:sp>
      <p:sp>
        <p:nvSpPr>
          <p:cNvPr id="259" name="TIR"/>
          <p:cNvSpPr txBox="1"/>
          <p:nvPr/>
        </p:nvSpPr>
        <p:spPr>
          <a:xfrm>
            <a:off x="7623704" y="2519895"/>
            <a:ext cx="214048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TIR</a:t>
            </a:r>
          </a:p>
        </p:txBody>
      </p:sp>
      <p:sp>
        <p:nvSpPr>
          <p:cNvPr id="260" name="48%"/>
          <p:cNvSpPr txBox="1"/>
          <p:nvPr/>
        </p:nvSpPr>
        <p:spPr>
          <a:xfrm>
            <a:off x="10868554" y="2490585"/>
            <a:ext cx="519112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0D1520"/>
                </a:solidFill>
                <a:latin typeface="Archivo ExtraBold"/>
                <a:cs typeface="Archivo ExtraBold"/>
                <a:ea typeface="Archivo ExtraBold"/>
              </a:rPr>
              <a:t>48%</a:t>
            </a:r>
          </a:p>
        </p:txBody>
      </p:sp>
      <p:sp>
        <p:nvSpPr>
          <p:cNvPr id="261" name="CON PERPETUIDAD"/>
          <p:cNvSpPr txBox="1"/>
          <p:nvPr/>
        </p:nvSpPr>
        <p:spPr>
          <a:xfrm>
            <a:off x="7623704" y="3203130"/>
            <a:ext cx="376396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CON PERPETUIDAD</a:t>
            </a:r>
          </a:p>
        </p:txBody>
      </p:sp>
      <p:sp>
        <p:nvSpPr>
          <p:cNvPr id="262" name="VAN"/>
          <p:cNvSpPr txBox="1"/>
          <p:nvPr/>
        </p:nvSpPr>
        <p:spPr>
          <a:xfrm>
            <a:off x="7623704" y="3510495"/>
            <a:ext cx="252280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VAN</a:t>
            </a:r>
          </a:p>
        </p:txBody>
      </p:sp>
      <p:sp>
        <p:nvSpPr>
          <p:cNvPr id="263" name="USD 345.724"/>
          <p:cNvSpPr txBox="1"/>
          <p:nvPr/>
        </p:nvSpPr>
        <p:spPr>
          <a:xfrm>
            <a:off x="9933120" y="3481185"/>
            <a:ext cx="1454547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USD 345.724</a:t>
            </a:r>
          </a:p>
        </p:txBody>
      </p:sp>
      <p:sp>
        <p:nvSpPr>
          <p:cNvPr id="264" name="TIR"/>
          <p:cNvSpPr txBox="1"/>
          <p:nvPr/>
        </p:nvSpPr>
        <p:spPr>
          <a:xfrm>
            <a:off x="7623704" y="3933829"/>
            <a:ext cx="214048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TIR</a:t>
            </a:r>
          </a:p>
        </p:txBody>
      </p:sp>
      <p:sp>
        <p:nvSpPr>
          <p:cNvPr id="265" name="77%"/>
          <p:cNvSpPr txBox="1"/>
          <p:nvPr/>
        </p:nvSpPr>
        <p:spPr>
          <a:xfrm>
            <a:off x="10868554" y="3904518"/>
            <a:ext cx="519112" cy="2560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870" spc="-7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77%</a:t>
            </a:r>
          </a:p>
        </p:txBody>
      </p:sp>
      <p:sp>
        <p:nvSpPr>
          <p:cNvPr id="266" name="PARÁMETROS DEL WACC"/>
          <p:cNvSpPr txBox="1"/>
          <p:nvPr/>
        </p:nvSpPr>
        <p:spPr>
          <a:xfrm>
            <a:off x="7598304" y="4574730"/>
            <a:ext cx="3814762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PARÁMETROS DEL WACC</a:t>
            </a:r>
          </a:p>
        </p:txBody>
      </p:sp>
      <p:sp>
        <p:nvSpPr>
          <p:cNvPr id="267" name="Tasa libre de riesgo"/>
          <p:cNvSpPr txBox="1"/>
          <p:nvPr/>
        </p:nvSpPr>
        <p:spPr>
          <a:xfrm>
            <a:off x="7598304" y="4796480"/>
            <a:ext cx="1003697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Tasa libre de riesgo</a:t>
            </a:r>
          </a:p>
        </p:txBody>
      </p:sp>
      <p:sp>
        <p:nvSpPr>
          <p:cNvPr id="268" name="3,72%"/>
          <p:cNvSpPr txBox="1"/>
          <p:nvPr/>
        </p:nvSpPr>
        <p:spPr>
          <a:xfrm>
            <a:off x="11053233" y="4798063"/>
            <a:ext cx="359833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3,72%</a:t>
            </a:r>
          </a:p>
        </p:txBody>
      </p:sp>
      <p:sp>
        <p:nvSpPr>
          <p:cNvPr id="269" name="Prima de riesgo de mercado"/>
          <p:cNvSpPr txBox="1"/>
          <p:nvPr/>
        </p:nvSpPr>
        <p:spPr>
          <a:xfrm>
            <a:off x="7598304" y="5008146"/>
            <a:ext cx="1446609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Prima de riesgo de mercado</a:t>
            </a:r>
          </a:p>
        </p:txBody>
      </p:sp>
      <p:sp>
        <p:nvSpPr>
          <p:cNvPr id="270" name="4,33%"/>
          <p:cNvSpPr txBox="1"/>
          <p:nvPr/>
        </p:nvSpPr>
        <p:spPr>
          <a:xfrm>
            <a:off x="11053233" y="5009729"/>
            <a:ext cx="359833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4,33%</a:t>
            </a:r>
          </a:p>
        </p:txBody>
      </p:sp>
      <p:sp>
        <p:nvSpPr>
          <p:cNvPr id="271" name="Beta desapalancada"/>
          <p:cNvSpPr txBox="1"/>
          <p:nvPr/>
        </p:nvSpPr>
        <p:spPr>
          <a:xfrm>
            <a:off x="7598304" y="5219813"/>
            <a:ext cx="1058466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Beta desapalancada</a:t>
            </a:r>
          </a:p>
        </p:txBody>
      </p:sp>
      <p:sp>
        <p:nvSpPr>
          <p:cNvPr id="272" name="1,75"/>
          <p:cNvSpPr txBox="1"/>
          <p:nvPr/>
        </p:nvSpPr>
        <p:spPr>
          <a:xfrm>
            <a:off x="11121760" y="5221396"/>
            <a:ext cx="291306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1,75</a:t>
            </a:r>
          </a:p>
        </p:txBody>
      </p:sp>
      <p:sp>
        <p:nvSpPr>
          <p:cNvPr id="273" name="Prima por riesgo país"/>
          <p:cNvSpPr txBox="1"/>
          <p:nvPr/>
        </p:nvSpPr>
        <p:spPr>
          <a:xfrm>
            <a:off x="7598304" y="5431480"/>
            <a:ext cx="1092729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Prima por riesgo país</a:t>
            </a:r>
          </a:p>
        </p:txBody>
      </p:sp>
      <p:sp>
        <p:nvSpPr>
          <p:cNvPr id="274" name="16,02%"/>
          <p:cNvSpPr txBox="1"/>
          <p:nvPr/>
        </p:nvSpPr>
        <p:spPr>
          <a:xfrm>
            <a:off x="10984574" y="5433063"/>
            <a:ext cx="428493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16,02%</a:t>
            </a:r>
          </a:p>
        </p:txBody>
      </p:sp>
      <p:sp>
        <p:nvSpPr>
          <p:cNvPr id="275" name="Ke = WACC"/>
          <p:cNvSpPr txBox="1"/>
          <p:nvPr/>
        </p:nvSpPr>
        <p:spPr>
          <a:xfrm>
            <a:off x="7598304" y="5710880"/>
            <a:ext cx="603118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Ke = WACC</a:t>
            </a:r>
          </a:p>
        </p:txBody>
      </p:sp>
      <p:sp>
        <p:nvSpPr>
          <p:cNvPr id="276" name="27,32%"/>
          <p:cNvSpPr txBox="1"/>
          <p:nvPr/>
        </p:nvSpPr>
        <p:spPr>
          <a:xfrm>
            <a:off x="10984574" y="5712463"/>
            <a:ext cx="428493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27,32%</a:t>
            </a:r>
          </a:p>
        </p:txBody>
      </p:sp>
      <p:sp>
        <p:nvSpPr>
          <p:cNvPr id="277" name="Financiación 100% patrimonio"/>
          <p:cNvSpPr txBox="1"/>
          <p:nvPr/>
        </p:nvSpPr>
        <p:spPr>
          <a:xfrm>
            <a:off x="7598304" y="5922546"/>
            <a:ext cx="1587368" cy="1821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Financiación 100% patrimonio</a:t>
            </a:r>
          </a:p>
        </p:txBody>
      </p:sp>
      <p:sp>
        <p:nvSpPr>
          <p:cNvPr id="278" name="D/(D+E) = 0"/>
          <p:cNvSpPr txBox="1"/>
          <p:nvPr/>
        </p:nvSpPr>
        <p:spPr>
          <a:xfrm>
            <a:off x="10641674" y="5924129"/>
            <a:ext cx="771393" cy="1837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00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D/(D+E) = 0</a:t>
            </a:r>
          </a:p>
        </p:txBody>
      </p:sp>
      <p:sp>
        <p:nvSpPr>
          <p:cNvPr id="279" name="4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23885"/>
            <a:ext cx="2540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948252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3149600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3149600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508103" y="2723885"/>
            <a:ext cx="149912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508103" y="2948252"/>
            <a:ext cx="149912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07232" y="2723885"/>
            <a:ext cx="149912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007232" y="2948252"/>
            <a:ext cx="149912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506361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7506361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8864865" y="2723885"/>
            <a:ext cx="135850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8864865" y="2948252"/>
            <a:ext cx="135850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10223368" y="2723885"/>
            <a:ext cx="135903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10223368" y="2948252"/>
            <a:ext cx="135903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2956719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321918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3149600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3149600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4508103" y="2956719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4508103" y="3219185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6007232" y="2956719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6007232" y="3219185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7506361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7506361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8864865" y="2956719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8864865" y="3219185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ja"/>
          <p:cNvSpPr/>
          <p:nvPr/>
        </p:nvSpPr>
        <p:spPr>
          <a:xfrm>
            <a:off x="10223368" y="2956719"/>
            <a:ext cx="135903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10223368" y="3219185"/>
            <a:ext cx="135903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aja"/>
          <p:cNvSpPr/>
          <p:nvPr/>
        </p:nvSpPr>
        <p:spPr>
          <a:xfrm>
            <a:off x="609600" y="3227652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3490119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aja"/>
          <p:cNvSpPr/>
          <p:nvPr/>
        </p:nvSpPr>
        <p:spPr>
          <a:xfrm>
            <a:off x="3149600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3149600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aja"/>
          <p:cNvSpPr/>
          <p:nvPr/>
        </p:nvSpPr>
        <p:spPr>
          <a:xfrm>
            <a:off x="4508103" y="3227652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4508103" y="3490119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aja"/>
          <p:cNvSpPr/>
          <p:nvPr/>
        </p:nvSpPr>
        <p:spPr>
          <a:xfrm>
            <a:off x="6007232" y="3227652"/>
            <a:ext cx="1499129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6007232" y="3490119"/>
            <a:ext cx="149912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aja"/>
          <p:cNvSpPr/>
          <p:nvPr/>
        </p:nvSpPr>
        <p:spPr>
          <a:xfrm>
            <a:off x="7506361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7506361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aja"/>
          <p:cNvSpPr/>
          <p:nvPr/>
        </p:nvSpPr>
        <p:spPr>
          <a:xfrm>
            <a:off x="8864865" y="3227652"/>
            <a:ext cx="135850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8864865" y="3490119"/>
            <a:ext cx="135850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aja"/>
          <p:cNvSpPr/>
          <p:nvPr/>
        </p:nvSpPr>
        <p:spPr>
          <a:xfrm>
            <a:off x="10223368" y="3227652"/>
            <a:ext cx="135903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10223368" y="3490119"/>
            <a:ext cx="135903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3790685"/>
            <a:ext cx="5342467" cy="1342364"/>
          </a:xfrm>
          <a:prstGeom prst="roundRect">
            <a:avLst>
              <a:gd name="adj" fmla="val 2522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top"/>
          <p:cNvSpPr/>
          <p:nvPr/>
        </p:nvSpPr>
        <p:spPr>
          <a:xfrm>
            <a:off x="609600" y="3790685"/>
            <a:ext cx="53424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borde right"/>
          <p:cNvSpPr/>
          <p:nvPr/>
        </p:nvSpPr>
        <p:spPr>
          <a:xfrm>
            <a:off x="5943600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609600" y="5124582"/>
            <a:ext cx="53424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orde left"/>
          <p:cNvSpPr/>
          <p:nvPr/>
        </p:nvSpPr>
        <p:spPr>
          <a:xfrm>
            <a:off x="609600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marco"/>
          <p:cNvSpPr/>
          <p:nvPr/>
        </p:nvSpPr>
        <p:spPr>
          <a:xfrm>
            <a:off x="6239933" y="3790685"/>
            <a:ext cx="5342467" cy="1342364"/>
          </a:xfrm>
          <a:prstGeom prst="roundRect">
            <a:avLst>
              <a:gd name="adj" fmla="val 2522"/>
            </a:avLst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borde top"/>
          <p:cNvSpPr/>
          <p:nvPr/>
        </p:nvSpPr>
        <p:spPr>
          <a:xfrm>
            <a:off x="6239933" y="3790685"/>
            <a:ext cx="5342467" cy="25400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right"/>
          <p:cNvSpPr/>
          <p:nvPr/>
        </p:nvSpPr>
        <p:spPr>
          <a:xfrm>
            <a:off x="11573933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borde bottom"/>
          <p:cNvSpPr/>
          <p:nvPr/>
        </p:nvSpPr>
        <p:spPr>
          <a:xfrm>
            <a:off x="6239933" y="5124582"/>
            <a:ext cx="53424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left"/>
          <p:cNvSpPr/>
          <p:nvPr/>
        </p:nvSpPr>
        <p:spPr>
          <a:xfrm>
            <a:off x="6239933" y="3790685"/>
            <a:ext cx="8467" cy="1342364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AYBACK"/>
          <p:cNvSpPr txBox="1"/>
          <p:nvPr/>
        </p:nvSpPr>
        <p:spPr>
          <a:xfrm>
            <a:off x="609600" y="457120"/>
            <a:ext cx="321733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PAYBACK</a:t>
            </a:r>
          </a:p>
        </p:txBody>
      </p:sp>
      <p:sp>
        <p:nvSpPr>
          <p:cNvPr id="58" name="EN DÓLARES · PERÍODO DE RECUPERO DE "/>
          <p:cNvSpPr txBox="1"/>
          <p:nvPr/>
        </p:nvSpPr>
        <p:spPr>
          <a:xfrm>
            <a:off x="609600" y="866330"/>
            <a:ext cx="321733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EN DÓLARES · PERÍODO DE RECUPERO DE LA INVERSIÓN</a:t>
            </a:r>
          </a:p>
        </p:txBody>
      </p:sp>
      <p:sp>
        <p:nvSpPr>
          <p:cNvPr id="5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6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61" name="AÑO 0"/>
          <p:cNvSpPr txBox="1"/>
          <p:nvPr/>
        </p:nvSpPr>
        <p:spPr>
          <a:xfrm>
            <a:off x="3217333" y="2785349"/>
            <a:ext cx="120610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0</a:t>
            </a:r>
          </a:p>
        </p:txBody>
      </p:sp>
      <p:sp>
        <p:nvSpPr>
          <p:cNvPr id="62" name="AÑO 1"/>
          <p:cNvSpPr txBox="1"/>
          <p:nvPr/>
        </p:nvSpPr>
        <p:spPr>
          <a:xfrm>
            <a:off x="4575836" y="2785349"/>
            <a:ext cx="134672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63" name="AÑO 2"/>
          <p:cNvSpPr txBox="1"/>
          <p:nvPr/>
        </p:nvSpPr>
        <p:spPr>
          <a:xfrm>
            <a:off x="6074966" y="2785349"/>
            <a:ext cx="134672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64" name="AÑO 3"/>
          <p:cNvSpPr txBox="1"/>
          <p:nvPr/>
        </p:nvSpPr>
        <p:spPr>
          <a:xfrm>
            <a:off x="7574095" y="2785349"/>
            <a:ext cx="120610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65" name="AÑO 4"/>
          <p:cNvSpPr txBox="1"/>
          <p:nvPr/>
        </p:nvSpPr>
        <p:spPr>
          <a:xfrm>
            <a:off x="8932598" y="2785349"/>
            <a:ext cx="120610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66" name="AÑO 5"/>
          <p:cNvSpPr txBox="1"/>
          <p:nvPr/>
        </p:nvSpPr>
        <p:spPr>
          <a:xfrm>
            <a:off x="10291101" y="2785349"/>
            <a:ext cx="120663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67" name="FFLF acumulados"/>
          <p:cNvSpPr txBox="1"/>
          <p:nvPr/>
        </p:nvSpPr>
        <p:spPr>
          <a:xfrm>
            <a:off x="694267" y="3019857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FFLF acumulados</a:t>
            </a:r>
          </a:p>
        </p:txBody>
      </p:sp>
      <p:sp>
        <p:nvSpPr>
          <p:cNvPr id="68" name="−87.694"/>
          <p:cNvSpPr txBox="1"/>
          <p:nvPr/>
        </p:nvSpPr>
        <p:spPr>
          <a:xfrm>
            <a:off x="3217333" y="3020848"/>
            <a:ext cx="120610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69" name="−122.302"/>
          <p:cNvSpPr txBox="1"/>
          <p:nvPr/>
        </p:nvSpPr>
        <p:spPr>
          <a:xfrm>
            <a:off x="4575836" y="3020848"/>
            <a:ext cx="134672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−122.302</a:t>
            </a:r>
          </a:p>
        </p:txBody>
      </p:sp>
      <p:sp>
        <p:nvSpPr>
          <p:cNvPr id="70" name="−105.130"/>
          <p:cNvSpPr txBox="1"/>
          <p:nvPr/>
        </p:nvSpPr>
        <p:spPr>
          <a:xfrm>
            <a:off x="6074966" y="3020848"/>
            <a:ext cx="134672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−105.130</a:t>
            </a:r>
          </a:p>
        </p:txBody>
      </p:sp>
      <p:sp>
        <p:nvSpPr>
          <p:cNvPr id="71" name="14.288"/>
          <p:cNvSpPr txBox="1"/>
          <p:nvPr/>
        </p:nvSpPr>
        <p:spPr>
          <a:xfrm>
            <a:off x="7574095" y="3020848"/>
            <a:ext cx="120610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14.288</a:t>
            </a:r>
          </a:p>
        </p:txBody>
      </p:sp>
      <p:sp>
        <p:nvSpPr>
          <p:cNvPr id="72" name="188.164"/>
          <p:cNvSpPr txBox="1"/>
          <p:nvPr/>
        </p:nvSpPr>
        <p:spPr>
          <a:xfrm>
            <a:off x="8932598" y="3020848"/>
            <a:ext cx="120610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188.164</a:t>
            </a:r>
          </a:p>
        </p:txBody>
      </p:sp>
      <p:sp>
        <p:nvSpPr>
          <p:cNvPr id="73" name="396.444"/>
          <p:cNvSpPr txBox="1"/>
          <p:nvPr/>
        </p:nvSpPr>
        <p:spPr>
          <a:xfrm>
            <a:off x="10291101" y="3020848"/>
            <a:ext cx="120663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396.444</a:t>
            </a:r>
          </a:p>
        </p:txBody>
      </p:sp>
      <p:sp>
        <p:nvSpPr>
          <p:cNvPr id="74" name="FFLF descontados acumulados"/>
          <p:cNvSpPr txBox="1"/>
          <p:nvPr/>
        </p:nvSpPr>
        <p:spPr>
          <a:xfrm>
            <a:off x="694267" y="3290791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FFLF descontados acumulados</a:t>
            </a:r>
          </a:p>
        </p:txBody>
      </p:sp>
      <p:sp>
        <p:nvSpPr>
          <p:cNvPr id="75" name="−87.694"/>
          <p:cNvSpPr txBox="1"/>
          <p:nvPr/>
        </p:nvSpPr>
        <p:spPr>
          <a:xfrm>
            <a:off x="3217333" y="3291782"/>
            <a:ext cx="120610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−87.694</a:t>
            </a:r>
          </a:p>
        </p:txBody>
      </p:sp>
      <p:sp>
        <p:nvSpPr>
          <p:cNvPr id="76" name="−114.876"/>
          <p:cNvSpPr txBox="1"/>
          <p:nvPr/>
        </p:nvSpPr>
        <p:spPr>
          <a:xfrm>
            <a:off x="4575836" y="3291782"/>
            <a:ext cx="134672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−114.876</a:t>
            </a:r>
          </a:p>
        </p:txBody>
      </p:sp>
      <p:sp>
        <p:nvSpPr>
          <p:cNvPr id="77" name="−104.283"/>
          <p:cNvSpPr txBox="1"/>
          <p:nvPr/>
        </p:nvSpPr>
        <p:spPr>
          <a:xfrm>
            <a:off x="6074966" y="3291782"/>
            <a:ext cx="134672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−104.283</a:t>
            </a:r>
          </a:p>
        </p:txBody>
      </p:sp>
      <p:sp>
        <p:nvSpPr>
          <p:cNvPr id="78" name="−46.419"/>
          <p:cNvSpPr txBox="1"/>
          <p:nvPr/>
        </p:nvSpPr>
        <p:spPr>
          <a:xfrm>
            <a:off x="7574095" y="3291782"/>
            <a:ext cx="120610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−46.419</a:t>
            </a:r>
          </a:p>
        </p:txBody>
      </p:sp>
      <p:sp>
        <p:nvSpPr>
          <p:cNvPr id="79" name="19.755"/>
          <p:cNvSpPr txBox="1"/>
          <p:nvPr/>
        </p:nvSpPr>
        <p:spPr>
          <a:xfrm>
            <a:off x="8932598" y="3291782"/>
            <a:ext cx="120610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19.755</a:t>
            </a:r>
          </a:p>
        </p:txBody>
      </p:sp>
      <p:sp>
        <p:nvSpPr>
          <p:cNvPr id="80" name="82.015"/>
          <p:cNvSpPr txBox="1"/>
          <p:nvPr/>
        </p:nvSpPr>
        <p:spPr>
          <a:xfrm>
            <a:off x="10291101" y="3291782"/>
            <a:ext cx="120663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"/>
                <a:cs typeface="IBM Plex Mono"/>
                <a:ea typeface="IBM Plex Mono"/>
              </a:rPr>
              <a:t>82.015</a:t>
            </a:r>
          </a:p>
        </p:txBody>
      </p:sp>
      <p:sp>
        <p:nvSpPr>
          <p:cNvPr id="81" name="PAYBACK SIMPLE"/>
          <p:cNvSpPr txBox="1"/>
          <p:nvPr/>
        </p:nvSpPr>
        <p:spPr>
          <a:xfrm>
            <a:off x="872067" y="4038949"/>
            <a:ext cx="48344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PAYBACK SIMPLE</a:t>
            </a:r>
          </a:p>
        </p:txBody>
      </p:sp>
      <p:sp>
        <p:nvSpPr>
          <p:cNvPr id="82" name="2,88"/>
          <p:cNvSpPr txBox="1"/>
          <p:nvPr/>
        </p:nvSpPr>
        <p:spPr>
          <a:xfrm>
            <a:off x="872067" y="4339666"/>
            <a:ext cx="811080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0D1520"/>
                </a:solidFill>
                <a:latin typeface="Archivo ExtraBold"/>
                <a:cs typeface="Archivo ExtraBold"/>
                <a:ea typeface="Archivo ExtraBold"/>
              </a:rPr>
              <a:t>2,88</a:t>
            </a:r>
          </a:p>
        </p:txBody>
      </p:sp>
      <p:sp>
        <p:nvSpPr>
          <p:cNvPr id="83" name="años · 35 meses"/>
          <p:cNvSpPr txBox="1"/>
          <p:nvPr/>
        </p:nvSpPr>
        <p:spPr>
          <a:xfrm>
            <a:off x="1784747" y="4441820"/>
            <a:ext cx="1071695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años · 35 meses</a:t>
            </a:r>
          </a:p>
        </p:txBody>
      </p:sp>
      <p:sp>
        <p:nvSpPr>
          <p:cNvPr id="84" name="Sobre flujos sin descontar. Se recup"/>
          <p:cNvSpPr txBox="1"/>
          <p:nvPr/>
        </p:nvSpPr>
        <p:spPr>
          <a:xfrm>
            <a:off x="872067" y="4748878"/>
            <a:ext cx="4834467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Sobre flujos sin descontar. Se recupera durante el Año 3.</a:t>
            </a:r>
          </a:p>
        </p:txBody>
      </p:sp>
      <p:sp>
        <p:nvSpPr>
          <p:cNvPr id="85" name="PAYBACK MODIFICADO"/>
          <p:cNvSpPr txBox="1"/>
          <p:nvPr/>
        </p:nvSpPr>
        <p:spPr>
          <a:xfrm>
            <a:off x="6502400" y="4038949"/>
            <a:ext cx="48344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PAYBACK MODIFICADO</a:t>
            </a:r>
          </a:p>
        </p:txBody>
      </p:sp>
      <p:sp>
        <p:nvSpPr>
          <p:cNvPr id="86" name="3,70"/>
          <p:cNvSpPr txBox="1"/>
          <p:nvPr/>
        </p:nvSpPr>
        <p:spPr>
          <a:xfrm>
            <a:off x="6502400" y="4339666"/>
            <a:ext cx="811080" cy="4096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3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070" spc="-123">
                <a:solidFill>
                  <a:srgbClr val="0E7A55"/>
                </a:solidFill>
                <a:latin typeface="Archivo ExtraBold"/>
                <a:cs typeface="Archivo ExtraBold"/>
                <a:ea typeface="Archivo ExtraBold"/>
              </a:rPr>
              <a:t>3,70</a:t>
            </a:r>
          </a:p>
        </p:txBody>
      </p:sp>
      <p:sp>
        <p:nvSpPr>
          <p:cNvPr id="87" name="años · 44 meses"/>
          <p:cNvSpPr txBox="1"/>
          <p:nvPr/>
        </p:nvSpPr>
        <p:spPr>
          <a:xfrm>
            <a:off x="7415080" y="4441820"/>
            <a:ext cx="1071695" cy="2193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años · 44 meses</a:t>
            </a:r>
          </a:p>
        </p:txBody>
      </p:sp>
      <p:sp>
        <p:nvSpPr>
          <p:cNvPr id="88" name="Sobre flujos descontados al WACC. Es"/>
          <p:cNvSpPr txBox="1"/>
          <p:nvPr/>
        </p:nvSpPr>
        <p:spPr>
          <a:xfrm>
            <a:off x="6502400" y="4748878"/>
            <a:ext cx="4834467" cy="1915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5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Sobre flujos descontados al WACC. Es la métrica que reportamos.</a:t>
            </a:r>
          </a:p>
        </p:txBody>
      </p:sp>
      <p:sp>
        <p:nvSpPr>
          <p:cNvPr id="89" name="5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55283"/>
            <a:ext cx="2794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279650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3403600" y="2055283"/>
            <a:ext cx="14224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3403600" y="2279650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8260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8260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5151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65151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82042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82042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9893300" y="2055283"/>
            <a:ext cx="16891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9893300" y="2279650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09600" y="2288117"/>
            <a:ext cx="2794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2550583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3403600" y="2288117"/>
            <a:ext cx="14224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3403600" y="2550583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48260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48260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65151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65151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82042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82042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9893300" y="2288117"/>
            <a:ext cx="16891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9893300" y="25505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609600" y="2559050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609600" y="28215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3403600" y="2559050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3403600" y="28215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48260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48260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65151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65151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82042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82042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9893300" y="25590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9893300" y="28215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609600" y="2829983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609600" y="3092450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3403600" y="2829983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3403600" y="3092450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48260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48260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5151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5151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82042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82042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9893300" y="2829983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9893300" y="30924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609600" y="3100917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top"/>
          <p:cNvSpPr/>
          <p:nvPr/>
        </p:nvSpPr>
        <p:spPr>
          <a:xfrm>
            <a:off x="609600" y="3100917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3403600" y="3100917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top"/>
          <p:cNvSpPr/>
          <p:nvPr/>
        </p:nvSpPr>
        <p:spPr>
          <a:xfrm>
            <a:off x="3403600" y="3100917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48260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top"/>
          <p:cNvSpPr/>
          <p:nvPr/>
        </p:nvSpPr>
        <p:spPr>
          <a:xfrm>
            <a:off x="48260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65151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top"/>
          <p:cNvSpPr/>
          <p:nvPr/>
        </p:nvSpPr>
        <p:spPr>
          <a:xfrm>
            <a:off x="65151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82042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top"/>
          <p:cNvSpPr/>
          <p:nvPr/>
        </p:nvSpPr>
        <p:spPr>
          <a:xfrm>
            <a:off x="82042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9893300" y="31009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top"/>
          <p:cNvSpPr/>
          <p:nvPr/>
        </p:nvSpPr>
        <p:spPr>
          <a:xfrm>
            <a:off x="9893300" y="3100917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609600" y="3367617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609600" y="3625850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3403600" y="3367617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3403600" y="3625850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48260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48260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65151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65151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82042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82042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9893300" y="3367617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bottom"/>
          <p:cNvSpPr/>
          <p:nvPr/>
        </p:nvSpPr>
        <p:spPr>
          <a:xfrm>
            <a:off x="9893300" y="3625850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609600" y="3634317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bottom"/>
          <p:cNvSpPr/>
          <p:nvPr/>
        </p:nvSpPr>
        <p:spPr>
          <a:xfrm>
            <a:off x="609600" y="3896783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3403600" y="3634317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bottom"/>
          <p:cNvSpPr/>
          <p:nvPr/>
        </p:nvSpPr>
        <p:spPr>
          <a:xfrm>
            <a:off x="3403600" y="3896783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48260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bottom"/>
          <p:cNvSpPr/>
          <p:nvPr/>
        </p:nvSpPr>
        <p:spPr>
          <a:xfrm>
            <a:off x="48260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65151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bottom"/>
          <p:cNvSpPr/>
          <p:nvPr/>
        </p:nvSpPr>
        <p:spPr>
          <a:xfrm>
            <a:off x="65151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82042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bottom"/>
          <p:cNvSpPr/>
          <p:nvPr/>
        </p:nvSpPr>
        <p:spPr>
          <a:xfrm>
            <a:off x="82042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9893300" y="3634317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bottom"/>
          <p:cNvSpPr/>
          <p:nvPr/>
        </p:nvSpPr>
        <p:spPr>
          <a:xfrm>
            <a:off x="9893300" y="3896783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3905250"/>
            <a:ext cx="2794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41677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3403600" y="3905250"/>
            <a:ext cx="14224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3403600" y="41677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48260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48260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65151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65151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82042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82042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9893300" y="3905250"/>
            <a:ext cx="16891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9893300" y="41677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609600" y="41761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top"/>
          <p:cNvSpPr/>
          <p:nvPr/>
        </p:nvSpPr>
        <p:spPr>
          <a:xfrm>
            <a:off x="609600" y="4176183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3403600" y="41761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top"/>
          <p:cNvSpPr/>
          <p:nvPr/>
        </p:nvSpPr>
        <p:spPr>
          <a:xfrm>
            <a:off x="3403600" y="4176183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48260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top"/>
          <p:cNvSpPr/>
          <p:nvPr/>
        </p:nvSpPr>
        <p:spPr>
          <a:xfrm>
            <a:off x="48260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65151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top"/>
          <p:cNvSpPr/>
          <p:nvPr/>
        </p:nvSpPr>
        <p:spPr>
          <a:xfrm>
            <a:off x="65151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82042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top"/>
          <p:cNvSpPr/>
          <p:nvPr/>
        </p:nvSpPr>
        <p:spPr>
          <a:xfrm>
            <a:off x="82042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9893300" y="41761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top"/>
          <p:cNvSpPr/>
          <p:nvPr/>
        </p:nvSpPr>
        <p:spPr>
          <a:xfrm>
            <a:off x="9893300" y="41761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rco"/>
          <p:cNvSpPr/>
          <p:nvPr/>
        </p:nvSpPr>
        <p:spPr>
          <a:xfrm>
            <a:off x="609600" y="44428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borde bottom"/>
          <p:cNvSpPr/>
          <p:nvPr/>
        </p:nvSpPr>
        <p:spPr>
          <a:xfrm>
            <a:off x="609600" y="4701117"/>
            <a:ext cx="2794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rco"/>
          <p:cNvSpPr/>
          <p:nvPr/>
        </p:nvSpPr>
        <p:spPr>
          <a:xfrm>
            <a:off x="3403600" y="44428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rde bottom"/>
          <p:cNvSpPr/>
          <p:nvPr/>
        </p:nvSpPr>
        <p:spPr>
          <a:xfrm>
            <a:off x="3403600" y="4701117"/>
            <a:ext cx="14224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marco"/>
          <p:cNvSpPr/>
          <p:nvPr/>
        </p:nvSpPr>
        <p:spPr>
          <a:xfrm>
            <a:off x="48260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borde bottom"/>
          <p:cNvSpPr/>
          <p:nvPr/>
        </p:nvSpPr>
        <p:spPr>
          <a:xfrm>
            <a:off x="48260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marco"/>
          <p:cNvSpPr/>
          <p:nvPr/>
        </p:nvSpPr>
        <p:spPr>
          <a:xfrm>
            <a:off x="65151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borde bottom"/>
          <p:cNvSpPr/>
          <p:nvPr/>
        </p:nvSpPr>
        <p:spPr>
          <a:xfrm>
            <a:off x="65151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marco"/>
          <p:cNvSpPr/>
          <p:nvPr/>
        </p:nvSpPr>
        <p:spPr>
          <a:xfrm>
            <a:off x="82042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borde bottom"/>
          <p:cNvSpPr/>
          <p:nvPr/>
        </p:nvSpPr>
        <p:spPr>
          <a:xfrm>
            <a:off x="82042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rco"/>
          <p:cNvSpPr/>
          <p:nvPr/>
        </p:nvSpPr>
        <p:spPr>
          <a:xfrm>
            <a:off x="9893300" y="44428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borde bottom"/>
          <p:cNvSpPr/>
          <p:nvPr/>
        </p:nvSpPr>
        <p:spPr>
          <a:xfrm>
            <a:off x="9893300" y="4701117"/>
            <a:ext cx="16891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marco"/>
          <p:cNvSpPr/>
          <p:nvPr/>
        </p:nvSpPr>
        <p:spPr>
          <a:xfrm>
            <a:off x="609600" y="4709583"/>
            <a:ext cx="2794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borde top"/>
          <p:cNvSpPr/>
          <p:nvPr/>
        </p:nvSpPr>
        <p:spPr>
          <a:xfrm>
            <a:off x="609600" y="4709583"/>
            <a:ext cx="2794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marco"/>
          <p:cNvSpPr/>
          <p:nvPr/>
        </p:nvSpPr>
        <p:spPr>
          <a:xfrm>
            <a:off x="3403600" y="4709583"/>
            <a:ext cx="14224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borde top"/>
          <p:cNvSpPr/>
          <p:nvPr/>
        </p:nvSpPr>
        <p:spPr>
          <a:xfrm>
            <a:off x="3403600" y="4709583"/>
            <a:ext cx="14224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arco"/>
          <p:cNvSpPr/>
          <p:nvPr/>
        </p:nvSpPr>
        <p:spPr>
          <a:xfrm>
            <a:off x="48260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borde top"/>
          <p:cNvSpPr/>
          <p:nvPr/>
        </p:nvSpPr>
        <p:spPr>
          <a:xfrm>
            <a:off x="48260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marco"/>
          <p:cNvSpPr/>
          <p:nvPr/>
        </p:nvSpPr>
        <p:spPr>
          <a:xfrm>
            <a:off x="65151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borde top"/>
          <p:cNvSpPr/>
          <p:nvPr/>
        </p:nvSpPr>
        <p:spPr>
          <a:xfrm>
            <a:off x="65151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marco"/>
          <p:cNvSpPr/>
          <p:nvPr/>
        </p:nvSpPr>
        <p:spPr>
          <a:xfrm>
            <a:off x="82042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borde top"/>
          <p:cNvSpPr/>
          <p:nvPr/>
        </p:nvSpPr>
        <p:spPr>
          <a:xfrm>
            <a:off x="82042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marco"/>
          <p:cNvSpPr/>
          <p:nvPr/>
        </p:nvSpPr>
        <p:spPr>
          <a:xfrm>
            <a:off x="9893300" y="4709583"/>
            <a:ext cx="16891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borde top"/>
          <p:cNvSpPr/>
          <p:nvPr/>
        </p:nvSpPr>
        <p:spPr>
          <a:xfrm>
            <a:off x="9893300" y="4709583"/>
            <a:ext cx="16891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caja"/>
          <p:cNvSpPr/>
          <p:nvPr/>
        </p:nvSpPr>
        <p:spPr>
          <a:xfrm>
            <a:off x="609600" y="5196417"/>
            <a:ext cx="10972800" cy="639233"/>
          </a:xfrm>
          <a:prstGeom prst="roundRect">
            <a:avLst>
              <a:gd name="adj" fmla="val 5298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CAC"/>
          <p:cNvSpPr txBox="1"/>
          <p:nvPr/>
        </p:nvSpPr>
        <p:spPr>
          <a:xfrm>
            <a:off x="609600" y="457120"/>
            <a:ext cx="5217583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CAC</a:t>
            </a:r>
          </a:p>
        </p:txBody>
      </p:sp>
      <p:sp>
        <p:nvSpPr>
          <p:cNvPr id="139" name="UNIT ECONOMICS · EN DÓLARES · SE ASU"/>
          <p:cNvSpPr txBox="1"/>
          <p:nvPr/>
        </p:nvSpPr>
        <p:spPr>
          <a:xfrm>
            <a:off x="609600" y="866330"/>
            <a:ext cx="521758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UNIT ECONOMICS · EN DÓLARES · SE ASUME UN TIEMPO DE VIDA DE UN AÑO POR USUARIO</a:t>
            </a:r>
          </a:p>
        </p:txBody>
      </p:sp>
      <p:sp>
        <p:nvSpPr>
          <p:cNvPr id="14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4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42" name="AÑO 1"/>
          <p:cNvSpPr txBox="1"/>
          <p:nvPr/>
        </p:nvSpPr>
        <p:spPr>
          <a:xfrm>
            <a:off x="3471333" y="2116747"/>
            <a:ext cx="127000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143" name="AÑO 2"/>
          <p:cNvSpPr txBox="1"/>
          <p:nvPr/>
        </p:nvSpPr>
        <p:spPr>
          <a:xfrm>
            <a:off x="4893733" y="2116747"/>
            <a:ext cx="153670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144" name="AÑO 3"/>
          <p:cNvSpPr txBox="1"/>
          <p:nvPr/>
        </p:nvSpPr>
        <p:spPr>
          <a:xfrm>
            <a:off x="6582833" y="2116747"/>
            <a:ext cx="153670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145" name="AÑO 4"/>
          <p:cNvSpPr txBox="1"/>
          <p:nvPr/>
        </p:nvSpPr>
        <p:spPr>
          <a:xfrm>
            <a:off x="8271933" y="2116747"/>
            <a:ext cx="153670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146" name="AÑO 5"/>
          <p:cNvSpPr txBox="1"/>
          <p:nvPr/>
        </p:nvSpPr>
        <p:spPr>
          <a:xfrm>
            <a:off x="9961033" y="2116747"/>
            <a:ext cx="153670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147" name="Total de usuarios"/>
          <p:cNvSpPr txBox="1"/>
          <p:nvPr/>
        </p:nvSpPr>
        <p:spPr>
          <a:xfrm>
            <a:off x="694267" y="2351255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Total de usuarios</a:t>
            </a:r>
          </a:p>
        </p:txBody>
      </p:sp>
      <p:sp>
        <p:nvSpPr>
          <p:cNvPr id="148" name="2.392"/>
          <p:cNvSpPr txBox="1"/>
          <p:nvPr/>
        </p:nvSpPr>
        <p:spPr>
          <a:xfrm>
            <a:off x="3471333" y="2352246"/>
            <a:ext cx="12700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2.392</a:t>
            </a:r>
          </a:p>
        </p:txBody>
      </p:sp>
      <p:sp>
        <p:nvSpPr>
          <p:cNvPr id="149" name="4.054"/>
          <p:cNvSpPr txBox="1"/>
          <p:nvPr/>
        </p:nvSpPr>
        <p:spPr>
          <a:xfrm>
            <a:off x="4893733" y="2352246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4.054</a:t>
            </a:r>
          </a:p>
        </p:txBody>
      </p:sp>
      <p:sp>
        <p:nvSpPr>
          <p:cNvPr id="150" name="10.085"/>
          <p:cNvSpPr txBox="1"/>
          <p:nvPr/>
        </p:nvSpPr>
        <p:spPr>
          <a:xfrm>
            <a:off x="6582833" y="2352246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10.085</a:t>
            </a:r>
          </a:p>
        </p:txBody>
      </p:sp>
      <p:sp>
        <p:nvSpPr>
          <p:cNvPr id="151" name="12.102"/>
          <p:cNvSpPr txBox="1"/>
          <p:nvPr/>
        </p:nvSpPr>
        <p:spPr>
          <a:xfrm>
            <a:off x="8271933" y="2352246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12.102</a:t>
            </a:r>
          </a:p>
        </p:txBody>
      </p:sp>
      <p:sp>
        <p:nvSpPr>
          <p:cNvPr id="152" name="13.917"/>
          <p:cNvSpPr txBox="1"/>
          <p:nvPr/>
        </p:nvSpPr>
        <p:spPr>
          <a:xfrm>
            <a:off x="9961033" y="2352246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13.917</a:t>
            </a:r>
          </a:p>
        </p:txBody>
      </p:sp>
      <p:sp>
        <p:nvSpPr>
          <p:cNvPr id="153" name="Ingresos netos"/>
          <p:cNvSpPr txBox="1"/>
          <p:nvPr/>
        </p:nvSpPr>
        <p:spPr>
          <a:xfrm>
            <a:off x="694267" y="2622188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Ingresos netos</a:t>
            </a:r>
          </a:p>
        </p:txBody>
      </p:sp>
      <p:sp>
        <p:nvSpPr>
          <p:cNvPr id="154" name="693.651"/>
          <p:cNvSpPr txBox="1"/>
          <p:nvPr/>
        </p:nvSpPr>
        <p:spPr>
          <a:xfrm>
            <a:off x="3471333" y="2623180"/>
            <a:ext cx="12700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693.651</a:t>
            </a:r>
          </a:p>
        </p:txBody>
      </p:sp>
      <p:sp>
        <p:nvSpPr>
          <p:cNvPr id="155" name="1.163.246"/>
          <p:cNvSpPr txBox="1"/>
          <p:nvPr/>
        </p:nvSpPr>
        <p:spPr>
          <a:xfrm>
            <a:off x="4893733" y="2623180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1.163.246</a:t>
            </a:r>
          </a:p>
        </p:txBody>
      </p:sp>
      <p:sp>
        <p:nvSpPr>
          <p:cNvPr id="156" name="2.907.770"/>
          <p:cNvSpPr txBox="1"/>
          <p:nvPr/>
        </p:nvSpPr>
        <p:spPr>
          <a:xfrm>
            <a:off x="6582833" y="2623180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2.907.770</a:t>
            </a:r>
          </a:p>
        </p:txBody>
      </p:sp>
      <p:sp>
        <p:nvSpPr>
          <p:cNvPr id="157" name="3.489.324"/>
          <p:cNvSpPr txBox="1"/>
          <p:nvPr/>
        </p:nvSpPr>
        <p:spPr>
          <a:xfrm>
            <a:off x="8271933" y="2623180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3.489.324</a:t>
            </a:r>
          </a:p>
        </p:txBody>
      </p:sp>
      <p:sp>
        <p:nvSpPr>
          <p:cNvPr id="158" name="4.012.723"/>
          <p:cNvSpPr txBox="1"/>
          <p:nvPr/>
        </p:nvSpPr>
        <p:spPr>
          <a:xfrm>
            <a:off x="9961033" y="2623180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4.012.723</a:t>
            </a:r>
          </a:p>
        </p:txBody>
      </p:sp>
      <p:sp>
        <p:nvSpPr>
          <p:cNvPr id="159" name="Costos variables"/>
          <p:cNvSpPr txBox="1"/>
          <p:nvPr/>
        </p:nvSpPr>
        <p:spPr>
          <a:xfrm>
            <a:off x="694267" y="2893122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variables</a:t>
            </a:r>
          </a:p>
        </p:txBody>
      </p:sp>
      <p:sp>
        <p:nvSpPr>
          <p:cNvPr id="160" name="−609.874"/>
          <p:cNvSpPr txBox="1"/>
          <p:nvPr/>
        </p:nvSpPr>
        <p:spPr>
          <a:xfrm>
            <a:off x="3471333" y="2894113"/>
            <a:ext cx="12700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−609.874</a:t>
            </a:r>
          </a:p>
        </p:txBody>
      </p:sp>
      <p:sp>
        <p:nvSpPr>
          <p:cNvPr id="161" name="−1.022.752"/>
          <p:cNvSpPr txBox="1"/>
          <p:nvPr/>
        </p:nvSpPr>
        <p:spPr>
          <a:xfrm>
            <a:off x="4893733" y="2894113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−1.022.752</a:t>
            </a:r>
          </a:p>
        </p:txBody>
      </p:sp>
      <p:sp>
        <p:nvSpPr>
          <p:cNvPr id="162" name="−2.556.577"/>
          <p:cNvSpPr txBox="1"/>
          <p:nvPr/>
        </p:nvSpPr>
        <p:spPr>
          <a:xfrm>
            <a:off x="6582833" y="2894113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−2.556.577</a:t>
            </a:r>
          </a:p>
        </p:txBody>
      </p:sp>
      <p:sp>
        <p:nvSpPr>
          <p:cNvPr id="163" name="−3.067.892"/>
          <p:cNvSpPr txBox="1"/>
          <p:nvPr/>
        </p:nvSpPr>
        <p:spPr>
          <a:xfrm>
            <a:off x="8271933" y="2894113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−3.067.892</a:t>
            </a:r>
          </a:p>
        </p:txBody>
      </p:sp>
      <p:sp>
        <p:nvSpPr>
          <p:cNvPr id="164" name="−3.528.076"/>
          <p:cNvSpPr txBox="1"/>
          <p:nvPr/>
        </p:nvSpPr>
        <p:spPr>
          <a:xfrm>
            <a:off x="9961033" y="2894113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−3.528.076</a:t>
            </a:r>
          </a:p>
        </p:txBody>
      </p:sp>
      <p:sp>
        <p:nvSpPr>
          <p:cNvPr id="165" name="Contribución marginal"/>
          <p:cNvSpPr txBox="1"/>
          <p:nvPr/>
        </p:nvSpPr>
        <p:spPr>
          <a:xfrm>
            <a:off x="694267" y="3172522"/>
            <a:ext cx="2641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Contribución marginal</a:t>
            </a:r>
          </a:p>
        </p:txBody>
      </p:sp>
      <p:sp>
        <p:nvSpPr>
          <p:cNvPr id="166" name="83.778"/>
          <p:cNvSpPr txBox="1"/>
          <p:nvPr/>
        </p:nvSpPr>
        <p:spPr>
          <a:xfrm>
            <a:off x="3471333" y="3173513"/>
            <a:ext cx="12700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83.778</a:t>
            </a:r>
          </a:p>
        </p:txBody>
      </p:sp>
      <p:sp>
        <p:nvSpPr>
          <p:cNvPr id="167" name="140.494"/>
          <p:cNvSpPr txBox="1"/>
          <p:nvPr/>
        </p:nvSpPr>
        <p:spPr>
          <a:xfrm>
            <a:off x="4893733" y="3173513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140.494</a:t>
            </a:r>
          </a:p>
        </p:txBody>
      </p:sp>
      <p:sp>
        <p:nvSpPr>
          <p:cNvPr id="168" name="351.193"/>
          <p:cNvSpPr txBox="1"/>
          <p:nvPr/>
        </p:nvSpPr>
        <p:spPr>
          <a:xfrm>
            <a:off x="6582833" y="3173513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351.193</a:t>
            </a:r>
          </a:p>
        </p:txBody>
      </p:sp>
      <p:sp>
        <p:nvSpPr>
          <p:cNvPr id="169" name="421.432"/>
          <p:cNvSpPr txBox="1"/>
          <p:nvPr/>
        </p:nvSpPr>
        <p:spPr>
          <a:xfrm>
            <a:off x="8271933" y="3173513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421.432</a:t>
            </a:r>
          </a:p>
        </p:txBody>
      </p:sp>
      <p:sp>
        <p:nvSpPr>
          <p:cNvPr id="170" name="484.647"/>
          <p:cNvSpPr txBox="1"/>
          <p:nvPr/>
        </p:nvSpPr>
        <p:spPr>
          <a:xfrm>
            <a:off x="9961033" y="3173513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484.647</a:t>
            </a:r>
          </a:p>
        </p:txBody>
      </p:sp>
      <p:sp>
        <p:nvSpPr>
          <p:cNvPr id="171" name="Customer Lifetime Value (CTV)"/>
          <p:cNvSpPr txBox="1"/>
          <p:nvPr/>
        </p:nvSpPr>
        <p:spPr>
          <a:xfrm>
            <a:off x="694267" y="3430755"/>
            <a:ext cx="2641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Customer Lifetime Value (CTV)</a:t>
            </a:r>
          </a:p>
        </p:txBody>
      </p:sp>
      <p:sp>
        <p:nvSpPr>
          <p:cNvPr id="172" name="35,03"/>
          <p:cNvSpPr txBox="1"/>
          <p:nvPr/>
        </p:nvSpPr>
        <p:spPr>
          <a:xfrm>
            <a:off x="3471333" y="3431746"/>
            <a:ext cx="12700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35,03</a:t>
            </a:r>
          </a:p>
        </p:txBody>
      </p:sp>
      <p:sp>
        <p:nvSpPr>
          <p:cNvPr id="173" name="34,66"/>
          <p:cNvSpPr txBox="1"/>
          <p:nvPr/>
        </p:nvSpPr>
        <p:spPr>
          <a:xfrm>
            <a:off x="4893733" y="3431746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34,66</a:t>
            </a:r>
          </a:p>
        </p:txBody>
      </p:sp>
      <p:sp>
        <p:nvSpPr>
          <p:cNvPr id="174" name="34,82"/>
          <p:cNvSpPr txBox="1"/>
          <p:nvPr/>
        </p:nvSpPr>
        <p:spPr>
          <a:xfrm>
            <a:off x="6582833" y="3431746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34,82</a:t>
            </a:r>
          </a:p>
        </p:txBody>
      </p:sp>
      <p:sp>
        <p:nvSpPr>
          <p:cNvPr id="175" name="34,82"/>
          <p:cNvSpPr txBox="1"/>
          <p:nvPr/>
        </p:nvSpPr>
        <p:spPr>
          <a:xfrm>
            <a:off x="8271933" y="3431746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34,82</a:t>
            </a:r>
          </a:p>
        </p:txBody>
      </p:sp>
      <p:sp>
        <p:nvSpPr>
          <p:cNvPr id="176" name="34,82"/>
          <p:cNvSpPr txBox="1"/>
          <p:nvPr/>
        </p:nvSpPr>
        <p:spPr>
          <a:xfrm>
            <a:off x="9961033" y="3431746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34,82</a:t>
            </a:r>
          </a:p>
        </p:txBody>
      </p:sp>
      <p:sp>
        <p:nvSpPr>
          <p:cNvPr id="177" name="Presencia en exposiciones"/>
          <p:cNvSpPr txBox="1"/>
          <p:nvPr/>
        </p:nvSpPr>
        <p:spPr>
          <a:xfrm>
            <a:off x="694267" y="3697455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Presencia en exposiciones</a:t>
            </a:r>
          </a:p>
        </p:txBody>
      </p:sp>
      <p:sp>
        <p:nvSpPr>
          <p:cNvPr id="178" name="−10.000"/>
          <p:cNvSpPr txBox="1"/>
          <p:nvPr/>
        </p:nvSpPr>
        <p:spPr>
          <a:xfrm>
            <a:off x="3471333" y="3698446"/>
            <a:ext cx="12700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79" name="−10.000"/>
          <p:cNvSpPr txBox="1"/>
          <p:nvPr/>
        </p:nvSpPr>
        <p:spPr>
          <a:xfrm>
            <a:off x="4893733" y="3698446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80" name="−10.000"/>
          <p:cNvSpPr txBox="1"/>
          <p:nvPr/>
        </p:nvSpPr>
        <p:spPr>
          <a:xfrm>
            <a:off x="6582833" y="3698446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81" name="−10.000"/>
          <p:cNvSpPr txBox="1"/>
          <p:nvPr/>
        </p:nvSpPr>
        <p:spPr>
          <a:xfrm>
            <a:off x="8271933" y="3698446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82" name="−10.000"/>
          <p:cNvSpPr txBox="1"/>
          <p:nvPr/>
        </p:nvSpPr>
        <p:spPr>
          <a:xfrm>
            <a:off x="9961033" y="3698446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−10.000</a:t>
            </a:r>
          </a:p>
        </p:txBody>
      </p:sp>
      <p:sp>
        <p:nvSpPr>
          <p:cNvPr id="183" name="Gastos en marketing"/>
          <p:cNvSpPr txBox="1"/>
          <p:nvPr/>
        </p:nvSpPr>
        <p:spPr>
          <a:xfrm>
            <a:off x="694267" y="3968388"/>
            <a:ext cx="2641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Gastos en marketing</a:t>
            </a:r>
          </a:p>
        </p:txBody>
      </p:sp>
      <p:sp>
        <p:nvSpPr>
          <p:cNvPr id="184" name="−25.000"/>
          <p:cNvSpPr txBox="1"/>
          <p:nvPr/>
        </p:nvSpPr>
        <p:spPr>
          <a:xfrm>
            <a:off x="3471333" y="3969380"/>
            <a:ext cx="12700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−25.000</a:t>
            </a:r>
          </a:p>
        </p:txBody>
      </p:sp>
      <p:sp>
        <p:nvSpPr>
          <p:cNvPr id="185" name="−46.530"/>
          <p:cNvSpPr txBox="1"/>
          <p:nvPr/>
        </p:nvSpPr>
        <p:spPr>
          <a:xfrm>
            <a:off x="4893733" y="3969380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−46.530</a:t>
            </a:r>
          </a:p>
        </p:txBody>
      </p:sp>
      <p:sp>
        <p:nvSpPr>
          <p:cNvPr id="186" name="−101.772"/>
          <p:cNvSpPr txBox="1"/>
          <p:nvPr/>
        </p:nvSpPr>
        <p:spPr>
          <a:xfrm>
            <a:off x="6582833" y="3969380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−101.772</a:t>
            </a:r>
          </a:p>
        </p:txBody>
      </p:sp>
      <p:sp>
        <p:nvSpPr>
          <p:cNvPr id="187" name="−122.126"/>
          <p:cNvSpPr txBox="1"/>
          <p:nvPr/>
        </p:nvSpPr>
        <p:spPr>
          <a:xfrm>
            <a:off x="8271933" y="3969380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−122.126</a:t>
            </a:r>
          </a:p>
        </p:txBody>
      </p:sp>
      <p:sp>
        <p:nvSpPr>
          <p:cNvPr id="188" name="−140.445"/>
          <p:cNvSpPr txBox="1"/>
          <p:nvPr/>
        </p:nvSpPr>
        <p:spPr>
          <a:xfrm>
            <a:off x="9961033" y="3969380"/>
            <a:ext cx="153670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B5561B"/>
                </a:solidFill>
                <a:latin typeface="IBM Plex Mono"/>
                <a:cs typeface="IBM Plex Mono"/>
                <a:ea typeface="IBM Plex Mono"/>
              </a:rPr>
              <a:t>−140.445</a:t>
            </a:r>
          </a:p>
        </p:txBody>
      </p:sp>
      <p:sp>
        <p:nvSpPr>
          <p:cNvPr id="189" name="Gastos totales para conseguir client"/>
          <p:cNvSpPr txBox="1"/>
          <p:nvPr/>
        </p:nvSpPr>
        <p:spPr>
          <a:xfrm>
            <a:off x="694267" y="4247788"/>
            <a:ext cx="2641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Gastos totales para conseguir clientes</a:t>
            </a:r>
          </a:p>
        </p:txBody>
      </p:sp>
      <p:sp>
        <p:nvSpPr>
          <p:cNvPr id="190" name="35.000"/>
          <p:cNvSpPr txBox="1"/>
          <p:nvPr/>
        </p:nvSpPr>
        <p:spPr>
          <a:xfrm>
            <a:off x="3471333" y="4248780"/>
            <a:ext cx="12700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35.000</a:t>
            </a:r>
          </a:p>
        </p:txBody>
      </p:sp>
      <p:sp>
        <p:nvSpPr>
          <p:cNvPr id="191" name="56.530"/>
          <p:cNvSpPr txBox="1"/>
          <p:nvPr/>
        </p:nvSpPr>
        <p:spPr>
          <a:xfrm>
            <a:off x="4893733" y="4248780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56.530</a:t>
            </a:r>
          </a:p>
        </p:txBody>
      </p:sp>
      <p:sp>
        <p:nvSpPr>
          <p:cNvPr id="192" name="111.772"/>
          <p:cNvSpPr txBox="1"/>
          <p:nvPr/>
        </p:nvSpPr>
        <p:spPr>
          <a:xfrm>
            <a:off x="6582833" y="4248780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111.772</a:t>
            </a:r>
          </a:p>
        </p:txBody>
      </p:sp>
      <p:sp>
        <p:nvSpPr>
          <p:cNvPr id="193" name="132.126"/>
          <p:cNvSpPr txBox="1"/>
          <p:nvPr/>
        </p:nvSpPr>
        <p:spPr>
          <a:xfrm>
            <a:off x="8271933" y="4248780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132.126</a:t>
            </a:r>
          </a:p>
        </p:txBody>
      </p:sp>
      <p:sp>
        <p:nvSpPr>
          <p:cNvPr id="194" name="150.445"/>
          <p:cNvSpPr txBox="1"/>
          <p:nvPr/>
        </p:nvSpPr>
        <p:spPr>
          <a:xfrm>
            <a:off x="9961033" y="4248780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150.445</a:t>
            </a:r>
          </a:p>
        </p:txBody>
      </p:sp>
      <p:sp>
        <p:nvSpPr>
          <p:cNvPr id="195" name="Costo de Adquisición de Clientes (CA"/>
          <p:cNvSpPr txBox="1"/>
          <p:nvPr/>
        </p:nvSpPr>
        <p:spPr>
          <a:xfrm>
            <a:off x="694267" y="4506022"/>
            <a:ext cx="2641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 de Adquisición de Clientes (CAC)</a:t>
            </a:r>
          </a:p>
        </p:txBody>
      </p:sp>
      <p:sp>
        <p:nvSpPr>
          <p:cNvPr id="196" name="14,63"/>
          <p:cNvSpPr txBox="1"/>
          <p:nvPr/>
        </p:nvSpPr>
        <p:spPr>
          <a:xfrm>
            <a:off x="3471333" y="4507013"/>
            <a:ext cx="12700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14,63</a:t>
            </a:r>
          </a:p>
        </p:txBody>
      </p:sp>
      <p:sp>
        <p:nvSpPr>
          <p:cNvPr id="197" name="13,94"/>
          <p:cNvSpPr txBox="1"/>
          <p:nvPr/>
        </p:nvSpPr>
        <p:spPr>
          <a:xfrm>
            <a:off x="4893733" y="4507013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13,94</a:t>
            </a:r>
          </a:p>
        </p:txBody>
      </p:sp>
      <p:sp>
        <p:nvSpPr>
          <p:cNvPr id="198" name="11,08"/>
          <p:cNvSpPr txBox="1"/>
          <p:nvPr/>
        </p:nvSpPr>
        <p:spPr>
          <a:xfrm>
            <a:off x="6582833" y="4507013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11,08</a:t>
            </a:r>
          </a:p>
        </p:txBody>
      </p:sp>
      <p:sp>
        <p:nvSpPr>
          <p:cNvPr id="199" name="10,92"/>
          <p:cNvSpPr txBox="1"/>
          <p:nvPr/>
        </p:nvSpPr>
        <p:spPr>
          <a:xfrm>
            <a:off x="8271933" y="4507013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10,92</a:t>
            </a:r>
          </a:p>
        </p:txBody>
      </p:sp>
      <p:sp>
        <p:nvSpPr>
          <p:cNvPr id="200" name="10,81"/>
          <p:cNvSpPr txBox="1"/>
          <p:nvPr/>
        </p:nvSpPr>
        <p:spPr>
          <a:xfrm>
            <a:off x="9961033" y="4507013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10,81</a:t>
            </a:r>
          </a:p>
        </p:txBody>
      </p:sp>
      <p:sp>
        <p:nvSpPr>
          <p:cNvPr id="201" name="Ratio CTV / CAC"/>
          <p:cNvSpPr txBox="1"/>
          <p:nvPr/>
        </p:nvSpPr>
        <p:spPr>
          <a:xfrm>
            <a:off x="694267" y="4781188"/>
            <a:ext cx="2641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Ratio CTV / CAC</a:t>
            </a:r>
          </a:p>
        </p:txBody>
      </p:sp>
      <p:sp>
        <p:nvSpPr>
          <p:cNvPr id="202" name="2,39"/>
          <p:cNvSpPr txBox="1"/>
          <p:nvPr/>
        </p:nvSpPr>
        <p:spPr>
          <a:xfrm>
            <a:off x="3471333" y="4782180"/>
            <a:ext cx="12700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2,39</a:t>
            </a:r>
          </a:p>
        </p:txBody>
      </p:sp>
      <p:sp>
        <p:nvSpPr>
          <p:cNvPr id="203" name="2,49"/>
          <p:cNvSpPr txBox="1"/>
          <p:nvPr/>
        </p:nvSpPr>
        <p:spPr>
          <a:xfrm>
            <a:off x="4893733" y="4782180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2,49</a:t>
            </a:r>
          </a:p>
        </p:txBody>
      </p:sp>
      <p:sp>
        <p:nvSpPr>
          <p:cNvPr id="204" name="3,14"/>
          <p:cNvSpPr txBox="1"/>
          <p:nvPr/>
        </p:nvSpPr>
        <p:spPr>
          <a:xfrm>
            <a:off x="6582833" y="4782180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3,14</a:t>
            </a:r>
          </a:p>
        </p:txBody>
      </p:sp>
      <p:sp>
        <p:nvSpPr>
          <p:cNvPr id="205" name="3,19"/>
          <p:cNvSpPr txBox="1"/>
          <p:nvPr/>
        </p:nvSpPr>
        <p:spPr>
          <a:xfrm>
            <a:off x="8271933" y="4782180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3,19</a:t>
            </a:r>
          </a:p>
        </p:txBody>
      </p:sp>
      <p:sp>
        <p:nvSpPr>
          <p:cNvPr id="206" name="3,22"/>
          <p:cNvSpPr txBox="1"/>
          <p:nvPr/>
        </p:nvSpPr>
        <p:spPr>
          <a:xfrm>
            <a:off x="9961033" y="4782180"/>
            <a:ext cx="153670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3,22</a:t>
            </a:r>
          </a:p>
        </p:txBody>
      </p:sp>
      <p:sp>
        <p:nvSpPr>
          <p:cNvPr id="207" name="El CTV se mantiene estable (~USD 35)"/>
          <p:cNvSpPr txBox="1"/>
          <p:nvPr/>
        </p:nvSpPr>
        <p:spPr>
          <a:xfrm>
            <a:off x="812800" y="5328128"/>
            <a:ext cx="10566400" cy="38994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CTV se mantiene estable (~USD 35) porque el ticket no cambia; </a:t>
            </a:r>
            <a:r>
              <a:rPr b="0" i="0" sz="10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la mejora del ratio viene de la caída del CAC</a:t>
            </a: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, que baja 26% entre el Año 1 y el Año 5. Los gastos de adquisición se incrementan 20% anualmente.</a:t>
            </a:r>
          </a:p>
        </p:txBody>
      </p:sp>
      <p:sp>
        <p:nvSpPr>
          <p:cNvPr id="208" name="5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grafico" descr="5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93333"/>
            <a:ext cx="5300133" cy="2709333"/>
          </a:xfrm>
          <a:prstGeom prst="rect">
            <a:avLst/>
          </a:prstGeom>
          <a:effectLst/>
        </p:spPr>
      </p:pic>
      <p:pic>
        <p:nvPicPr>
          <p:cNvPr id="6" name="grafico" descr="5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67" y="1693333"/>
            <a:ext cx="5300133" cy="2709333"/>
          </a:xfrm>
          <a:prstGeom prst="rect">
            <a:avLst/>
          </a:prstGeom>
          <a:effectLst/>
        </p:spPr>
      </p:pic>
      <p:sp>
        <p:nvSpPr>
          <p:cNvPr id="7" name="marco"/>
          <p:cNvSpPr/>
          <p:nvPr/>
        </p:nvSpPr>
        <p:spPr>
          <a:xfrm>
            <a:off x="609600" y="4622800"/>
            <a:ext cx="2032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4847167"/>
            <a:ext cx="2032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2641600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2641600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4429654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4429654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217708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6217708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8005762" y="4622800"/>
            <a:ext cx="178805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8005762" y="4847167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9793817" y="4622800"/>
            <a:ext cx="178858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9793817" y="4847167"/>
            <a:ext cx="178858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4855633"/>
            <a:ext cx="2032000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5160433"/>
            <a:ext cx="2032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2641600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2641600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4429654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4429654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6217708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6217708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8005762" y="4855633"/>
            <a:ext cx="1788054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8005762" y="5160433"/>
            <a:ext cx="178805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9793817" y="4855633"/>
            <a:ext cx="1788583" cy="31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9793817" y="5160433"/>
            <a:ext cx="178858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609600" y="5168900"/>
            <a:ext cx="2032000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top"/>
          <p:cNvSpPr/>
          <p:nvPr/>
        </p:nvSpPr>
        <p:spPr>
          <a:xfrm>
            <a:off x="609600" y="5168900"/>
            <a:ext cx="2032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2641600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top"/>
          <p:cNvSpPr/>
          <p:nvPr/>
        </p:nvSpPr>
        <p:spPr>
          <a:xfrm>
            <a:off x="2641600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4429654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top"/>
          <p:cNvSpPr/>
          <p:nvPr/>
        </p:nvSpPr>
        <p:spPr>
          <a:xfrm>
            <a:off x="4429654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6217708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top"/>
          <p:cNvSpPr/>
          <p:nvPr/>
        </p:nvSpPr>
        <p:spPr>
          <a:xfrm>
            <a:off x="6217708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8005762" y="5168900"/>
            <a:ext cx="1788054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top"/>
          <p:cNvSpPr/>
          <p:nvPr/>
        </p:nvSpPr>
        <p:spPr>
          <a:xfrm>
            <a:off x="8005762" y="5168900"/>
            <a:ext cx="178805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9793817" y="5168900"/>
            <a:ext cx="1788583" cy="3090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top"/>
          <p:cNvSpPr/>
          <p:nvPr/>
        </p:nvSpPr>
        <p:spPr>
          <a:xfrm>
            <a:off x="9793817" y="5168900"/>
            <a:ext cx="178858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ficiencia de adquisición"/>
          <p:cNvSpPr txBox="1"/>
          <p:nvPr/>
        </p:nvSpPr>
        <p:spPr>
          <a:xfrm>
            <a:off x="609600" y="469114"/>
            <a:ext cx="6854825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Eficiencia de adquisición</a:t>
            </a:r>
          </a:p>
        </p:txBody>
      </p:sp>
      <p:sp>
        <p:nvSpPr>
          <p:cNvPr id="44" name="A MEDIDA QUE OFIX ESCALA, AUMENTA LA"/>
          <p:cNvSpPr txBox="1"/>
          <p:nvPr/>
        </p:nvSpPr>
        <p:spPr>
          <a:xfrm>
            <a:off x="609600" y="1037796"/>
            <a:ext cx="6854825" cy="165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 spc="92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A MEDIDA QUE </a:t>
            </a:r>
            <a:r>
              <a:rPr b="0" i="0" sz="830" spc="92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OFIX</a:t>
            </a:r>
            <a:r>
              <a:rPr b="0" i="0" sz="830" spc="92">
                <a:solidFill>
                  <a:srgbClr val="4E5C73"/>
                </a:solidFill>
                <a:latin typeface="IBM Plex Mono"/>
                <a:cs typeface="IBM Plex Mono"/>
                <a:ea typeface="IBM Plex Mono"/>
              </a:rPr>
              <a:t> ESCALA, AUMENTA LA BASE DE USUARIOS Y MEJORA LA EFICIENCIA DE ADQUISICIÓN</a:t>
            </a:r>
          </a:p>
        </p:txBody>
      </p:sp>
      <p:sp>
        <p:nvSpPr>
          <p:cNvPr id="4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4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47" name="USUARIOS · CANTIDAD"/>
          <p:cNvSpPr txBox="1"/>
          <p:nvPr/>
        </p:nvSpPr>
        <p:spPr>
          <a:xfrm>
            <a:off x="609600" y="1526730"/>
            <a:ext cx="53170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USUARIOS · CANTIDAD</a:t>
            </a:r>
          </a:p>
        </p:txBody>
      </p:sp>
      <p:sp>
        <p:nvSpPr>
          <p:cNvPr id="48" name="INVERSIÓN EN MARKETING · USD"/>
          <p:cNvSpPr txBox="1"/>
          <p:nvPr/>
        </p:nvSpPr>
        <p:spPr>
          <a:xfrm>
            <a:off x="6282267" y="1526730"/>
            <a:ext cx="53170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INVERSIÓN EN MARKETING · USD</a:t>
            </a:r>
          </a:p>
        </p:txBody>
      </p:sp>
      <p:sp>
        <p:nvSpPr>
          <p:cNvPr id="49" name="AÑO 1"/>
          <p:cNvSpPr txBox="1"/>
          <p:nvPr/>
        </p:nvSpPr>
        <p:spPr>
          <a:xfrm>
            <a:off x="2709333" y="4684264"/>
            <a:ext cx="163565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50" name="AÑO 2"/>
          <p:cNvSpPr txBox="1"/>
          <p:nvPr/>
        </p:nvSpPr>
        <p:spPr>
          <a:xfrm>
            <a:off x="4497388" y="4684264"/>
            <a:ext cx="163565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51" name="AÑO 3"/>
          <p:cNvSpPr txBox="1"/>
          <p:nvPr/>
        </p:nvSpPr>
        <p:spPr>
          <a:xfrm>
            <a:off x="6285442" y="4684264"/>
            <a:ext cx="163565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52" name="AÑO 4"/>
          <p:cNvSpPr txBox="1"/>
          <p:nvPr/>
        </p:nvSpPr>
        <p:spPr>
          <a:xfrm>
            <a:off x="8073496" y="4684264"/>
            <a:ext cx="163565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53" name="AÑO 5"/>
          <p:cNvSpPr txBox="1"/>
          <p:nvPr/>
        </p:nvSpPr>
        <p:spPr>
          <a:xfrm>
            <a:off x="9861550" y="4684264"/>
            <a:ext cx="163618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54" name="CAC (USD)"/>
          <p:cNvSpPr txBox="1"/>
          <p:nvPr/>
        </p:nvSpPr>
        <p:spPr>
          <a:xfrm>
            <a:off x="694267" y="4918772"/>
            <a:ext cx="1879600" cy="2155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CAC (USD)</a:t>
            </a:r>
          </a:p>
        </p:txBody>
      </p:sp>
      <p:sp>
        <p:nvSpPr>
          <p:cNvPr id="55" name="14,63"/>
          <p:cNvSpPr txBox="1"/>
          <p:nvPr/>
        </p:nvSpPr>
        <p:spPr>
          <a:xfrm>
            <a:off x="2709333" y="4924562"/>
            <a:ext cx="1635654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14,63</a:t>
            </a:r>
          </a:p>
        </p:txBody>
      </p:sp>
      <p:sp>
        <p:nvSpPr>
          <p:cNvPr id="56" name="13,94"/>
          <p:cNvSpPr txBox="1"/>
          <p:nvPr/>
        </p:nvSpPr>
        <p:spPr>
          <a:xfrm>
            <a:off x="4497388" y="4924562"/>
            <a:ext cx="1635654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13,94</a:t>
            </a:r>
          </a:p>
        </p:txBody>
      </p:sp>
      <p:sp>
        <p:nvSpPr>
          <p:cNvPr id="57" name="11,08"/>
          <p:cNvSpPr txBox="1"/>
          <p:nvPr/>
        </p:nvSpPr>
        <p:spPr>
          <a:xfrm>
            <a:off x="6285442" y="4924562"/>
            <a:ext cx="1635654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11,08</a:t>
            </a:r>
          </a:p>
        </p:txBody>
      </p:sp>
      <p:sp>
        <p:nvSpPr>
          <p:cNvPr id="58" name="10,92"/>
          <p:cNvSpPr txBox="1"/>
          <p:nvPr/>
        </p:nvSpPr>
        <p:spPr>
          <a:xfrm>
            <a:off x="8073496" y="4924562"/>
            <a:ext cx="1635654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10,92</a:t>
            </a:r>
          </a:p>
        </p:txBody>
      </p:sp>
      <p:sp>
        <p:nvSpPr>
          <p:cNvPr id="59" name="10,81"/>
          <p:cNvSpPr txBox="1"/>
          <p:nvPr/>
        </p:nvSpPr>
        <p:spPr>
          <a:xfrm>
            <a:off x="9861550" y="4924562"/>
            <a:ext cx="1636183" cy="2213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10,81</a:t>
            </a:r>
          </a:p>
        </p:txBody>
      </p:sp>
      <p:sp>
        <p:nvSpPr>
          <p:cNvPr id="60" name="CTV / CAC"/>
          <p:cNvSpPr txBox="1"/>
          <p:nvPr/>
        </p:nvSpPr>
        <p:spPr>
          <a:xfrm>
            <a:off x="694267" y="5240505"/>
            <a:ext cx="1879600" cy="211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CTV / CAC</a:t>
            </a:r>
          </a:p>
        </p:txBody>
      </p:sp>
      <p:sp>
        <p:nvSpPr>
          <p:cNvPr id="61" name="2,39"/>
          <p:cNvSpPr txBox="1"/>
          <p:nvPr/>
        </p:nvSpPr>
        <p:spPr>
          <a:xfrm>
            <a:off x="2709333" y="5246295"/>
            <a:ext cx="1635654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2,39</a:t>
            </a:r>
          </a:p>
        </p:txBody>
      </p:sp>
      <p:sp>
        <p:nvSpPr>
          <p:cNvPr id="62" name="2,49"/>
          <p:cNvSpPr txBox="1"/>
          <p:nvPr/>
        </p:nvSpPr>
        <p:spPr>
          <a:xfrm>
            <a:off x="4497388" y="5246295"/>
            <a:ext cx="1635654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2,49</a:t>
            </a:r>
          </a:p>
        </p:txBody>
      </p:sp>
      <p:sp>
        <p:nvSpPr>
          <p:cNvPr id="63" name="3,14"/>
          <p:cNvSpPr txBox="1"/>
          <p:nvPr/>
        </p:nvSpPr>
        <p:spPr>
          <a:xfrm>
            <a:off x="6285442" y="5246295"/>
            <a:ext cx="1635654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3,14</a:t>
            </a:r>
          </a:p>
        </p:txBody>
      </p:sp>
      <p:sp>
        <p:nvSpPr>
          <p:cNvPr id="64" name="3,19"/>
          <p:cNvSpPr txBox="1"/>
          <p:nvPr/>
        </p:nvSpPr>
        <p:spPr>
          <a:xfrm>
            <a:off x="8073496" y="5246295"/>
            <a:ext cx="1635654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3,19</a:t>
            </a:r>
          </a:p>
        </p:txBody>
      </p:sp>
      <p:sp>
        <p:nvSpPr>
          <p:cNvPr id="65" name="3,22"/>
          <p:cNvSpPr txBox="1"/>
          <p:nvPr/>
        </p:nvSpPr>
        <p:spPr>
          <a:xfrm>
            <a:off x="9861550" y="5246295"/>
            <a:ext cx="1636183" cy="217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0E7A55"/>
                </a:solidFill>
                <a:latin typeface="IBM Plex Mono SemiBold"/>
                <a:cs typeface="IBM Plex Mono SemiBold"/>
                <a:ea typeface="IBM Plex Mono SemiBold"/>
              </a:rPr>
              <a:t>3,22</a:t>
            </a:r>
          </a:p>
        </p:txBody>
      </p:sp>
      <p:sp>
        <p:nvSpPr>
          <p:cNvPr id="66" name="5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1859492"/>
            <a:ext cx="254000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083858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3149600" y="1859492"/>
            <a:ext cx="116112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3149600" y="2083858"/>
            <a:ext cx="116112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310724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310724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5712090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5712090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7113455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7113455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8514821" y="1859492"/>
            <a:ext cx="1401366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8514821" y="2083858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9916186" y="1859492"/>
            <a:ext cx="1666214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9916186" y="2083858"/>
            <a:ext cx="166621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2092325"/>
            <a:ext cx="254000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609600" y="23547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aja"/>
          <p:cNvSpPr/>
          <p:nvPr/>
        </p:nvSpPr>
        <p:spPr>
          <a:xfrm>
            <a:off x="3149600" y="2092325"/>
            <a:ext cx="1161124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3149600" y="23547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4310724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4310724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5712090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5712090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aja"/>
          <p:cNvSpPr/>
          <p:nvPr/>
        </p:nvSpPr>
        <p:spPr>
          <a:xfrm>
            <a:off x="7113455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7113455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aja"/>
          <p:cNvSpPr/>
          <p:nvPr/>
        </p:nvSpPr>
        <p:spPr>
          <a:xfrm>
            <a:off x="8514821" y="2092325"/>
            <a:ext cx="1401366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8514821" y="23547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aja"/>
          <p:cNvSpPr/>
          <p:nvPr/>
        </p:nvSpPr>
        <p:spPr>
          <a:xfrm>
            <a:off x="9916186" y="2092325"/>
            <a:ext cx="1666214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9916186" y="23547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609600" y="23632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609600" y="26257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3149600" y="23632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3149600" y="26257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4310724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4310724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5712090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5712090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7113455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7113455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8514821" y="23632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8514821" y="26257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9916186" y="23632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9916186" y="26257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609600" y="26341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609600" y="28966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3149600" y="26341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3149600" y="28966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4310724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4310724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5712090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5712090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7113455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7113455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8514821" y="26341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8514821" y="28966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9916186" y="26341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9916186" y="28966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29051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609600" y="31675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3149600" y="29051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3149600" y="31675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4310724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4310724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5712090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5712090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7113455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7113455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8514821" y="29051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8514821" y="31675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9916186" y="29051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9916186" y="31675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609600" y="31760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bottom"/>
          <p:cNvSpPr/>
          <p:nvPr/>
        </p:nvSpPr>
        <p:spPr>
          <a:xfrm>
            <a:off x="609600" y="34385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3149600" y="31760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bottom"/>
          <p:cNvSpPr/>
          <p:nvPr/>
        </p:nvSpPr>
        <p:spPr>
          <a:xfrm>
            <a:off x="3149600" y="34385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4310724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bottom"/>
          <p:cNvSpPr/>
          <p:nvPr/>
        </p:nvSpPr>
        <p:spPr>
          <a:xfrm>
            <a:off x="4310724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5712090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bottom"/>
          <p:cNvSpPr/>
          <p:nvPr/>
        </p:nvSpPr>
        <p:spPr>
          <a:xfrm>
            <a:off x="5712090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7113455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bottom"/>
          <p:cNvSpPr/>
          <p:nvPr/>
        </p:nvSpPr>
        <p:spPr>
          <a:xfrm>
            <a:off x="7113455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8514821" y="31760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bottom"/>
          <p:cNvSpPr/>
          <p:nvPr/>
        </p:nvSpPr>
        <p:spPr>
          <a:xfrm>
            <a:off x="8514821" y="34385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9916186" y="31760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bottom"/>
          <p:cNvSpPr/>
          <p:nvPr/>
        </p:nvSpPr>
        <p:spPr>
          <a:xfrm>
            <a:off x="9916186" y="34385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34469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37094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3149600" y="34469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3149600" y="37094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4310724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4310724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5712090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5712090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7113455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7113455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8514821" y="34469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8514821" y="37094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9916186" y="34469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bottom"/>
          <p:cNvSpPr/>
          <p:nvPr/>
        </p:nvSpPr>
        <p:spPr>
          <a:xfrm>
            <a:off x="9916186" y="37094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609600" y="37179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bottom"/>
          <p:cNvSpPr/>
          <p:nvPr/>
        </p:nvSpPr>
        <p:spPr>
          <a:xfrm>
            <a:off x="609600" y="39803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3149600" y="37179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bottom"/>
          <p:cNvSpPr/>
          <p:nvPr/>
        </p:nvSpPr>
        <p:spPr>
          <a:xfrm>
            <a:off x="3149600" y="39803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4310724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bottom"/>
          <p:cNvSpPr/>
          <p:nvPr/>
        </p:nvSpPr>
        <p:spPr>
          <a:xfrm>
            <a:off x="4310724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5712090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bottom"/>
          <p:cNvSpPr/>
          <p:nvPr/>
        </p:nvSpPr>
        <p:spPr>
          <a:xfrm>
            <a:off x="5712090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7113455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bottom"/>
          <p:cNvSpPr/>
          <p:nvPr/>
        </p:nvSpPr>
        <p:spPr>
          <a:xfrm>
            <a:off x="7113455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marco"/>
          <p:cNvSpPr/>
          <p:nvPr/>
        </p:nvSpPr>
        <p:spPr>
          <a:xfrm>
            <a:off x="8514821" y="37179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borde bottom"/>
          <p:cNvSpPr/>
          <p:nvPr/>
        </p:nvSpPr>
        <p:spPr>
          <a:xfrm>
            <a:off x="8514821" y="39803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marco"/>
          <p:cNvSpPr/>
          <p:nvPr/>
        </p:nvSpPr>
        <p:spPr>
          <a:xfrm>
            <a:off x="9916186" y="37179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borde bottom"/>
          <p:cNvSpPr/>
          <p:nvPr/>
        </p:nvSpPr>
        <p:spPr>
          <a:xfrm>
            <a:off x="9916186" y="39803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marco"/>
          <p:cNvSpPr/>
          <p:nvPr/>
        </p:nvSpPr>
        <p:spPr>
          <a:xfrm>
            <a:off x="609600" y="39888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borde bottom"/>
          <p:cNvSpPr/>
          <p:nvPr/>
        </p:nvSpPr>
        <p:spPr>
          <a:xfrm>
            <a:off x="609600" y="42513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marco"/>
          <p:cNvSpPr/>
          <p:nvPr/>
        </p:nvSpPr>
        <p:spPr>
          <a:xfrm>
            <a:off x="3149600" y="39888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borde bottom"/>
          <p:cNvSpPr/>
          <p:nvPr/>
        </p:nvSpPr>
        <p:spPr>
          <a:xfrm>
            <a:off x="3149600" y="42513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marco"/>
          <p:cNvSpPr/>
          <p:nvPr/>
        </p:nvSpPr>
        <p:spPr>
          <a:xfrm>
            <a:off x="4310724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borde bottom"/>
          <p:cNvSpPr/>
          <p:nvPr/>
        </p:nvSpPr>
        <p:spPr>
          <a:xfrm>
            <a:off x="4310724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marco"/>
          <p:cNvSpPr/>
          <p:nvPr/>
        </p:nvSpPr>
        <p:spPr>
          <a:xfrm>
            <a:off x="5712090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borde bottom"/>
          <p:cNvSpPr/>
          <p:nvPr/>
        </p:nvSpPr>
        <p:spPr>
          <a:xfrm>
            <a:off x="5712090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marco"/>
          <p:cNvSpPr/>
          <p:nvPr/>
        </p:nvSpPr>
        <p:spPr>
          <a:xfrm>
            <a:off x="7113455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borde bottom"/>
          <p:cNvSpPr/>
          <p:nvPr/>
        </p:nvSpPr>
        <p:spPr>
          <a:xfrm>
            <a:off x="7113455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marco"/>
          <p:cNvSpPr/>
          <p:nvPr/>
        </p:nvSpPr>
        <p:spPr>
          <a:xfrm>
            <a:off x="8514821" y="39888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borde bottom"/>
          <p:cNvSpPr/>
          <p:nvPr/>
        </p:nvSpPr>
        <p:spPr>
          <a:xfrm>
            <a:off x="8514821" y="42513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marco"/>
          <p:cNvSpPr/>
          <p:nvPr/>
        </p:nvSpPr>
        <p:spPr>
          <a:xfrm>
            <a:off x="9916186" y="39888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borde bottom"/>
          <p:cNvSpPr/>
          <p:nvPr/>
        </p:nvSpPr>
        <p:spPr>
          <a:xfrm>
            <a:off x="9916186" y="42513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marco"/>
          <p:cNvSpPr/>
          <p:nvPr/>
        </p:nvSpPr>
        <p:spPr>
          <a:xfrm>
            <a:off x="609600" y="4259792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borde bottom"/>
          <p:cNvSpPr/>
          <p:nvPr/>
        </p:nvSpPr>
        <p:spPr>
          <a:xfrm>
            <a:off x="609600" y="4522258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marco"/>
          <p:cNvSpPr/>
          <p:nvPr/>
        </p:nvSpPr>
        <p:spPr>
          <a:xfrm>
            <a:off x="3149600" y="4259792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borde bottom"/>
          <p:cNvSpPr/>
          <p:nvPr/>
        </p:nvSpPr>
        <p:spPr>
          <a:xfrm>
            <a:off x="3149600" y="4522258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marco"/>
          <p:cNvSpPr/>
          <p:nvPr/>
        </p:nvSpPr>
        <p:spPr>
          <a:xfrm>
            <a:off x="4310724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borde bottom"/>
          <p:cNvSpPr/>
          <p:nvPr/>
        </p:nvSpPr>
        <p:spPr>
          <a:xfrm>
            <a:off x="4310724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marco"/>
          <p:cNvSpPr/>
          <p:nvPr/>
        </p:nvSpPr>
        <p:spPr>
          <a:xfrm>
            <a:off x="5712090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borde bottom"/>
          <p:cNvSpPr/>
          <p:nvPr/>
        </p:nvSpPr>
        <p:spPr>
          <a:xfrm>
            <a:off x="5712090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marco"/>
          <p:cNvSpPr/>
          <p:nvPr/>
        </p:nvSpPr>
        <p:spPr>
          <a:xfrm>
            <a:off x="7113455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borde bottom"/>
          <p:cNvSpPr/>
          <p:nvPr/>
        </p:nvSpPr>
        <p:spPr>
          <a:xfrm>
            <a:off x="7113455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marco"/>
          <p:cNvSpPr/>
          <p:nvPr/>
        </p:nvSpPr>
        <p:spPr>
          <a:xfrm>
            <a:off x="8514821" y="4259792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borde bottom"/>
          <p:cNvSpPr/>
          <p:nvPr/>
        </p:nvSpPr>
        <p:spPr>
          <a:xfrm>
            <a:off x="8514821" y="4522258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marco"/>
          <p:cNvSpPr/>
          <p:nvPr/>
        </p:nvSpPr>
        <p:spPr>
          <a:xfrm>
            <a:off x="9916186" y="4259792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borde bottom"/>
          <p:cNvSpPr/>
          <p:nvPr/>
        </p:nvSpPr>
        <p:spPr>
          <a:xfrm>
            <a:off x="9916186" y="4522258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marco"/>
          <p:cNvSpPr/>
          <p:nvPr/>
        </p:nvSpPr>
        <p:spPr>
          <a:xfrm>
            <a:off x="609600" y="4530725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borde bottom"/>
          <p:cNvSpPr/>
          <p:nvPr/>
        </p:nvSpPr>
        <p:spPr>
          <a:xfrm>
            <a:off x="609600" y="4793192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marco"/>
          <p:cNvSpPr/>
          <p:nvPr/>
        </p:nvSpPr>
        <p:spPr>
          <a:xfrm>
            <a:off x="3149600" y="4530725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borde bottom"/>
          <p:cNvSpPr/>
          <p:nvPr/>
        </p:nvSpPr>
        <p:spPr>
          <a:xfrm>
            <a:off x="3149600" y="4793192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marco"/>
          <p:cNvSpPr/>
          <p:nvPr/>
        </p:nvSpPr>
        <p:spPr>
          <a:xfrm>
            <a:off x="4310724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borde bottom"/>
          <p:cNvSpPr/>
          <p:nvPr/>
        </p:nvSpPr>
        <p:spPr>
          <a:xfrm>
            <a:off x="4310724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marco"/>
          <p:cNvSpPr/>
          <p:nvPr/>
        </p:nvSpPr>
        <p:spPr>
          <a:xfrm>
            <a:off x="5712090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borde bottom"/>
          <p:cNvSpPr/>
          <p:nvPr/>
        </p:nvSpPr>
        <p:spPr>
          <a:xfrm>
            <a:off x="5712090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marco"/>
          <p:cNvSpPr/>
          <p:nvPr/>
        </p:nvSpPr>
        <p:spPr>
          <a:xfrm>
            <a:off x="7113455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borde bottom"/>
          <p:cNvSpPr/>
          <p:nvPr/>
        </p:nvSpPr>
        <p:spPr>
          <a:xfrm>
            <a:off x="7113455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marco"/>
          <p:cNvSpPr/>
          <p:nvPr/>
        </p:nvSpPr>
        <p:spPr>
          <a:xfrm>
            <a:off x="8514821" y="4530725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borde bottom"/>
          <p:cNvSpPr/>
          <p:nvPr/>
        </p:nvSpPr>
        <p:spPr>
          <a:xfrm>
            <a:off x="8514821" y="4793192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marco"/>
          <p:cNvSpPr/>
          <p:nvPr/>
        </p:nvSpPr>
        <p:spPr>
          <a:xfrm>
            <a:off x="9916186" y="4530725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borde bottom"/>
          <p:cNvSpPr/>
          <p:nvPr/>
        </p:nvSpPr>
        <p:spPr>
          <a:xfrm>
            <a:off x="9916186" y="4793192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marco"/>
          <p:cNvSpPr/>
          <p:nvPr/>
        </p:nvSpPr>
        <p:spPr>
          <a:xfrm>
            <a:off x="609600" y="4801658"/>
            <a:ext cx="254000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borde bottom"/>
          <p:cNvSpPr/>
          <p:nvPr/>
        </p:nvSpPr>
        <p:spPr>
          <a:xfrm>
            <a:off x="609600" y="5064125"/>
            <a:ext cx="25400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marco"/>
          <p:cNvSpPr/>
          <p:nvPr/>
        </p:nvSpPr>
        <p:spPr>
          <a:xfrm>
            <a:off x="3149600" y="4801658"/>
            <a:ext cx="116112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borde bottom"/>
          <p:cNvSpPr/>
          <p:nvPr/>
        </p:nvSpPr>
        <p:spPr>
          <a:xfrm>
            <a:off x="3149600" y="5064125"/>
            <a:ext cx="116112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marco"/>
          <p:cNvSpPr/>
          <p:nvPr/>
        </p:nvSpPr>
        <p:spPr>
          <a:xfrm>
            <a:off x="4310724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orde bottom"/>
          <p:cNvSpPr/>
          <p:nvPr/>
        </p:nvSpPr>
        <p:spPr>
          <a:xfrm>
            <a:off x="4310724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marco"/>
          <p:cNvSpPr/>
          <p:nvPr/>
        </p:nvSpPr>
        <p:spPr>
          <a:xfrm>
            <a:off x="5712090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orde bottom"/>
          <p:cNvSpPr/>
          <p:nvPr/>
        </p:nvSpPr>
        <p:spPr>
          <a:xfrm>
            <a:off x="5712090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marco"/>
          <p:cNvSpPr/>
          <p:nvPr/>
        </p:nvSpPr>
        <p:spPr>
          <a:xfrm>
            <a:off x="7113455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borde bottom"/>
          <p:cNvSpPr/>
          <p:nvPr/>
        </p:nvSpPr>
        <p:spPr>
          <a:xfrm>
            <a:off x="7113455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marco"/>
          <p:cNvSpPr/>
          <p:nvPr/>
        </p:nvSpPr>
        <p:spPr>
          <a:xfrm>
            <a:off x="8514821" y="4801658"/>
            <a:ext cx="1401366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orde bottom"/>
          <p:cNvSpPr/>
          <p:nvPr/>
        </p:nvSpPr>
        <p:spPr>
          <a:xfrm>
            <a:off x="8514821" y="5064125"/>
            <a:ext cx="1401366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marco"/>
          <p:cNvSpPr/>
          <p:nvPr/>
        </p:nvSpPr>
        <p:spPr>
          <a:xfrm>
            <a:off x="9916186" y="4801658"/>
            <a:ext cx="1666214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orde bottom"/>
          <p:cNvSpPr/>
          <p:nvPr/>
        </p:nvSpPr>
        <p:spPr>
          <a:xfrm>
            <a:off x="9916186" y="5064125"/>
            <a:ext cx="1666214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marco"/>
          <p:cNvSpPr/>
          <p:nvPr/>
        </p:nvSpPr>
        <p:spPr>
          <a:xfrm>
            <a:off x="609600" y="5072592"/>
            <a:ext cx="254000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orde top"/>
          <p:cNvSpPr/>
          <p:nvPr/>
        </p:nvSpPr>
        <p:spPr>
          <a:xfrm>
            <a:off x="609600" y="5072592"/>
            <a:ext cx="254000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marco"/>
          <p:cNvSpPr/>
          <p:nvPr/>
        </p:nvSpPr>
        <p:spPr>
          <a:xfrm>
            <a:off x="3149600" y="5072592"/>
            <a:ext cx="1161124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orde top"/>
          <p:cNvSpPr/>
          <p:nvPr/>
        </p:nvSpPr>
        <p:spPr>
          <a:xfrm>
            <a:off x="3149600" y="5072592"/>
            <a:ext cx="116112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marco"/>
          <p:cNvSpPr/>
          <p:nvPr/>
        </p:nvSpPr>
        <p:spPr>
          <a:xfrm>
            <a:off x="4310724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orde top"/>
          <p:cNvSpPr/>
          <p:nvPr/>
        </p:nvSpPr>
        <p:spPr>
          <a:xfrm>
            <a:off x="4310724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marco"/>
          <p:cNvSpPr/>
          <p:nvPr/>
        </p:nvSpPr>
        <p:spPr>
          <a:xfrm>
            <a:off x="5712090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orde top"/>
          <p:cNvSpPr/>
          <p:nvPr/>
        </p:nvSpPr>
        <p:spPr>
          <a:xfrm>
            <a:off x="5712090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marco"/>
          <p:cNvSpPr/>
          <p:nvPr/>
        </p:nvSpPr>
        <p:spPr>
          <a:xfrm>
            <a:off x="7113455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borde top"/>
          <p:cNvSpPr/>
          <p:nvPr/>
        </p:nvSpPr>
        <p:spPr>
          <a:xfrm>
            <a:off x="7113455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marco"/>
          <p:cNvSpPr/>
          <p:nvPr/>
        </p:nvSpPr>
        <p:spPr>
          <a:xfrm>
            <a:off x="8514821" y="5072592"/>
            <a:ext cx="1401366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borde top"/>
          <p:cNvSpPr/>
          <p:nvPr/>
        </p:nvSpPr>
        <p:spPr>
          <a:xfrm>
            <a:off x="8514821" y="5072592"/>
            <a:ext cx="1401366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marco"/>
          <p:cNvSpPr/>
          <p:nvPr/>
        </p:nvSpPr>
        <p:spPr>
          <a:xfrm>
            <a:off x="9916186" y="5072592"/>
            <a:ext cx="1666214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borde top"/>
          <p:cNvSpPr/>
          <p:nvPr/>
        </p:nvSpPr>
        <p:spPr>
          <a:xfrm>
            <a:off x="9916186" y="5072592"/>
            <a:ext cx="1666214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caja"/>
          <p:cNvSpPr/>
          <p:nvPr/>
        </p:nvSpPr>
        <p:spPr>
          <a:xfrm>
            <a:off x="609600" y="5542492"/>
            <a:ext cx="10972800" cy="455083"/>
          </a:xfrm>
          <a:prstGeom prst="roundRect">
            <a:avLst>
              <a:gd name="adj" fmla="val 74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Costos variables"/>
          <p:cNvSpPr txBox="1"/>
          <p:nvPr/>
        </p:nvSpPr>
        <p:spPr>
          <a:xfrm>
            <a:off x="609600" y="457120"/>
            <a:ext cx="256540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Costos variables</a:t>
            </a:r>
          </a:p>
        </p:txBody>
      </p:sp>
      <p:sp>
        <p:nvSpPr>
          <p:cNvPr id="189" name="EN DÓLARES · POR CATEGORÍA"/>
          <p:cNvSpPr txBox="1"/>
          <p:nvPr/>
        </p:nvSpPr>
        <p:spPr>
          <a:xfrm>
            <a:off x="609600" y="866330"/>
            <a:ext cx="25654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EN DÓLARES · POR CATEGORÍA</a:t>
            </a:r>
          </a:p>
        </p:txBody>
      </p:sp>
      <p:sp>
        <p:nvSpPr>
          <p:cNvPr id="19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9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92" name="CATEGORÍA"/>
          <p:cNvSpPr txBox="1"/>
          <p:nvPr/>
        </p:nvSpPr>
        <p:spPr>
          <a:xfrm>
            <a:off x="694267" y="1920955"/>
            <a:ext cx="238760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CATEGORÍA</a:t>
            </a:r>
          </a:p>
        </p:txBody>
      </p:sp>
      <p:sp>
        <p:nvSpPr>
          <p:cNvPr id="193" name="AÑO 1"/>
          <p:cNvSpPr txBox="1"/>
          <p:nvPr/>
        </p:nvSpPr>
        <p:spPr>
          <a:xfrm>
            <a:off x="3217333" y="1920955"/>
            <a:ext cx="100872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194" name="AÑO 2"/>
          <p:cNvSpPr txBox="1"/>
          <p:nvPr/>
        </p:nvSpPr>
        <p:spPr>
          <a:xfrm>
            <a:off x="4378457" y="1920955"/>
            <a:ext cx="124896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195" name="AÑO 3"/>
          <p:cNvSpPr txBox="1"/>
          <p:nvPr/>
        </p:nvSpPr>
        <p:spPr>
          <a:xfrm>
            <a:off x="5779823" y="1920955"/>
            <a:ext cx="124896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196" name="AÑO 4"/>
          <p:cNvSpPr txBox="1"/>
          <p:nvPr/>
        </p:nvSpPr>
        <p:spPr>
          <a:xfrm>
            <a:off x="7181189" y="1920955"/>
            <a:ext cx="124896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197" name="AÑO 5"/>
          <p:cNvSpPr txBox="1"/>
          <p:nvPr/>
        </p:nvSpPr>
        <p:spPr>
          <a:xfrm>
            <a:off x="8582554" y="1920955"/>
            <a:ext cx="1248966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198" name="TOTAL 5 AÑOS"/>
          <p:cNvSpPr txBox="1"/>
          <p:nvPr/>
        </p:nvSpPr>
        <p:spPr>
          <a:xfrm>
            <a:off x="9983920" y="1920955"/>
            <a:ext cx="1513814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TOTAL 5 AÑOS</a:t>
            </a:r>
          </a:p>
        </p:txBody>
      </p:sp>
      <p:sp>
        <p:nvSpPr>
          <p:cNvPr id="199" name="Pago a los trabajadores · 80% del ti"/>
          <p:cNvSpPr txBox="1"/>
          <p:nvPr/>
        </p:nvSpPr>
        <p:spPr>
          <a:xfrm>
            <a:off x="694267" y="2155463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Pago a los trabajadores </a:t>
            </a:r>
            <a:r>
              <a:rPr b="0" i="0" sz="869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· 80% del ticket</a:t>
            </a:r>
          </a:p>
        </p:txBody>
      </p:sp>
      <p:sp>
        <p:nvSpPr>
          <p:cNvPr id="200" name="554.921"/>
          <p:cNvSpPr txBox="1"/>
          <p:nvPr/>
        </p:nvSpPr>
        <p:spPr>
          <a:xfrm>
            <a:off x="3217333" y="2156455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554.921</a:t>
            </a:r>
          </a:p>
        </p:txBody>
      </p:sp>
      <p:sp>
        <p:nvSpPr>
          <p:cNvPr id="201" name="930.597"/>
          <p:cNvSpPr txBox="1"/>
          <p:nvPr/>
        </p:nvSpPr>
        <p:spPr>
          <a:xfrm>
            <a:off x="4378457" y="21564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930.597</a:t>
            </a:r>
          </a:p>
        </p:txBody>
      </p:sp>
      <p:sp>
        <p:nvSpPr>
          <p:cNvPr id="202" name="2.326.216"/>
          <p:cNvSpPr txBox="1"/>
          <p:nvPr/>
        </p:nvSpPr>
        <p:spPr>
          <a:xfrm>
            <a:off x="5779823" y="21564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2.326.216</a:t>
            </a:r>
          </a:p>
        </p:txBody>
      </p:sp>
      <p:sp>
        <p:nvSpPr>
          <p:cNvPr id="203" name="2.791.459"/>
          <p:cNvSpPr txBox="1"/>
          <p:nvPr/>
        </p:nvSpPr>
        <p:spPr>
          <a:xfrm>
            <a:off x="7181189" y="21564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2.791.459</a:t>
            </a:r>
          </a:p>
        </p:txBody>
      </p:sp>
      <p:sp>
        <p:nvSpPr>
          <p:cNvPr id="204" name="3.210.178"/>
          <p:cNvSpPr txBox="1"/>
          <p:nvPr/>
        </p:nvSpPr>
        <p:spPr>
          <a:xfrm>
            <a:off x="8582554" y="21564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3.210.178</a:t>
            </a:r>
          </a:p>
        </p:txBody>
      </p:sp>
      <p:sp>
        <p:nvSpPr>
          <p:cNvPr id="205" name="9.813.371"/>
          <p:cNvSpPr txBox="1"/>
          <p:nvPr/>
        </p:nvSpPr>
        <p:spPr>
          <a:xfrm>
            <a:off x="9983920" y="2156455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9.813.371</a:t>
            </a:r>
          </a:p>
        </p:txBody>
      </p:sp>
      <p:sp>
        <p:nvSpPr>
          <p:cNvPr id="206" name="Comisión de pasarela de pago"/>
          <p:cNvSpPr txBox="1"/>
          <p:nvPr/>
        </p:nvSpPr>
        <p:spPr>
          <a:xfrm>
            <a:off x="694267" y="2426397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Comisión de pasarela de pago</a:t>
            </a:r>
          </a:p>
        </p:txBody>
      </p:sp>
      <p:sp>
        <p:nvSpPr>
          <p:cNvPr id="207" name="36.833"/>
          <p:cNvSpPr txBox="1"/>
          <p:nvPr/>
        </p:nvSpPr>
        <p:spPr>
          <a:xfrm>
            <a:off x="3217333" y="2427388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36.833</a:t>
            </a:r>
          </a:p>
        </p:txBody>
      </p:sp>
      <p:sp>
        <p:nvSpPr>
          <p:cNvPr id="208" name="61.768"/>
          <p:cNvSpPr txBox="1"/>
          <p:nvPr/>
        </p:nvSpPr>
        <p:spPr>
          <a:xfrm>
            <a:off x="4378457" y="24273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61.768</a:t>
            </a:r>
          </a:p>
        </p:txBody>
      </p:sp>
      <p:sp>
        <p:nvSpPr>
          <p:cNvPr id="209" name="154.403"/>
          <p:cNvSpPr txBox="1"/>
          <p:nvPr/>
        </p:nvSpPr>
        <p:spPr>
          <a:xfrm>
            <a:off x="5779823" y="24273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154.403</a:t>
            </a:r>
          </a:p>
        </p:txBody>
      </p:sp>
      <p:sp>
        <p:nvSpPr>
          <p:cNvPr id="210" name="185.283"/>
          <p:cNvSpPr txBox="1"/>
          <p:nvPr/>
        </p:nvSpPr>
        <p:spPr>
          <a:xfrm>
            <a:off x="7181189" y="24273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185.283</a:t>
            </a:r>
          </a:p>
        </p:txBody>
      </p:sp>
      <p:sp>
        <p:nvSpPr>
          <p:cNvPr id="211" name="213.076"/>
          <p:cNvSpPr txBox="1"/>
          <p:nvPr/>
        </p:nvSpPr>
        <p:spPr>
          <a:xfrm>
            <a:off x="8582554" y="24273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213.076</a:t>
            </a:r>
          </a:p>
        </p:txBody>
      </p:sp>
      <p:sp>
        <p:nvSpPr>
          <p:cNvPr id="212" name="651.363"/>
          <p:cNvSpPr txBox="1"/>
          <p:nvPr/>
        </p:nvSpPr>
        <p:spPr>
          <a:xfrm>
            <a:off x="9983920" y="2427388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651.363</a:t>
            </a:r>
          </a:p>
        </p:txBody>
      </p:sp>
      <p:sp>
        <p:nvSpPr>
          <p:cNvPr id="213" name="Plan de seguro"/>
          <p:cNvSpPr txBox="1"/>
          <p:nvPr/>
        </p:nvSpPr>
        <p:spPr>
          <a:xfrm>
            <a:off x="694267" y="2697330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Plan de seguro</a:t>
            </a:r>
          </a:p>
        </p:txBody>
      </p:sp>
      <p:sp>
        <p:nvSpPr>
          <p:cNvPr id="214" name="7.777"/>
          <p:cNvSpPr txBox="1"/>
          <p:nvPr/>
        </p:nvSpPr>
        <p:spPr>
          <a:xfrm>
            <a:off x="3217333" y="2698321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7.777</a:t>
            </a:r>
          </a:p>
        </p:txBody>
      </p:sp>
      <p:sp>
        <p:nvSpPr>
          <p:cNvPr id="215" name="13.042"/>
          <p:cNvSpPr txBox="1"/>
          <p:nvPr/>
        </p:nvSpPr>
        <p:spPr>
          <a:xfrm>
            <a:off x="4378457" y="26983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13.042</a:t>
            </a:r>
          </a:p>
        </p:txBody>
      </p:sp>
      <p:sp>
        <p:nvSpPr>
          <p:cNvPr id="216" name="32.600"/>
          <p:cNvSpPr txBox="1"/>
          <p:nvPr/>
        </p:nvSpPr>
        <p:spPr>
          <a:xfrm>
            <a:off x="5779823" y="26983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32.600</a:t>
            </a:r>
          </a:p>
        </p:txBody>
      </p:sp>
      <p:sp>
        <p:nvSpPr>
          <p:cNvPr id="217" name="39.120"/>
          <p:cNvSpPr txBox="1"/>
          <p:nvPr/>
        </p:nvSpPr>
        <p:spPr>
          <a:xfrm>
            <a:off x="7181189" y="26983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39.120</a:t>
            </a:r>
          </a:p>
        </p:txBody>
      </p:sp>
      <p:sp>
        <p:nvSpPr>
          <p:cNvPr id="218" name="44.988"/>
          <p:cNvSpPr txBox="1"/>
          <p:nvPr/>
        </p:nvSpPr>
        <p:spPr>
          <a:xfrm>
            <a:off x="8582554" y="26983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44.988</a:t>
            </a:r>
          </a:p>
        </p:txBody>
      </p:sp>
      <p:sp>
        <p:nvSpPr>
          <p:cNvPr id="219" name="137.526"/>
          <p:cNvSpPr txBox="1"/>
          <p:nvPr/>
        </p:nvSpPr>
        <p:spPr>
          <a:xfrm>
            <a:off x="9983920" y="2698321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137.526</a:t>
            </a:r>
          </a:p>
        </p:txBody>
      </p:sp>
      <p:sp>
        <p:nvSpPr>
          <p:cNvPr id="220" name="Reembolsos / devoluciones"/>
          <p:cNvSpPr txBox="1"/>
          <p:nvPr/>
        </p:nvSpPr>
        <p:spPr>
          <a:xfrm>
            <a:off x="694267" y="2968263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Reembolsos / devoluciones</a:t>
            </a:r>
          </a:p>
        </p:txBody>
      </p:sp>
      <p:sp>
        <p:nvSpPr>
          <p:cNvPr id="221" name="5.522"/>
          <p:cNvSpPr txBox="1"/>
          <p:nvPr/>
        </p:nvSpPr>
        <p:spPr>
          <a:xfrm>
            <a:off x="3217333" y="2969255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5.522</a:t>
            </a:r>
          </a:p>
        </p:txBody>
      </p:sp>
      <p:sp>
        <p:nvSpPr>
          <p:cNvPr id="222" name="9.260"/>
          <p:cNvSpPr txBox="1"/>
          <p:nvPr/>
        </p:nvSpPr>
        <p:spPr>
          <a:xfrm>
            <a:off x="4378457" y="29692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9.260</a:t>
            </a:r>
          </a:p>
        </p:txBody>
      </p:sp>
      <p:sp>
        <p:nvSpPr>
          <p:cNvPr id="223" name="23.146"/>
          <p:cNvSpPr txBox="1"/>
          <p:nvPr/>
        </p:nvSpPr>
        <p:spPr>
          <a:xfrm>
            <a:off x="5779823" y="29692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23.146</a:t>
            </a:r>
          </a:p>
        </p:txBody>
      </p:sp>
      <p:sp>
        <p:nvSpPr>
          <p:cNvPr id="224" name="27.775"/>
          <p:cNvSpPr txBox="1"/>
          <p:nvPr/>
        </p:nvSpPr>
        <p:spPr>
          <a:xfrm>
            <a:off x="7181189" y="29692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27.775</a:t>
            </a:r>
          </a:p>
        </p:txBody>
      </p:sp>
      <p:sp>
        <p:nvSpPr>
          <p:cNvPr id="225" name="31.941"/>
          <p:cNvSpPr txBox="1"/>
          <p:nvPr/>
        </p:nvSpPr>
        <p:spPr>
          <a:xfrm>
            <a:off x="8582554" y="29692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31.941</a:t>
            </a:r>
          </a:p>
        </p:txBody>
      </p:sp>
      <p:sp>
        <p:nvSpPr>
          <p:cNvPr id="226" name="97.644"/>
          <p:cNvSpPr txBox="1"/>
          <p:nvPr/>
        </p:nvSpPr>
        <p:spPr>
          <a:xfrm>
            <a:off x="9983920" y="2969255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97.644</a:t>
            </a:r>
          </a:p>
        </p:txBody>
      </p:sp>
      <p:sp>
        <p:nvSpPr>
          <p:cNvPr id="227" name="Impuestos transaccionales"/>
          <p:cNvSpPr txBox="1"/>
          <p:nvPr/>
        </p:nvSpPr>
        <p:spPr>
          <a:xfrm>
            <a:off x="694267" y="3239197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Impuestos transaccionales</a:t>
            </a:r>
          </a:p>
        </p:txBody>
      </p:sp>
      <p:sp>
        <p:nvSpPr>
          <p:cNvPr id="228" name="3.888"/>
          <p:cNvSpPr txBox="1"/>
          <p:nvPr/>
        </p:nvSpPr>
        <p:spPr>
          <a:xfrm>
            <a:off x="3217333" y="3240188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3.888</a:t>
            </a:r>
          </a:p>
        </p:txBody>
      </p:sp>
      <p:sp>
        <p:nvSpPr>
          <p:cNvPr id="229" name="6.521"/>
          <p:cNvSpPr txBox="1"/>
          <p:nvPr/>
        </p:nvSpPr>
        <p:spPr>
          <a:xfrm>
            <a:off x="4378457" y="32401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6.521</a:t>
            </a:r>
          </a:p>
        </p:txBody>
      </p:sp>
      <p:sp>
        <p:nvSpPr>
          <p:cNvPr id="230" name="16.300"/>
          <p:cNvSpPr txBox="1"/>
          <p:nvPr/>
        </p:nvSpPr>
        <p:spPr>
          <a:xfrm>
            <a:off x="5779823" y="32401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16.300</a:t>
            </a:r>
          </a:p>
        </p:txBody>
      </p:sp>
      <p:sp>
        <p:nvSpPr>
          <p:cNvPr id="231" name="19.560"/>
          <p:cNvSpPr txBox="1"/>
          <p:nvPr/>
        </p:nvSpPr>
        <p:spPr>
          <a:xfrm>
            <a:off x="7181189" y="32401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19.560</a:t>
            </a:r>
          </a:p>
        </p:txBody>
      </p:sp>
      <p:sp>
        <p:nvSpPr>
          <p:cNvPr id="232" name="22.494"/>
          <p:cNvSpPr txBox="1"/>
          <p:nvPr/>
        </p:nvSpPr>
        <p:spPr>
          <a:xfrm>
            <a:off x="8582554" y="32401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22.494</a:t>
            </a:r>
          </a:p>
        </p:txBody>
      </p:sp>
      <p:sp>
        <p:nvSpPr>
          <p:cNvPr id="233" name="68.763"/>
          <p:cNvSpPr txBox="1"/>
          <p:nvPr/>
        </p:nvSpPr>
        <p:spPr>
          <a:xfrm>
            <a:off x="9983920" y="3240188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68.763</a:t>
            </a:r>
          </a:p>
        </p:txBody>
      </p:sp>
      <p:sp>
        <p:nvSpPr>
          <p:cNvPr id="234" name="Antifraude / scoring"/>
          <p:cNvSpPr txBox="1"/>
          <p:nvPr/>
        </p:nvSpPr>
        <p:spPr>
          <a:xfrm>
            <a:off x="694267" y="3510130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Antifraude / scoring</a:t>
            </a:r>
          </a:p>
        </p:txBody>
      </p:sp>
      <p:sp>
        <p:nvSpPr>
          <p:cNvPr id="235" name="389"/>
          <p:cNvSpPr txBox="1"/>
          <p:nvPr/>
        </p:nvSpPr>
        <p:spPr>
          <a:xfrm>
            <a:off x="3217333" y="3511121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389</a:t>
            </a:r>
          </a:p>
        </p:txBody>
      </p:sp>
      <p:sp>
        <p:nvSpPr>
          <p:cNvPr id="236" name="652"/>
          <p:cNvSpPr txBox="1"/>
          <p:nvPr/>
        </p:nvSpPr>
        <p:spPr>
          <a:xfrm>
            <a:off x="4378457" y="35111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652</a:t>
            </a:r>
          </a:p>
        </p:txBody>
      </p:sp>
      <p:sp>
        <p:nvSpPr>
          <p:cNvPr id="237" name="1.630"/>
          <p:cNvSpPr txBox="1"/>
          <p:nvPr/>
        </p:nvSpPr>
        <p:spPr>
          <a:xfrm>
            <a:off x="5779823" y="35111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1.630</a:t>
            </a:r>
          </a:p>
        </p:txBody>
      </p:sp>
      <p:sp>
        <p:nvSpPr>
          <p:cNvPr id="238" name="1.956"/>
          <p:cNvSpPr txBox="1"/>
          <p:nvPr/>
        </p:nvSpPr>
        <p:spPr>
          <a:xfrm>
            <a:off x="7181189" y="35111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1.956</a:t>
            </a:r>
          </a:p>
        </p:txBody>
      </p:sp>
      <p:sp>
        <p:nvSpPr>
          <p:cNvPr id="239" name="2.249"/>
          <p:cNvSpPr txBox="1"/>
          <p:nvPr/>
        </p:nvSpPr>
        <p:spPr>
          <a:xfrm>
            <a:off x="8582554" y="35111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2.249</a:t>
            </a:r>
          </a:p>
        </p:txBody>
      </p:sp>
      <p:sp>
        <p:nvSpPr>
          <p:cNvPr id="240" name="6.876"/>
          <p:cNvSpPr txBox="1"/>
          <p:nvPr/>
        </p:nvSpPr>
        <p:spPr>
          <a:xfrm>
            <a:off x="9983920" y="3511121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6.876</a:t>
            </a:r>
          </a:p>
        </p:txBody>
      </p:sp>
      <p:sp>
        <p:nvSpPr>
          <p:cNvPr id="241" name="Validación de identidad del trabajad"/>
          <p:cNvSpPr txBox="1"/>
          <p:nvPr/>
        </p:nvSpPr>
        <p:spPr>
          <a:xfrm>
            <a:off x="694267" y="3781063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Validación de identidad del trabajador</a:t>
            </a:r>
          </a:p>
        </p:txBody>
      </p:sp>
      <p:sp>
        <p:nvSpPr>
          <p:cNvPr id="242" name="156"/>
          <p:cNvSpPr txBox="1"/>
          <p:nvPr/>
        </p:nvSpPr>
        <p:spPr>
          <a:xfrm>
            <a:off x="3217333" y="3782055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156</a:t>
            </a:r>
          </a:p>
        </p:txBody>
      </p:sp>
      <p:sp>
        <p:nvSpPr>
          <p:cNvPr id="243" name="261"/>
          <p:cNvSpPr txBox="1"/>
          <p:nvPr/>
        </p:nvSpPr>
        <p:spPr>
          <a:xfrm>
            <a:off x="4378457" y="37820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261</a:t>
            </a:r>
          </a:p>
        </p:txBody>
      </p:sp>
      <p:sp>
        <p:nvSpPr>
          <p:cNvPr id="244" name="652"/>
          <p:cNvSpPr txBox="1"/>
          <p:nvPr/>
        </p:nvSpPr>
        <p:spPr>
          <a:xfrm>
            <a:off x="5779823" y="37820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652</a:t>
            </a:r>
          </a:p>
        </p:txBody>
      </p:sp>
      <p:sp>
        <p:nvSpPr>
          <p:cNvPr id="245" name="782"/>
          <p:cNvSpPr txBox="1"/>
          <p:nvPr/>
        </p:nvSpPr>
        <p:spPr>
          <a:xfrm>
            <a:off x="7181189" y="37820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782</a:t>
            </a:r>
          </a:p>
        </p:txBody>
      </p:sp>
      <p:sp>
        <p:nvSpPr>
          <p:cNvPr id="246" name="900"/>
          <p:cNvSpPr txBox="1"/>
          <p:nvPr/>
        </p:nvSpPr>
        <p:spPr>
          <a:xfrm>
            <a:off x="8582554" y="37820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900</a:t>
            </a:r>
          </a:p>
        </p:txBody>
      </p:sp>
      <p:sp>
        <p:nvSpPr>
          <p:cNvPr id="247" name="2.751"/>
          <p:cNvSpPr txBox="1"/>
          <p:nvPr/>
        </p:nvSpPr>
        <p:spPr>
          <a:xfrm>
            <a:off x="9983920" y="3782055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2.751</a:t>
            </a:r>
          </a:p>
        </p:txBody>
      </p:sp>
      <p:sp>
        <p:nvSpPr>
          <p:cNvPr id="248" name="Soporte operativo por transacción"/>
          <p:cNvSpPr txBox="1"/>
          <p:nvPr/>
        </p:nvSpPr>
        <p:spPr>
          <a:xfrm>
            <a:off x="694267" y="4051997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Soporte operativo por transacción</a:t>
            </a:r>
          </a:p>
        </p:txBody>
      </p:sp>
      <p:sp>
        <p:nvSpPr>
          <p:cNvPr id="249" name="156"/>
          <p:cNvSpPr txBox="1"/>
          <p:nvPr/>
        </p:nvSpPr>
        <p:spPr>
          <a:xfrm>
            <a:off x="3217333" y="4052988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156</a:t>
            </a:r>
          </a:p>
        </p:txBody>
      </p:sp>
      <p:sp>
        <p:nvSpPr>
          <p:cNvPr id="250" name="261"/>
          <p:cNvSpPr txBox="1"/>
          <p:nvPr/>
        </p:nvSpPr>
        <p:spPr>
          <a:xfrm>
            <a:off x="4378457" y="40529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261</a:t>
            </a:r>
          </a:p>
        </p:txBody>
      </p:sp>
      <p:sp>
        <p:nvSpPr>
          <p:cNvPr id="251" name="652"/>
          <p:cNvSpPr txBox="1"/>
          <p:nvPr/>
        </p:nvSpPr>
        <p:spPr>
          <a:xfrm>
            <a:off x="5779823" y="40529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652</a:t>
            </a:r>
          </a:p>
        </p:txBody>
      </p:sp>
      <p:sp>
        <p:nvSpPr>
          <p:cNvPr id="252" name="782"/>
          <p:cNvSpPr txBox="1"/>
          <p:nvPr/>
        </p:nvSpPr>
        <p:spPr>
          <a:xfrm>
            <a:off x="7181189" y="40529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782</a:t>
            </a:r>
          </a:p>
        </p:txBody>
      </p:sp>
      <p:sp>
        <p:nvSpPr>
          <p:cNvPr id="253" name="900"/>
          <p:cNvSpPr txBox="1"/>
          <p:nvPr/>
        </p:nvSpPr>
        <p:spPr>
          <a:xfrm>
            <a:off x="8582554" y="40529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900</a:t>
            </a:r>
          </a:p>
        </p:txBody>
      </p:sp>
      <p:sp>
        <p:nvSpPr>
          <p:cNvPr id="254" name="2.751"/>
          <p:cNvSpPr txBox="1"/>
          <p:nvPr/>
        </p:nvSpPr>
        <p:spPr>
          <a:xfrm>
            <a:off x="9983920" y="4052988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2.751</a:t>
            </a:r>
          </a:p>
        </p:txBody>
      </p:sp>
      <p:sp>
        <p:nvSpPr>
          <p:cNvPr id="255" name="Costos tecnológicos escalables"/>
          <p:cNvSpPr txBox="1"/>
          <p:nvPr/>
        </p:nvSpPr>
        <p:spPr>
          <a:xfrm>
            <a:off x="694267" y="4322930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Costos tecnológicos escalables</a:t>
            </a:r>
          </a:p>
        </p:txBody>
      </p:sp>
      <p:sp>
        <p:nvSpPr>
          <p:cNvPr id="256" name="156"/>
          <p:cNvSpPr txBox="1"/>
          <p:nvPr/>
        </p:nvSpPr>
        <p:spPr>
          <a:xfrm>
            <a:off x="3217333" y="4323921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156</a:t>
            </a:r>
          </a:p>
        </p:txBody>
      </p:sp>
      <p:sp>
        <p:nvSpPr>
          <p:cNvPr id="257" name="261"/>
          <p:cNvSpPr txBox="1"/>
          <p:nvPr/>
        </p:nvSpPr>
        <p:spPr>
          <a:xfrm>
            <a:off x="4378457" y="43239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261</a:t>
            </a:r>
          </a:p>
        </p:txBody>
      </p:sp>
      <p:sp>
        <p:nvSpPr>
          <p:cNvPr id="258" name="652"/>
          <p:cNvSpPr txBox="1"/>
          <p:nvPr/>
        </p:nvSpPr>
        <p:spPr>
          <a:xfrm>
            <a:off x="5779823" y="43239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652</a:t>
            </a:r>
          </a:p>
        </p:txBody>
      </p:sp>
      <p:sp>
        <p:nvSpPr>
          <p:cNvPr id="259" name="782"/>
          <p:cNvSpPr txBox="1"/>
          <p:nvPr/>
        </p:nvSpPr>
        <p:spPr>
          <a:xfrm>
            <a:off x="7181189" y="43239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782</a:t>
            </a:r>
          </a:p>
        </p:txBody>
      </p:sp>
      <p:sp>
        <p:nvSpPr>
          <p:cNvPr id="260" name="900"/>
          <p:cNvSpPr txBox="1"/>
          <p:nvPr/>
        </p:nvSpPr>
        <p:spPr>
          <a:xfrm>
            <a:off x="8582554" y="4323921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900</a:t>
            </a:r>
          </a:p>
        </p:txBody>
      </p:sp>
      <p:sp>
        <p:nvSpPr>
          <p:cNvPr id="261" name="2.751"/>
          <p:cNvSpPr txBox="1"/>
          <p:nvPr/>
        </p:nvSpPr>
        <p:spPr>
          <a:xfrm>
            <a:off x="9983920" y="4323921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2.751</a:t>
            </a:r>
          </a:p>
        </p:txBody>
      </p:sp>
      <p:sp>
        <p:nvSpPr>
          <p:cNvPr id="262" name="Validación de identidad del usuario "/>
          <p:cNvSpPr txBox="1"/>
          <p:nvPr/>
        </p:nvSpPr>
        <p:spPr>
          <a:xfrm>
            <a:off x="694267" y="4593863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Validación de identidad del usuario cliente</a:t>
            </a:r>
          </a:p>
        </p:txBody>
      </p:sp>
      <p:sp>
        <p:nvSpPr>
          <p:cNvPr id="263" name="78"/>
          <p:cNvSpPr txBox="1"/>
          <p:nvPr/>
        </p:nvSpPr>
        <p:spPr>
          <a:xfrm>
            <a:off x="3217333" y="4594855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78</a:t>
            </a:r>
          </a:p>
        </p:txBody>
      </p:sp>
      <p:sp>
        <p:nvSpPr>
          <p:cNvPr id="264" name="130"/>
          <p:cNvSpPr txBox="1"/>
          <p:nvPr/>
        </p:nvSpPr>
        <p:spPr>
          <a:xfrm>
            <a:off x="4378457" y="45948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130</a:t>
            </a:r>
          </a:p>
        </p:txBody>
      </p:sp>
      <p:sp>
        <p:nvSpPr>
          <p:cNvPr id="265" name="326"/>
          <p:cNvSpPr txBox="1"/>
          <p:nvPr/>
        </p:nvSpPr>
        <p:spPr>
          <a:xfrm>
            <a:off x="5779823" y="45948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326</a:t>
            </a:r>
          </a:p>
        </p:txBody>
      </p:sp>
      <p:sp>
        <p:nvSpPr>
          <p:cNvPr id="266" name="391"/>
          <p:cNvSpPr txBox="1"/>
          <p:nvPr/>
        </p:nvSpPr>
        <p:spPr>
          <a:xfrm>
            <a:off x="7181189" y="45948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391</a:t>
            </a:r>
          </a:p>
        </p:txBody>
      </p:sp>
      <p:sp>
        <p:nvSpPr>
          <p:cNvPr id="267" name="450"/>
          <p:cNvSpPr txBox="1"/>
          <p:nvPr/>
        </p:nvSpPr>
        <p:spPr>
          <a:xfrm>
            <a:off x="8582554" y="4594855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450</a:t>
            </a:r>
          </a:p>
        </p:txBody>
      </p:sp>
      <p:sp>
        <p:nvSpPr>
          <p:cNvPr id="268" name="1.375"/>
          <p:cNvSpPr txBox="1"/>
          <p:nvPr/>
        </p:nvSpPr>
        <p:spPr>
          <a:xfrm>
            <a:off x="9983920" y="4594855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1.375</a:t>
            </a:r>
          </a:p>
        </p:txBody>
      </p:sp>
      <p:sp>
        <p:nvSpPr>
          <p:cNvPr id="269" name="Mensajería interna y notificaciones"/>
          <p:cNvSpPr txBox="1"/>
          <p:nvPr/>
        </p:nvSpPr>
        <p:spPr>
          <a:xfrm>
            <a:off x="694267" y="4864797"/>
            <a:ext cx="2387600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Mensajería interna y notificaciones</a:t>
            </a:r>
          </a:p>
        </p:txBody>
      </p:sp>
      <p:sp>
        <p:nvSpPr>
          <p:cNvPr id="270" name="0"/>
          <p:cNvSpPr txBox="1"/>
          <p:nvPr/>
        </p:nvSpPr>
        <p:spPr>
          <a:xfrm>
            <a:off x="3217333" y="4865788"/>
            <a:ext cx="100872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1" name="0"/>
          <p:cNvSpPr txBox="1"/>
          <p:nvPr/>
        </p:nvSpPr>
        <p:spPr>
          <a:xfrm>
            <a:off x="4378457" y="48657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2" name="0"/>
          <p:cNvSpPr txBox="1"/>
          <p:nvPr/>
        </p:nvSpPr>
        <p:spPr>
          <a:xfrm>
            <a:off x="5779823" y="48657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3" name="0"/>
          <p:cNvSpPr txBox="1"/>
          <p:nvPr/>
        </p:nvSpPr>
        <p:spPr>
          <a:xfrm>
            <a:off x="7181189" y="48657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4" name="0"/>
          <p:cNvSpPr txBox="1"/>
          <p:nvPr/>
        </p:nvSpPr>
        <p:spPr>
          <a:xfrm>
            <a:off x="8582554" y="4865788"/>
            <a:ext cx="1248966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5" name="0"/>
          <p:cNvSpPr txBox="1"/>
          <p:nvPr/>
        </p:nvSpPr>
        <p:spPr>
          <a:xfrm>
            <a:off x="9983920" y="4865788"/>
            <a:ext cx="1513814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0</a:t>
            </a:r>
          </a:p>
        </p:txBody>
      </p:sp>
      <p:sp>
        <p:nvSpPr>
          <p:cNvPr id="276" name="Total costos variables"/>
          <p:cNvSpPr txBox="1"/>
          <p:nvPr/>
        </p:nvSpPr>
        <p:spPr>
          <a:xfrm>
            <a:off x="694267" y="5144197"/>
            <a:ext cx="2387600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Total costos variables</a:t>
            </a:r>
          </a:p>
        </p:txBody>
      </p:sp>
      <p:sp>
        <p:nvSpPr>
          <p:cNvPr id="277" name="609.874"/>
          <p:cNvSpPr txBox="1"/>
          <p:nvPr/>
        </p:nvSpPr>
        <p:spPr>
          <a:xfrm>
            <a:off x="3217333" y="5145188"/>
            <a:ext cx="1008724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609.874</a:t>
            </a:r>
          </a:p>
        </p:txBody>
      </p:sp>
      <p:sp>
        <p:nvSpPr>
          <p:cNvPr id="278" name="1.022.752"/>
          <p:cNvSpPr txBox="1"/>
          <p:nvPr/>
        </p:nvSpPr>
        <p:spPr>
          <a:xfrm>
            <a:off x="4378457" y="5145188"/>
            <a:ext cx="124896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1.022.752</a:t>
            </a:r>
          </a:p>
        </p:txBody>
      </p:sp>
      <p:sp>
        <p:nvSpPr>
          <p:cNvPr id="279" name="2.556.577"/>
          <p:cNvSpPr txBox="1"/>
          <p:nvPr/>
        </p:nvSpPr>
        <p:spPr>
          <a:xfrm>
            <a:off x="5779823" y="5145188"/>
            <a:ext cx="124896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2.556.577</a:t>
            </a:r>
          </a:p>
        </p:txBody>
      </p:sp>
      <p:sp>
        <p:nvSpPr>
          <p:cNvPr id="280" name="3.067.892"/>
          <p:cNvSpPr txBox="1"/>
          <p:nvPr/>
        </p:nvSpPr>
        <p:spPr>
          <a:xfrm>
            <a:off x="7181189" y="5145188"/>
            <a:ext cx="124896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3.067.892</a:t>
            </a:r>
          </a:p>
        </p:txBody>
      </p:sp>
      <p:sp>
        <p:nvSpPr>
          <p:cNvPr id="281" name="3.528.076"/>
          <p:cNvSpPr txBox="1"/>
          <p:nvPr/>
        </p:nvSpPr>
        <p:spPr>
          <a:xfrm>
            <a:off x="8582554" y="5145188"/>
            <a:ext cx="1248966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3.528.076</a:t>
            </a:r>
          </a:p>
        </p:txBody>
      </p:sp>
      <p:sp>
        <p:nvSpPr>
          <p:cNvPr id="282" name="10.785.170"/>
          <p:cNvSpPr txBox="1"/>
          <p:nvPr/>
        </p:nvSpPr>
        <p:spPr>
          <a:xfrm>
            <a:off x="9983920" y="5145188"/>
            <a:ext cx="1513814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10.785.170</a:t>
            </a:r>
          </a:p>
        </p:txBody>
      </p:sp>
      <p:sp>
        <p:nvSpPr>
          <p:cNvPr id="283" name="Sin el pago al trabajador, los costo"/>
          <p:cNvSpPr txBox="1"/>
          <p:nvPr/>
        </p:nvSpPr>
        <p:spPr>
          <a:xfrm>
            <a:off x="812800" y="5674203"/>
            <a:ext cx="10583333" cy="2057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Sin el pago al trabajador, los costos variables del Año 1 son </a:t>
            </a:r>
            <a:r>
              <a:rPr b="0" i="0" sz="10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USD 54.953</a:t>
            </a: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— el 39,6% de la comisión bruta. La pasarela de pago sola se lleva dos tercios de eso.</a:t>
            </a:r>
          </a:p>
        </p:txBody>
      </p:sp>
      <p:sp>
        <p:nvSpPr>
          <p:cNvPr id="284" name="5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353072"/>
            <a:ext cx="211666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2577439"/>
            <a:ext cx="21166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2726267" y="2353072"/>
            <a:ext cx="1236530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2726267" y="2577439"/>
            <a:ext cx="123653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3962797" y="2353072"/>
            <a:ext cx="3652573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3962797" y="2577439"/>
            <a:ext cx="365257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7615370" y="2353072"/>
            <a:ext cx="1661451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7615370" y="2577439"/>
            <a:ext cx="166145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9276821" y="2353072"/>
            <a:ext cx="115265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9276821" y="2577439"/>
            <a:ext cx="115265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10429478" y="2353072"/>
            <a:ext cx="115292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10429478" y="2577439"/>
            <a:ext cx="115292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25859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28483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2726267" y="25859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2726267" y="28483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3962797" y="25859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3962797" y="28483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7615370" y="25859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7615370" y="28483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9276821" y="25859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9276821" y="28483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10429478" y="25859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10429478" y="28483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609600" y="2856839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609600" y="3119305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2726267" y="2856839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2726267" y="3119305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3962797" y="2856839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3962797" y="3119305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7615370" y="2856839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7615370" y="3119305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9276821" y="2856839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9276821" y="3119305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10429478" y="2856839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10429478" y="3119305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aja"/>
          <p:cNvSpPr/>
          <p:nvPr/>
        </p:nvSpPr>
        <p:spPr>
          <a:xfrm>
            <a:off x="609600" y="3127772"/>
            <a:ext cx="2116667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609600" y="3390239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aja"/>
          <p:cNvSpPr/>
          <p:nvPr/>
        </p:nvSpPr>
        <p:spPr>
          <a:xfrm>
            <a:off x="2726267" y="3127772"/>
            <a:ext cx="1236530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2726267" y="3390239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aja"/>
          <p:cNvSpPr/>
          <p:nvPr/>
        </p:nvSpPr>
        <p:spPr>
          <a:xfrm>
            <a:off x="3962797" y="3127772"/>
            <a:ext cx="3652573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3962797" y="3390239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aja"/>
          <p:cNvSpPr/>
          <p:nvPr/>
        </p:nvSpPr>
        <p:spPr>
          <a:xfrm>
            <a:off x="7615370" y="3127772"/>
            <a:ext cx="1661451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7615370" y="3390239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aja"/>
          <p:cNvSpPr/>
          <p:nvPr/>
        </p:nvSpPr>
        <p:spPr>
          <a:xfrm>
            <a:off x="9276821" y="3127772"/>
            <a:ext cx="1152657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9276821" y="3390239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aja"/>
          <p:cNvSpPr/>
          <p:nvPr/>
        </p:nvSpPr>
        <p:spPr>
          <a:xfrm>
            <a:off x="10429478" y="3127772"/>
            <a:ext cx="1152922" cy="270933"/>
          </a:xfrm>
          <a:prstGeom prst="rect">
            <a:avLst/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10429478" y="3390239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609600" y="33987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609600" y="36611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2726267" y="33987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2726267" y="36611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3962797" y="33987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3962797" y="36611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7615370" y="33987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7615370" y="36611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9276821" y="33987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bottom"/>
          <p:cNvSpPr/>
          <p:nvPr/>
        </p:nvSpPr>
        <p:spPr>
          <a:xfrm>
            <a:off x="9276821" y="36611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10429478" y="33987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bottom"/>
          <p:cNvSpPr/>
          <p:nvPr/>
        </p:nvSpPr>
        <p:spPr>
          <a:xfrm>
            <a:off x="10429478" y="36611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609600" y="3669639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bottom"/>
          <p:cNvSpPr/>
          <p:nvPr/>
        </p:nvSpPr>
        <p:spPr>
          <a:xfrm>
            <a:off x="609600" y="3932105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2726267" y="3669639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bottom"/>
          <p:cNvSpPr/>
          <p:nvPr/>
        </p:nvSpPr>
        <p:spPr>
          <a:xfrm>
            <a:off x="2726267" y="3932105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marco"/>
          <p:cNvSpPr/>
          <p:nvPr/>
        </p:nvSpPr>
        <p:spPr>
          <a:xfrm>
            <a:off x="3962797" y="3669639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borde bottom"/>
          <p:cNvSpPr/>
          <p:nvPr/>
        </p:nvSpPr>
        <p:spPr>
          <a:xfrm>
            <a:off x="3962797" y="3932105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marco"/>
          <p:cNvSpPr/>
          <p:nvPr/>
        </p:nvSpPr>
        <p:spPr>
          <a:xfrm>
            <a:off x="7615370" y="3669639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borde bottom"/>
          <p:cNvSpPr/>
          <p:nvPr/>
        </p:nvSpPr>
        <p:spPr>
          <a:xfrm>
            <a:off x="7615370" y="3932105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marco"/>
          <p:cNvSpPr/>
          <p:nvPr/>
        </p:nvSpPr>
        <p:spPr>
          <a:xfrm>
            <a:off x="9276821" y="3669639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borde bottom"/>
          <p:cNvSpPr/>
          <p:nvPr/>
        </p:nvSpPr>
        <p:spPr>
          <a:xfrm>
            <a:off x="9276821" y="3932105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marco"/>
          <p:cNvSpPr/>
          <p:nvPr/>
        </p:nvSpPr>
        <p:spPr>
          <a:xfrm>
            <a:off x="10429478" y="3669639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borde bottom"/>
          <p:cNvSpPr/>
          <p:nvPr/>
        </p:nvSpPr>
        <p:spPr>
          <a:xfrm>
            <a:off x="10429478" y="3932105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marco"/>
          <p:cNvSpPr/>
          <p:nvPr/>
        </p:nvSpPr>
        <p:spPr>
          <a:xfrm>
            <a:off x="609600" y="3940572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borde bottom"/>
          <p:cNvSpPr/>
          <p:nvPr/>
        </p:nvSpPr>
        <p:spPr>
          <a:xfrm>
            <a:off x="609600" y="4203039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marco"/>
          <p:cNvSpPr/>
          <p:nvPr/>
        </p:nvSpPr>
        <p:spPr>
          <a:xfrm>
            <a:off x="2726267" y="3940572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borde bottom"/>
          <p:cNvSpPr/>
          <p:nvPr/>
        </p:nvSpPr>
        <p:spPr>
          <a:xfrm>
            <a:off x="2726267" y="4203039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marco"/>
          <p:cNvSpPr/>
          <p:nvPr/>
        </p:nvSpPr>
        <p:spPr>
          <a:xfrm>
            <a:off x="3962797" y="3940572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borde bottom"/>
          <p:cNvSpPr/>
          <p:nvPr/>
        </p:nvSpPr>
        <p:spPr>
          <a:xfrm>
            <a:off x="3962797" y="4203039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marco"/>
          <p:cNvSpPr/>
          <p:nvPr/>
        </p:nvSpPr>
        <p:spPr>
          <a:xfrm>
            <a:off x="7615370" y="3940572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borde bottom"/>
          <p:cNvSpPr/>
          <p:nvPr/>
        </p:nvSpPr>
        <p:spPr>
          <a:xfrm>
            <a:off x="7615370" y="4203039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marco"/>
          <p:cNvSpPr/>
          <p:nvPr/>
        </p:nvSpPr>
        <p:spPr>
          <a:xfrm>
            <a:off x="9276821" y="3940572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borde bottom"/>
          <p:cNvSpPr/>
          <p:nvPr/>
        </p:nvSpPr>
        <p:spPr>
          <a:xfrm>
            <a:off x="9276821" y="4203039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marco"/>
          <p:cNvSpPr/>
          <p:nvPr/>
        </p:nvSpPr>
        <p:spPr>
          <a:xfrm>
            <a:off x="10429478" y="3940572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borde bottom"/>
          <p:cNvSpPr/>
          <p:nvPr/>
        </p:nvSpPr>
        <p:spPr>
          <a:xfrm>
            <a:off x="10429478" y="4203039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marco"/>
          <p:cNvSpPr/>
          <p:nvPr/>
        </p:nvSpPr>
        <p:spPr>
          <a:xfrm>
            <a:off x="609600" y="4211505"/>
            <a:ext cx="211666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borde bottom"/>
          <p:cNvSpPr/>
          <p:nvPr/>
        </p:nvSpPr>
        <p:spPr>
          <a:xfrm>
            <a:off x="609600" y="4473972"/>
            <a:ext cx="21166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arco"/>
          <p:cNvSpPr/>
          <p:nvPr/>
        </p:nvSpPr>
        <p:spPr>
          <a:xfrm>
            <a:off x="2726267" y="4211505"/>
            <a:ext cx="1236530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borde bottom"/>
          <p:cNvSpPr/>
          <p:nvPr/>
        </p:nvSpPr>
        <p:spPr>
          <a:xfrm>
            <a:off x="2726267" y="4473972"/>
            <a:ext cx="123653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marco"/>
          <p:cNvSpPr/>
          <p:nvPr/>
        </p:nvSpPr>
        <p:spPr>
          <a:xfrm>
            <a:off x="3962797" y="4211505"/>
            <a:ext cx="3652573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borde bottom"/>
          <p:cNvSpPr/>
          <p:nvPr/>
        </p:nvSpPr>
        <p:spPr>
          <a:xfrm>
            <a:off x="3962797" y="4473972"/>
            <a:ext cx="365257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arco"/>
          <p:cNvSpPr/>
          <p:nvPr/>
        </p:nvSpPr>
        <p:spPr>
          <a:xfrm>
            <a:off x="7615370" y="4211505"/>
            <a:ext cx="1661451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borde bottom"/>
          <p:cNvSpPr/>
          <p:nvPr/>
        </p:nvSpPr>
        <p:spPr>
          <a:xfrm>
            <a:off x="7615370" y="4473972"/>
            <a:ext cx="1661451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arco"/>
          <p:cNvSpPr/>
          <p:nvPr/>
        </p:nvSpPr>
        <p:spPr>
          <a:xfrm>
            <a:off x="9276821" y="4211505"/>
            <a:ext cx="115265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borde bottom"/>
          <p:cNvSpPr/>
          <p:nvPr/>
        </p:nvSpPr>
        <p:spPr>
          <a:xfrm>
            <a:off x="9276821" y="4473972"/>
            <a:ext cx="115265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marco"/>
          <p:cNvSpPr/>
          <p:nvPr/>
        </p:nvSpPr>
        <p:spPr>
          <a:xfrm>
            <a:off x="10429478" y="4211505"/>
            <a:ext cx="115292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borde bottom"/>
          <p:cNvSpPr/>
          <p:nvPr/>
        </p:nvSpPr>
        <p:spPr>
          <a:xfrm>
            <a:off x="10429478" y="4473972"/>
            <a:ext cx="115292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arco"/>
          <p:cNvSpPr/>
          <p:nvPr/>
        </p:nvSpPr>
        <p:spPr>
          <a:xfrm>
            <a:off x="609600" y="4482439"/>
            <a:ext cx="211666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borde top"/>
          <p:cNvSpPr/>
          <p:nvPr/>
        </p:nvSpPr>
        <p:spPr>
          <a:xfrm>
            <a:off x="609600" y="4482439"/>
            <a:ext cx="211666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rco"/>
          <p:cNvSpPr/>
          <p:nvPr/>
        </p:nvSpPr>
        <p:spPr>
          <a:xfrm>
            <a:off x="2726267" y="4482439"/>
            <a:ext cx="1236530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borde top"/>
          <p:cNvSpPr/>
          <p:nvPr/>
        </p:nvSpPr>
        <p:spPr>
          <a:xfrm>
            <a:off x="2726267" y="4482439"/>
            <a:ext cx="1236530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marco"/>
          <p:cNvSpPr/>
          <p:nvPr/>
        </p:nvSpPr>
        <p:spPr>
          <a:xfrm>
            <a:off x="3962797" y="4482439"/>
            <a:ext cx="3652573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borde top"/>
          <p:cNvSpPr/>
          <p:nvPr/>
        </p:nvSpPr>
        <p:spPr>
          <a:xfrm>
            <a:off x="3962797" y="4482439"/>
            <a:ext cx="3652573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marco"/>
          <p:cNvSpPr/>
          <p:nvPr/>
        </p:nvSpPr>
        <p:spPr>
          <a:xfrm>
            <a:off x="7615370" y="4482439"/>
            <a:ext cx="1661451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borde top"/>
          <p:cNvSpPr/>
          <p:nvPr/>
        </p:nvSpPr>
        <p:spPr>
          <a:xfrm>
            <a:off x="7615370" y="4482439"/>
            <a:ext cx="1661451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arco"/>
          <p:cNvSpPr/>
          <p:nvPr/>
        </p:nvSpPr>
        <p:spPr>
          <a:xfrm>
            <a:off x="9276821" y="4482439"/>
            <a:ext cx="115265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borde top"/>
          <p:cNvSpPr/>
          <p:nvPr/>
        </p:nvSpPr>
        <p:spPr>
          <a:xfrm>
            <a:off x="9276821" y="4482439"/>
            <a:ext cx="115265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marco"/>
          <p:cNvSpPr/>
          <p:nvPr/>
        </p:nvSpPr>
        <p:spPr>
          <a:xfrm>
            <a:off x="10429478" y="4482439"/>
            <a:ext cx="115292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borde top"/>
          <p:cNvSpPr/>
          <p:nvPr/>
        </p:nvSpPr>
        <p:spPr>
          <a:xfrm>
            <a:off x="10429478" y="4482439"/>
            <a:ext cx="115292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Ingresos totales"/>
          <p:cNvSpPr txBox="1"/>
          <p:nvPr/>
        </p:nvSpPr>
        <p:spPr>
          <a:xfrm>
            <a:off x="609600" y="457120"/>
            <a:ext cx="247729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Ingresos totales</a:t>
            </a:r>
          </a:p>
        </p:txBody>
      </p:sp>
      <p:sp>
        <p:nvSpPr>
          <p:cNvPr id="114" name="EN DÓLARES · CONVERSIÓN Y TERRITORIO"/>
          <p:cNvSpPr txBox="1"/>
          <p:nvPr/>
        </p:nvSpPr>
        <p:spPr>
          <a:xfrm>
            <a:off x="609600" y="866330"/>
            <a:ext cx="247729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EN DÓLARES · CONVERSIÓN Y TERRITORIO</a:t>
            </a:r>
          </a:p>
        </p:txBody>
      </p:sp>
      <p:sp>
        <p:nvSpPr>
          <p:cNvPr id="11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1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17" name="AÑO 1"/>
          <p:cNvSpPr txBox="1"/>
          <p:nvPr/>
        </p:nvSpPr>
        <p:spPr>
          <a:xfrm>
            <a:off x="2794000" y="2414536"/>
            <a:ext cx="1084130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1</a:t>
            </a:r>
          </a:p>
        </p:txBody>
      </p:sp>
      <p:sp>
        <p:nvSpPr>
          <p:cNvPr id="118" name="AÑO 2"/>
          <p:cNvSpPr txBox="1"/>
          <p:nvPr/>
        </p:nvSpPr>
        <p:spPr>
          <a:xfrm>
            <a:off x="4030530" y="2414536"/>
            <a:ext cx="3500173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2</a:t>
            </a:r>
          </a:p>
        </p:txBody>
      </p:sp>
      <p:sp>
        <p:nvSpPr>
          <p:cNvPr id="119" name="AÑO 3"/>
          <p:cNvSpPr txBox="1"/>
          <p:nvPr/>
        </p:nvSpPr>
        <p:spPr>
          <a:xfrm>
            <a:off x="7683103" y="2414536"/>
            <a:ext cx="1509051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3</a:t>
            </a:r>
          </a:p>
        </p:txBody>
      </p:sp>
      <p:sp>
        <p:nvSpPr>
          <p:cNvPr id="120" name="AÑO 4"/>
          <p:cNvSpPr txBox="1"/>
          <p:nvPr/>
        </p:nvSpPr>
        <p:spPr>
          <a:xfrm>
            <a:off x="9344554" y="2414536"/>
            <a:ext cx="1000257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4</a:t>
            </a:r>
          </a:p>
        </p:txBody>
      </p:sp>
      <p:sp>
        <p:nvSpPr>
          <p:cNvPr id="121" name="AÑO 5"/>
          <p:cNvSpPr txBox="1"/>
          <p:nvPr/>
        </p:nvSpPr>
        <p:spPr>
          <a:xfrm>
            <a:off x="10497211" y="2414536"/>
            <a:ext cx="100052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AÑO 5</a:t>
            </a:r>
          </a:p>
        </p:txBody>
      </p:sp>
      <p:sp>
        <p:nvSpPr>
          <p:cNvPr id="122" name="Territorio"/>
          <p:cNvSpPr txBox="1"/>
          <p:nvPr/>
        </p:nvSpPr>
        <p:spPr>
          <a:xfrm>
            <a:off x="694267" y="2649044"/>
            <a:ext cx="196426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Territorio</a:t>
            </a:r>
          </a:p>
        </p:txBody>
      </p:sp>
      <p:sp>
        <p:nvSpPr>
          <p:cNvPr id="123" name="Buenos Aires"/>
          <p:cNvSpPr txBox="1"/>
          <p:nvPr/>
        </p:nvSpPr>
        <p:spPr>
          <a:xfrm>
            <a:off x="2794000" y="2648569"/>
            <a:ext cx="1084130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Buenos Aires</a:t>
            </a:r>
          </a:p>
        </p:txBody>
      </p:sp>
      <p:sp>
        <p:nvSpPr>
          <p:cNvPr id="124" name="La Plata, Rosario, Córdoba, Mendoza "/>
          <p:cNvSpPr txBox="1"/>
          <p:nvPr/>
        </p:nvSpPr>
        <p:spPr>
          <a:xfrm>
            <a:off x="4030530" y="2648095"/>
            <a:ext cx="3500173" cy="1722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Plata, Rosario, Córdoba, Mendoza y Tucumán</a:t>
            </a:r>
          </a:p>
        </p:txBody>
      </p:sp>
      <p:sp>
        <p:nvSpPr>
          <p:cNvPr id="125" name="Resto de Argentina"/>
          <p:cNvSpPr txBox="1"/>
          <p:nvPr/>
        </p:nvSpPr>
        <p:spPr>
          <a:xfrm>
            <a:off x="7683103" y="2648569"/>
            <a:ext cx="1509051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Resto de Argentina</a:t>
            </a:r>
          </a:p>
        </p:txBody>
      </p:sp>
      <p:sp>
        <p:nvSpPr>
          <p:cNvPr id="126" name="Argentina"/>
          <p:cNvSpPr txBox="1"/>
          <p:nvPr/>
        </p:nvSpPr>
        <p:spPr>
          <a:xfrm>
            <a:off x="9344554" y="2648569"/>
            <a:ext cx="1000257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Argentina</a:t>
            </a:r>
          </a:p>
        </p:txBody>
      </p:sp>
      <p:sp>
        <p:nvSpPr>
          <p:cNvPr id="127" name="Argentina"/>
          <p:cNvSpPr txBox="1"/>
          <p:nvPr/>
        </p:nvSpPr>
        <p:spPr>
          <a:xfrm>
            <a:off x="10497211" y="2648569"/>
            <a:ext cx="1000522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Argentina</a:t>
            </a:r>
          </a:p>
        </p:txBody>
      </p:sp>
      <p:sp>
        <p:nvSpPr>
          <p:cNvPr id="128" name="Total usuarios posibles"/>
          <p:cNvSpPr txBox="1"/>
          <p:nvPr/>
        </p:nvSpPr>
        <p:spPr>
          <a:xfrm>
            <a:off x="694267" y="2919977"/>
            <a:ext cx="196426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Total usuarios posibles</a:t>
            </a:r>
          </a:p>
        </p:txBody>
      </p:sp>
      <p:sp>
        <p:nvSpPr>
          <p:cNvPr id="129" name="77.711"/>
          <p:cNvSpPr txBox="1"/>
          <p:nvPr/>
        </p:nvSpPr>
        <p:spPr>
          <a:xfrm>
            <a:off x="2794000" y="2920968"/>
            <a:ext cx="108413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77.711</a:t>
            </a:r>
          </a:p>
        </p:txBody>
      </p:sp>
      <p:sp>
        <p:nvSpPr>
          <p:cNvPr id="130" name="132.199"/>
          <p:cNvSpPr txBox="1"/>
          <p:nvPr/>
        </p:nvSpPr>
        <p:spPr>
          <a:xfrm>
            <a:off x="4030530" y="2920968"/>
            <a:ext cx="35001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132.199</a:t>
            </a:r>
          </a:p>
        </p:txBody>
      </p:sp>
      <p:sp>
        <p:nvSpPr>
          <p:cNvPr id="131" name="331.700"/>
          <p:cNvSpPr txBox="1"/>
          <p:nvPr/>
        </p:nvSpPr>
        <p:spPr>
          <a:xfrm>
            <a:off x="7683103" y="2920968"/>
            <a:ext cx="150905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331.700</a:t>
            </a:r>
          </a:p>
        </p:txBody>
      </p:sp>
      <p:sp>
        <p:nvSpPr>
          <p:cNvPr id="132" name="398.040"/>
          <p:cNvSpPr txBox="1"/>
          <p:nvPr/>
        </p:nvSpPr>
        <p:spPr>
          <a:xfrm>
            <a:off x="9344554" y="2920968"/>
            <a:ext cx="100025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398.040</a:t>
            </a:r>
          </a:p>
        </p:txBody>
      </p:sp>
      <p:sp>
        <p:nvSpPr>
          <p:cNvPr id="133" name="457.746"/>
          <p:cNvSpPr txBox="1"/>
          <p:nvPr/>
        </p:nvSpPr>
        <p:spPr>
          <a:xfrm>
            <a:off x="10497211" y="2920968"/>
            <a:ext cx="10005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457.746</a:t>
            </a:r>
          </a:p>
        </p:txBody>
      </p:sp>
      <p:sp>
        <p:nvSpPr>
          <p:cNvPr id="134" name="Usuarios convertidos"/>
          <p:cNvSpPr txBox="1"/>
          <p:nvPr/>
        </p:nvSpPr>
        <p:spPr>
          <a:xfrm>
            <a:off x="694267" y="3190910"/>
            <a:ext cx="196426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Usuarios convertidos</a:t>
            </a:r>
          </a:p>
        </p:txBody>
      </p:sp>
      <p:sp>
        <p:nvSpPr>
          <p:cNvPr id="135" name="2.392"/>
          <p:cNvSpPr txBox="1"/>
          <p:nvPr/>
        </p:nvSpPr>
        <p:spPr>
          <a:xfrm>
            <a:off x="2794000" y="3191902"/>
            <a:ext cx="108413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2.392</a:t>
            </a:r>
          </a:p>
        </p:txBody>
      </p:sp>
      <p:sp>
        <p:nvSpPr>
          <p:cNvPr id="136" name="4.054"/>
          <p:cNvSpPr txBox="1"/>
          <p:nvPr/>
        </p:nvSpPr>
        <p:spPr>
          <a:xfrm>
            <a:off x="4030530" y="3191902"/>
            <a:ext cx="35001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4.054</a:t>
            </a:r>
          </a:p>
        </p:txBody>
      </p:sp>
      <p:sp>
        <p:nvSpPr>
          <p:cNvPr id="137" name="10.085"/>
          <p:cNvSpPr txBox="1"/>
          <p:nvPr/>
        </p:nvSpPr>
        <p:spPr>
          <a:xfrm>
            <a:off x="7683103" y="3191902"/>
            <a:ext cx="150905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10.085</a:t>
            </a:r>
          </a:p>
        </p:txBody>
      </p:sp>
      <p:sp>
        <p:nvSpPr>
          <p:cNvPr id="138" name="12.102"/>
          <p:cNvSpPr txBox="1"/>
          <p:nvPr/>
        </p:nvSpPr>
        <p:spPr>
          <a:xfrm>
            <a:off x="9344554" y="3191902"/>
            <a:ext cx="100025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12.102</a:t>
            </a:r>
          </a:p>
        </p:txBody>
      </p:sp>
      <p:sp>
        <p:nvSpPr>
          <p:cNvPr id="139" name="13.917"/>
          <p:cNvSpPr txBox="1"/>
          <p:nvPr/>
        </p:nvSpPr>
        <p:spPr>
          <a:xfrm>
            <a:off x="10497211" y="3191902"/>
            <a:ext cx="10005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13.917</a:t>
            </a:r>
          </a:p>
        </p:txBody>
      </p:sp>
      <p:sp>
        <p:nvSpPr>
          <p:cNvPr id="140" name="Penetración"/>
          <p:cNvSpPr txBox="1"/>
          <p:nvPr/>
        </p:nvSpPr>
        <p:spPr>
          <a:xfrm>
            <a:off x="694267" y="3461844"/>
            <a:ext cx="196426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Penetración</a:t>
            </a:r>
          </a:p>
        </p:txBody>
      </p:sp>
      <p:sp>
        <p:nvSpPr>
          <p:cNvPr id="141" name="3,1%"/>
          <p:cNvSpPr txBox="1"/>
          <p:nvPr/>
        </p:nvSpPr>
        <p:spPr>
          <a:xfrm>
            <a:off x="2794000" y="3462835"/>
            <a:ext cx="108413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3,1%</a:t>
            </a:r>
          </a:p>
        </p:txBody>
      </p:sp>
      <p:sp>
        <p:nvSpPr>
          <p:cNvPr id="142" name="3,1%"/>
          <p:cNvSpPr txBox="1"/>
          <p:nvPr/>
        </p:nvSpPr>
        <p:spPr>
          <a:xfrm>
            <a:off x="4030530" y="3462835"/>
            <a:ext cx="35001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3,1%</a:t>
            </a:r>
          </a:p>
        </p:txBody>
      </p:sp>
      <p:sp>
        <p:nvSpPr>
          <p:cNvPr id="143" name="3,0%"/>
          <p:cNvSpPr txBox="1"/>
          <p:nvPr/>
        </p:nvSpPr>
        <p:spPr>
          <a:xfrm>
            <a:off x="7683103" y="3462835"/>
            <a:ext cx="150905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3,0%</a:t>
            </a:r>
          </a:p>
        </p:txBody>
      </p:sp>
      <p:sp>
        <p:nvSpPr>
          <p:cNvPr id="144" name="3,0%"/>
          <p:cNvSpPr txBox="1"/>
          <p:nvPr/>
        </p:nvSpPr>
        <p:spPr>
          <a:xfrm>
            <a:off x="9344554" y="3462835"/>
            <a:ext cx="100025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3,0%</a:t>
            </a:r>
          </a:p>
        </p:txBody>
      </p:sp>
      <p:sp>
        <p:nvSpPr>
          <p:cNvPr id="145" name="3,0%"/>
          <p:cNvSpPr txBox="1"/>
          <p:nvPr/>
        </p:nvSpPr>
        <p:spPr>
          <a:xfrm>
            <a:off x="10497211" y="3462835"/>
            <a:ext cx="10005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3,0%</a:t>
            </a:r>
          </a:p>
        </p:txBody>
      </p:sp>
      <p:sp>
        <p:nvSpPr>
          <p:cNvPr id="146" name="Total transacciones"/>
          <p:cNvSpPr txBox="1"/>
          <p:nvPr/>
        </p:nvSpPr>
        <p:spPr>
          <a:xfrm>
            <a:off x="694267" y="3732777"/>
            <a:ext cx="196426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Total transacciones</a:t>
            </a:r>
          </a:p>
        </p:txBody>
      </p:sp>
      <p:sp>
        <p:nvSpPr>
          <p:cNvPr id="147" name="7.777"/>
          <p:cNvSpPr txBox="1"/>
          <p:nvPr/>
        </p:nvSpPr>
        <p:spPr>
          <a:xfrm>
            <a:off x="2794000" y="3733768"/>
            <a:ext cx="108413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7.777</a:t>
            </a:r>
          </a:p>
        </p:txBody>
      </p:sp>
      <p:sp>
        <p:nvSpPr>
          <p:cNvPr id="148" name="13.042"/>
          <p:cNvSpPr txBox="1"/>
          <p:nvPr/>
        </p:nvSpPr>
        <p:spPr>
          <a:xfrm>
            <a:off x="4030530" y="3733768"/>
            <a:ext cx="35001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13.042</a:t>
            </a:r>
          </a:p>
        </p:txBody>
      </p:sp>
      <p:sp>
        <p:nvSpPr>
          <p:cNvPr id="149" name="32.600"/>
          <p:cNvSpPr txBox="1"/>
          <p:nvPr/>
        </p:nvSpPr>
        <p:spPr>
          <a:xfrm>
            <a:off x="7683103" y="3733768"/>
            <a:ext cx="150905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32.600</a:t>
            </a:r>
          </a:p>
        </p:txBody>
      </p:sp>
      <p:sp>
        <p:nvSpPr>
          <p:cNvPr id="150" name="39.120"/>
          <p:cNvSpPr txBox="1"/>
          <p:nvPr/>
        </p:nvSpPr>
        <p:spPr>
          <a:xfrm>
            <a:off x="9344554" y="3733768"/>
            <a:ext cx="100025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39.120</a:t>
            </a:r>
          </a:p>
        </p:txBody>
      </p:sp>
      <p:sp>
        <p:nvSpPr>
          <p:cNvPr id="151" name="44.988"/>
          <p:cNvSpPr txBox="1"/>
          <p:nvPr/>
        </p:nvSpPr>
        <p:spPr>
          <a:xfrm>
            <a:off x="10497211" y="3733768"/>
            <a:ext cx="10005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44.988</a:t>
            </a:r>
          </a:p>
        </p:txBody>
      </p:sp>
      <p:sp>
        <p:nvSpPr>
          <p:cNvPr id="152" name="Transacciones por usuario"/>
          <p:cNvSpPr txBox="1"/>
          <p:nvPr/>
        </p:nvSpPr>
        <p:spPr>
          <a:xfrm>
            <a:off x="694267" y="4003710"/>
            <a:ext cx="196426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Transacciones por usuario</a:t>
            </a:r>
          </a:p>
        </p:txBody>
      </p:sp>
      <p:sp>
        <p:nvSpPr>
          <p:cNvPr id="153" name="3,25"/>
          <p:cNvSpPr txBox="1"/>
          <p:nvPr/>
        </p:nvSpPr>
        <p:spPr>
          <a:xfrm>
            <a:off x="2794000" y="4004702"/>
            <a:ext cx="108413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3,25</a:t>
            </a:r>
          </a:p>
        </p:txBody>
      </p:sp>
      <p:sp>
        <p:nvSpPr>
          <p:cNvPr id="154" name="3,22"/>
          <p:cNvSpPr txBox="1"/>
          <p:nvPr/>
        </p:nvSpPr>
        <p:spPr>
          <a:xfrm>
            <a:off x="4030530" y="4004702"/>
            <a:ext cx="35001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3,22</a:t>
            </a:r>
          </a:p>
        </p:txBody>
      </p:sp>
      <p:sp>
        <p:nvSpPr>
          <p:cNvPr id="155" name="3,23"/>
          <p:cNvSpPr txBox="1"/>
          <p:nvPr/>
        </p:nvSpPr>
        <p:spPr>
          <a:xfrm>
            <a:off x="7683103" y="4004702"/>
            <a:ext cx="150905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3,23</a:t>
            </a:r>
          </a:p>
        </p:txBody>
      </p:sp>
      <p:sp>
        <p:nvSpPr>
          <p:cNvPr id="156" name="3,23"/>
          <p:cNvSpPr txBox="1"/>
          <p:nvPr/>
        </p:nvSpPr>
        <p:spPr>
          <a:xfrm>
            <a:off x="9344554" y="4004702"/>
            <a:ext cx="100025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3,23</a:t>
            </a:r>
          </a:p>
        </p:txBody>
      </p:sp>
      <p:sp>
        <p:nvSpPr>
          <p:cNvPr id="157" name="3,23"/>
          <p:cNvSpPr txBox="1"/>
          <p:nvPr/>
        </p:nvSpPr>
        <p:spPr>
          <a:xfrm>
            <a:off x="10497211" y="4004702"/>
            <a:ext cx="10005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3,23</a:t>
            </a:r>
          </a:p>
        </p:txBody>
      </p:sp>
      <p:sp>
        <p:nvSpPr>
          <p:cNvPr id="158" name="Precio (USD)"/>
          <p:cNvSpPr txBox="1"/>
          <p:nvPr/>
        </p:nvSpPr>
        <p:spPr>
          <a:xfrm>
            <a:off x="694267" y="4274644"/>
            <a:ext cx="1964267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 (USD)</a:t>
            </a:r>
          </a:p>
        </p:txBody>
      </p:sp>
      <p:sp>
        <p:nvSpPr>
          <p:cNvPr id="159" name="89"/>
          <p:cNvSpPr txBox="1"/>
          <p:nvPr/>
        </p:nvSpPr>
        <p:spPr>
          <a:xfrm>
            <a:off x="2794000" y="4275635"/>
            <a:ext cx="1084130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0" name="89"/>
          <p:cNvSpPr txBox="1"/>
          <p:nvPr/>
        </p:nvSpPr>
        <p:spPr>
          <a:xfrm>
            <a:off x="4030530" y="4275635"/>
            <a:ext cx="3500173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1" name="89"/>
          <p:cNvSpPr txBox="1"/>
          <p:nvPr/>
        </p:nvSpPr>
        <p:spPr>
          <a:xfrm>
            <a:off x="7683103" y="4275635"/>
            <a:ext cx="1509051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2" name="89"/>
          <p:cNvSpPr txBox="1"/>
          <p:nvPr/>
        </p:nvSpPr>
        <p:spPr>
          <a:xfrm>
            <a:off x="9344554" y="4275635"/>
            <a:ext cx="100025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3" name="89"/>
          <p:cNvSpPr txBox="1"/>
          <p:nvPr/>
        </p:nvSpPr>
        <p:spPr>
          <a:xfrm>
            <a:off x="10497211" y="4275635"/>
            <a:ext cx="1000522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89</a:t>
            </a:r>
          </a:p>
        </p:txBody>
      </p:sp>
      <p:sp>
        <p:nvSpPr>
          <p:cNvPr id="164" name="Ingresos (P × Q)"/>
          <p:cNvSpPr txBox="1"/>
          <p:nvPr/>
        </p:nvSpPr>
        <p:spPr>
          <a:xfrm>
            <a:off x="694267" y="4554044"/>
            <a:ext cx="1964267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Ingresos (P × Q)</a:t>
            </a:r>
          </a:p>
        </p:txBody>
      </p:sp>
      <p:sp>
        <p:nvSpPr>
          <p:cNvPr id="165" name="693.651"/>
          <p:cNvSpPr txBox="1"/>
          <p:nvPr/>
        </p:nvSpPr>
        <p:spPr>
          <a:xfrm>
            <a:off x="2794000" y="4555035"/>
            <a:ext cx="1084130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693.651</a:t>
            </a:r>
          </a:p>
        </p:txBody>
      </p:sp>
      <p:sp>
        <p:nvSpPr>
          <p:cNvPr id="166" name="1.163.246"/>
          <p:cNvSpPr txBox="1"/>
          <p:nvPr/>
        </p:nvSpPr>
        <p:spPr>
          <a:xfrm>
            <a:off x="4030530" y="4555035"/>
            <a:ext cx="3500173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1.163.246</a:t>
            </a:r>
          </a:p>
        </p:txBody>
      </p:sp>
      <p:sp>
        <p:nvSpPr>
          <p:cNvPr id="167" name="2.907.770"/>
          <p:cNvSpPr txBox="1"/>
          <p:nvPr/>
        </p:nvSpPr>
        <p:spPr>
          <a:xfrm>
            <a:off x="7683103" y="4555035"/>
            <a:ext cx="1509051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2.907.770</a:t>
            </a:r>
          </a:p>
        </p:txBody>
      </p:sp>
      <p:sp>
        <p:nvSpPr>
          <p:cNvPr id="168" name="3.489.324"/>
          <p:cNvSpPr txBox="1"/>
          <p:nvPr/>
        </p:nvSpPr>
        <p:spPr>
          <a:xfrm>
            <a:off x="9344554" y="4555035"/>
            <a:ext cx="1000257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3.489.324</a:t>
            </a:r>
          </a:p>
        </p:txBody>
      </p:sp>
      <p:sp>
        <p:nvSpPr>
          <p:cNvPr id="169" name="4.012.723"/>
          <p:cNvSpPr txBox="1"/>
          <p:nvPr/>
        </p:nvSpPr>
        <p:spPr>
          <a:xfrm>
            <a:off x="10497211" y="4555035"/>
            <a:ext cx="1000522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4.012.723</a:t>
            </a:r>
          </a:p>
        </p:txBody>
      </p:sp>
      <p:sp>
        <p:nvSpPr>
          <p:cNvPr id="170" name="SUPUESTO DE PENETRACIÓN"/>
          <p:cNvSpPr txBox="1"/>
          <p:nvPr/>
        </p:nvSpPr>
        <p:spPr>
          <a:xfrm>
            <a:off x="609600" y="4972002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SUPUESTO DE PENETRACIÓN</a:t>
            </a:r>
          </a:p>
        </p:txBody>
      </p:sp>
      <p:sp>
        <p:nvSpPr>
          <p:cNvPr id="171" name="Constante en ~3% los cinco años: la "/>
          <p:cNvSpPr txBox="1"/>
          <p:nvPr/>
        </p:nvSpPr>
        <p:spPr>
          <a:xfrm>
            <a:off x="609600" y="5153468"/>
            <a:ext cx="3488267" cy="37178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Constante en </a:t>
            </a:r>
            <a:r>
              <a:rPr b="0" i="0" sz="9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~3%</a:t>
            </a: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los cinco años: la proyección no asume ganar cuota de mercado.</a:t>
            </a:r>
          </a:p>
        </p:txBody>
      </p:sp>
      <p:sp>
        <p:nvSpPr>
          <p:cNvPr id="172" name="SUPUESTO DE FRECUENCIA"/>
          <p:cNvSpPr txBox="1"/>
          <p:nvPr/>
        </p:nvSpPr>
        <p:spPr>
          <a:xfrm>
            <a:off x="4351867" y="4972002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SUPUESTO DE FRECUENCIA</a:t>
            </a:r>
          </a:p>
        </p:txBody>
      </p:sp>
      <p:sp>
        <p:nvSpPr>
          <p:cNvPr id="173" name="Constante en ~3,2 transacciones por "/>
          <p:cNvSpPr txBox="1"/>
          <p:nvPr/>
        </p:nvSpPr>
        <p:spPr>
          <a:xfrm>
            <a:off x="4351867" y="5153468"/>
            <a:ext cx="3505200" cy="1975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Constante en </a:t>
            </a:r>
            <a:r>
              <a:rPr b="0" i="0" sz="9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~3,2 transacciones por usuario al año</a:t>
            </a: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74" name="MOTOR DEL CRECIMIENTO"/>
          <p:cNvSpPr txBox="1"/>
          <p:nvPr/>
        </p:nvSpPr>
        <p:spPr>
          <a:xfrm>
            <a:off x="8094133" y="4972002"/>
            <a:ext cx="35052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MOTOR DEL CRECIMIENTO</a:t>
            </a:r>
          </a:p>
        </p:txBody>
      </p:sp>
      <p:sp>
        <p:nvSpPr>
          <p:cNvPr id="175" name="Apertura de territorio, no aumento d"/>
          <p:cNvSpPr txBox="1"/>
          <p:nvPr/>
        </p:nvSpPr>
        <p:spPr>
          <a:xfrm>
            <a:off x="8094133" y="5153468"/>
            <a:ext cx="3488267" cy="37178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Apertura de territorio, no aumento de precio. El salto grande es el </a:t>
            </a:r>
            <a:r>
              <a:rPr b="0" i="0" sz="9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Año 3</a:t>
            </a: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76" name="5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874433"/>
            <a:ext cx="177323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bottom"/>
          <p:cNvSpPr/>
          <p:nvPr/>
        </p:nvSpPr>
        <p:spPr>
          <a:xfrm>
            <a:off x="609600" y="3098800"/>
            <a:ext cx="177323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2382838" y="2874433"/>
            <a:ext cx="1675077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2382838" y="3098800"/>
            <a:ext cx="16750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4057915" y="2874433"/>
            <a:ext cx="1135989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bottom"/>
          <p:cNvSpPr/>
          <p:nvPr/>
        </p:nvSpPr>
        <p:spPr>
          <a:xfrm>
            <a:off x="4057915" y="3098800"/>
            <a:ext cx="11359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5193903" y="2874433"/>
            <a:ext cx="2068512" cy="2328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bottom"/>
          <p:cNvSpPr/>
          <p:nvPr/>
        </p:nvSpPr>
        <p:spPr>
          <a:xfrm>
            <a:off x="5193903" y="3098800"/>
            <a:ext cx="206851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107267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bottom"/>
          <p:cNvSpPr/>
          <p:nvPr/>
        </p:nvSpPr>
        <p:spPr>
          <a:xfrm>
            <a:off x="609600" y="3369733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2382838" y="3107267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2382838" y="3369733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4057915" y="3107267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4057915" y="3369733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5193903" y="3107267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bottom"/>
          <p:cNvSpPr/>
          <p:nvPr/>
        </p:nvSpPr>
        <p:spPr>
          <a:xfrm>
            <a:off x="5193903" y="3369733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609600" y="3378200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bottom"/>
          <p:cNvSpPr/>
          <p:nvPr/>
        </p:nvSpPr>
        <p:spPr>
          <a:xfrm>
            <a:off x="609600" y="3640667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rco"/>
          <p:cNvSpPr/>
          <p:nvPr/>
        </p:nvSpPr>
        <p:spPr>
          <a:xfrm>
            <a:off x="2382838" y="3378200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bottom"/>
          <p:cNvSpPr/>
          <p:nvPr/>
        </p:nvSpPr>
        <p:spPr>
          <a:xfrm>
            <a:off x="2382838" y="3640667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rco"/>
          <p:cNvSpPr/>
          <p:nvPr/>
        </p:nvSpPr>
        <p:spPr>
          <a:xfrm>
            <a:off x="4057915" y="3378200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4057915" y="3640667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rco"/>
          <p:cNvSpPr/>
          <p:nvPr/>
        </p:nvSpPr>
        <p:spPr>
          <a:xfrm>
            <a:off x="5193903" y="3378200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5193903" y="3640667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rco"/>
          <p:cNvSpPr/>
          <p:nvPr/>
        </p:nvSpPr>
        <p:spPr>
          <a:xfrm>
            <a:off x="609600" y="3649133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borde bottom"/>
          <p:cNvSpPr/>
          <p:nvPr/>
        </p:nvSpPr>
        <p:spPr>
          <a:xfrm>
            <a:off x="609600" y="3911600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rco"/>
          <p:cNvSpPr/>
          <p:nvPr/>
        </p:nvSpPr>
        <p:spPr>
          <a:xfrm>
            <a:off x="2382838" y="3649133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bottom"/>
          <p:cNvSpPr/>
          <p:nvPr/>
        </p:nvSpPr>
        <p:spPr>
          <a:xfrm>
            <a:off x="2382838" y="3911600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marco"/>
          <p:cNvSpPr/>
          <p:nvPr/>
        </p:nvSpPr>
        <p:spPr>
          <a:xfrm>
            <a:off x="4057915" y="3649133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bottom"/>
          <p:cNvSpPr/>
          <p:nvPr/>
        </p:nvSpPr>
        <p:spPr>
          <a:xfrm>
            <a:off x="4057915" y="3911600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marco"/>
          <p:cNvSpPr/>
          <p:nvPr/>
        </p:nvSpPr>
        <p:spPr>
          <a:xfrm>
            <a:off x="5193903" y="3649133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borde bottom"/>
          <p:cNvSpPr/>
          <p:nvPr/>
        </p:nvSpPr>
        <p:spPr>
          <a:xfrm>
            <a:off x="5193903" y="3911600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marco"/>
          <p:cNvSpPr/>
          <p:nvPr/>
        </p:nvSpPr>
        <p:spPr>
          <a:xfrm>
            <a:off x="609600" y="3920067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borde bottom"/>
          <p:cNvSpPr/>
          <p:nvPr/>
        </p:nvSpPr>
        <p:spPr>
          <a:xfrm>
            <a:off x="609600" y="4182533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marco"/>
          <p:cNvSpPr/>
          <p:nvPr/>
        </p:nvSpPr>
        <p:spPr>
          <a:xfrm>
            <a:off x="2382838" y="3920067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borde bottom"/>
          <p:cNvSpPr/>
          <p:nvPr/>
        </p:nvSpPr>
        <p:spPr>
          <a:xfrm>
            <a:off x="2382838" y="4182533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marco"/>
          <p:cNvSpPr/>
          <p:nvPr/>
        </p:nvSpPr>
        <p:spPr>
          <a:xfrm>
            <a:off x="4057915" y="3920067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orde bottom"/>
          <p:cNvSpPr/>
          <p:nvPr/>
        </p:nvSpPr>
        <p:spPr>
          <a:xfrm>
            <a:off x="4057915" y="4182533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arco"/>
          <p:cNvSpPr/>
          <p:nvPr/>
        </p:nvSpPr>
        <p:spPr>
          <a:xfrm>
            <a:off x="5193903" y="3920067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rde bottom"/>
          <p:cNvSpPr/>
          <p:nvPr/>
        </p:nvSpPr>
        <p:spPr>
          <a:xfrm>
            <a:off x="5193903" y="4182533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arco"/>
          <p:cNvSpPr/>
          <p:nvPr/>
        </p:nvSpPr>
        <p:spPr>
          <a:xfrm>
            <a:off x="609600" y="4191000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borde bottom"/>
          <p:cNvSpPr/>
          <p:nvPr/>
        </p:nvSpPr>
        <p:spPr>
          <a:xfrm>
            <a:off x="609600" y="4453467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marco"/>
          <p:cNvSpPr/>
          <p:nvPr/>
        </p:nvSpPr>
        <p:spPr>
          <a:xfrm>
            <a:off x="2382838" y="4191000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borde bottom"/>
          <p:cNvSpPr/>
          <p:nvPr/>
        </p:nvSpPr>
        <p:spPr>
          <a:xfrm>
            <a:off x="2382838" y="4453467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marco"/>
          <p:cNvSpPr/>
          <p:nvPr/>
        </p:nvSpPr>
        <p:spPr>
          <a:xfrm>
            <a:off x="4057915" y="4191000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borde bottom"/>
          <p:cNvSpPr/>
          <p:nvPr/>
        </p:nvSpPr>
        <p:spPr>
          <a:xfrm>
            <a:off x="4057915" y="4453467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marco"/>
          <p:cNvSpPr/>
          <p:nvPr/>
        </p:nvSpPr>
        <p:spPr>
          <a:xfrm>
            <a:off x="5193903" y="4191000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borde bottom"/>
          <p:cNvSpPr/>
          <p:nvPr/>
        </p:nvSpPr>
        <p:spPr>
          <a:xfrm>
            <a:off x="5193903" y="4453467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arco"/>
          <p:cNvSpPr/>
          <p:nvPr/>
        </p:nvSpPr>
        <p:spPr>
          <a:xfrm>
            <a:off x="609600" y="4461933"/>
            <a:ext cx="177323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borde bottom"/>
          <p:cNvSpPr/>
          <p:nvPr/>
        </p:nvSpPr>
        <p:spPr>
          <a:xfrm>
            <a:off x="609600" y="4724400"/>
            <a:ext cx="177323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arco"/>
          <p:cNvSpPr/>
          <p:nvPr/>
        </p:nvSpPr>
        <p:spPr>
          <a:xfrm>
            <a:off x="2382838" y="4461933"/>
            <a:ext cx="1675077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orde bottom"/>
          <p:cNvSpPr/>
          <p:nvPr/>
        </p:nvSpPr>
        <p:spPr>
          <a:xfrm>
            <a:off x="2382838" y="4724400"/>
            <a:ext cx="167507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marco"/>
          <p:cNvSpPr/>
          <p:nvPr/>
        </p:nvSpPr>
        <p:spPr>
          <a:xfrm>
            <a:off x="4057915" y="4461933"/>
            <a:ext cx="1135989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orde bottom"/>
          <p:cNvSpPr/>
          <p:nvPr/>
        </p:nvSpPr>
        <p:spPr>
          <a:xfrm>
            <a:off x="4057915" y="4724400"/>
            <a:ext cx="1135989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arco"/>
          <p:cNvSpPr/>
          <p:nvPr/>
        </p:nvSpPr>
        <p:spPr>
          <a:xfrm>
            <a:off x="5193903" y="4461933"/>
            <a:ext cx="2068512" cy="2709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orde bottom"/>
          <p:cNvSpPr/>
          <p:nvPr/>
        </p:nvSpPr>
        <p:spPr>
          <a:xfrm>
            <a:off x="5193903" y="4724400"/>
            <a:ext cx="2068512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marco"/>
          <p:cNvSpPr/>
          <p:nvPr/>
        </p:nvSpPr>
        <p:spPr>
          <a:xfrm>
            <a:off x="609600" y="4732867"/>
            <a:ext cx="177323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borde top"/>
          <p:cNvSpPr/>
          <p:nvPr/>
        </p:nvSpPr>
        <p:spPr>
          <a:xfrm>
            <a:off x="609600" y="4732867"/>
            <a:ext cx="177323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arco"/>
          <p:cNvSpPr/>
          <p:nvPr/>
        </p:nvSpPr>
        <p:spPr>
          <a:xfrm>
            <a:off x="2382838" y="4732867"/>
            <a:ext cx="1675077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orde top"/>
          <p:cNvSpPr/>
          <p:nvPr/>
        </p:nvSpPr>
        <p:spPr>
          <a:xfrm>
            <a:off x="2382838" y="4732867"/>
            <a:ext cx="1675077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marco"/>
          <p:cNvSpPr/>
          <p:nvPr/>
        </p:nvSpPr>
        <p:spPr>
          <a:xfrm>
            <a:off x="4057915" y="4732867"/>
            <a:ext cx="113598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borde top"/>
          <p:cNvSpPr/>
          <p:nvPr/>
        </p:nvSpPr>
        <p:spPr>
          <a:xfrm>
            <a:off x="4057915" y="4732867"/>
            <a:ext cx="1135989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arco"/>
          <p:cNvSpPr/>
          <p:nvPr/>
        </p:nvSpPr>
        <p:spPr>
          <a:xfrm>
            <a:off x="5193903" y="4732867"/>
            <a:ext cx="2068512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borde top"/>
          <p:cNvSpPr/>
          <p:nvPr/>
        </p:nvSpPr>
        <p:spPr>
          <a:xfrm>
            <a:off x="5193903" y="4732867"/>
            <a:ext cx="2068512" cy="8467"/>
          </a:xfrm>
          <a:prstGeom prst="rect">
            <a:avLst/>
          </a:prstGeom>
          <a:solidFill>
            <a:srgbClr val="D9D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aja"/>
          <p:cNvSpPr/>
          <p:nvPr/>
        </p:nvSpPr>
        <p:spPr>
          <a:xfrm>
            <a:off x="7668816" y="2662370"/>
            <a:ext cx="3913584" cy="1810411"/>
          </a:xfrm>
          <a:prstGeom prst="roundRect">
            <a:avLst>
              <a:gd name="adj" fmla="val 1870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marco"/>
          <p:cNvSpPr/>
          <p:nvPr/>
        </p:nvSpPr>
        <p:spPr>
          <a:xfrm>
            <a:off x="7905882" y="3119570"/>
            <a:ext cx="3439451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borde bottom"/>
          <p:cNvSpPr/>
          <p:nvPr/>
        </p:nvSpPr>
        <p:spPr>
          <a:xfrm>
            <a:off x="7905882" y="3449770"/>
            <a:ext cx="3439451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marco"/>
          <p:cNvSpPr/>
          <p:nvPr/>
        </p:nvSpPr>
        <p:spPr>
          <a:xfrm>
            <a:off x="7905882" y="3458236"/>
            <a:ext cx="3439451" cy="3386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borde bottom"/>
          <p:cNvSpPr/>
          <p:nvPr/>
        </p:nvSpPr>
        <p:spPr>
          <a:xfrm>
            <a:off x="7905882" y="3788436"/>
            <a:ext cx="3439451" cy="8467"/>
          </a:xfrm>
          <a:prstGeom prst="rect">
            <a:avLst/>
          </a:prstGeom>
          <a:solidFill>
            <a:srgbClr val="C9D9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romedio costos de servicios"/>
          <p:cNvSpPr txBox="1"/>
          <p:nvPr/>
        </p:nvSpPr>
        <p:spPr>
          <a:xfrm>
            <a:off x="609600" y="457120"/>
            <a:ext cx="448362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Promedio costos de servicios</a:t>
            </a:r>
          </a:p>
        </p:txBody>
      </p:sp>
      <p:sp>
        <p:nvSpPr>
          <p:cNvPr id="75" name="CONSTRUCCIÓN DEL TICKET PROMEDIO"/>
          <p:cNvSpPr txBox="1"/>
          <p:nvPr/>
        </p:nvSpPr>
        <p:spPr>
          <a:xfrm>
            <a:off x="609600" y="866330"/>
            <a:ext cx="4483629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CONSTRUCCIÓN DEL TICKET PROMEDIO</a:t>
            </a:r>
          </a:p>
        </p:txBody>
      </p:sp>
      <p:sp>
        <p:nvSpPr>
          <p:cNvPr id="76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77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78" name="SERVICIO"/>
          <p:cNvSpPr txBox="1"/>
          <p:nvPr/>
        </p:nvSpPr>
        <p:spPr>
          <a:xfrm>
            <a:off x="694267" y="2935897"/>
            <a:ext cx="1620838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SERVICIO</a:t>
            </a:r>
          </a:p>
        </p:txBody>
      </p:sp>
      <p:sp>
        <p:nvSpPr>
          <p:cNvPr id="79" name="RANGO DE MERCADO (ARS)"/>
          <p:cNvSpPr txBox="1"/>
          <p:nvPr/>
        </p:nvSpPr>
        <p:spPr>
          <a:xfrm>
            <a:off x="2450571" y="2935897"/>
            <a:ext cx="1522677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RANGO DE MERCADO (ARS)</a:t>
            </a:r>
          </a:p>
        </p:txBody>
      </p:sp>
      <p:sp>
        <p:nvSpPr>
          <p:cNvPr id="80" name="ESTIMADO (ARS)"/>
          <p:cNvSpPr txBox="1"/>
          <p:nvPr/>
        </p:nvSpPr>
        <p:spPr>
          <a:xfrm>
            <a:off x="4125648" y="2935897"/>
            <a:ext cx="983589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ESTIMADO (ARS)</a:t>
            </a:r>
          </a:p>
        </p:txBody>
      </p:sp>
      <p:sp>
        <p:nvSpPr>
          <p:cNvPr id="81" name="FUENTE"/>
          <p:cNvSpPr txBox="1"/>
          <p:nvPr/>
        </p:nvSpPr>
        <p:spPr>
          <a:xfrm>
            <a:off x="5278570" y="2935897"/>
            <a:ext cx="1916112" cy="1334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67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FUENTE</a:t>
            </a:r>
          </a:p>
        </p:txBody>
      </p:sp>
      <p:sp>
        <p:nvSpPr>
          <p:cNvPr id="82" name="Electricidad"/>
          <p:cNvSpPr txBox="1"/>
          <p:nvPr/>
        </p:nvSpPr>
        <p:spPr>
          <a:xfrm>
            <a:off x="694267" y="3170405"/>
            <a:ext cx="162083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Electricidad</a:t>
            </a:r>
          </a:p>
        </p:txBody>
      </p:sp>
      <p:sp>
        <p:nvSpPr>
          <p:cNvPr id="83" name="44.526 – 77.489"/>
          <p:cNvSpPr txBox="1"/>
          <p:nvPr/>
        </p:nvSpPr>
        <p:spPr>
          <a:xfrm>
            <a:off x="2450571" y="3171396"/>
            <a:ext cx="15226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44.526 – 77.489</a:t>
            </a:r>
          </a:p>
        </p:txBody>
      </p:sp>
      <p:sp>
        <p:nvSpPr>
          <p:cNvPr id="84" name="85.000"/>
          <p:cNvSpPr txBox="1"/>
          <p:nvPr/>
        </p:nvSpPr>
        <p:spPr>
          <a:xfrm>
            <a:off x="4125648" y="3171396"/>
            <a:ext cx="9835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85.000</a:t>
            </a:r>
          </a:p>
        </p:txBody>
      </p:sp>
      <p:sp>
        <p:nvSpPr>
          <p:cNvPr id="85" name="Home Solution"/>
          <p:cNvSpPr txBox="1"/>
          <p:nvPr/>
        </p:nvSpPr>
        <p:spPr>
          <a:xfrm>
            <a:off x="5278570" y="3169931"/>
            <a:ext cx="1916112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Home Solution</a:t>
            </a:r>
          </a:p>
        </p:txBody>
      </p:sp>
      <p:sp>
        <p:nvSpPr>
          <p:cNvPr id="86" name="Plomería"/>
          <p:cNvSpPr txBox="1"/>
          <p:nvPr/>
        </p:nvSpPr>
        <p:spPr>
          <a:xfrm>
            <a:off x="694267" y="3441338"/>
            <a:ext cx="162083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Plomería</a:t>
            </a:r>
          </a:p>
        </p:txBody>
      </p:sp>
      <p:sp>
        <p:nvSpPr>
          <p:cNvPr id="87" name="41.000 – 59.000"/>
          <p:cNvSpPr txBox="1"/>
          <p:nvPr/>
        </p:nvSpPr>
        <p:spPr>
          <a:xfrm>
            <a:off x="2450571" y="3442330"/>
            <a:ext cx="15226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41.000 – 59.000</a:t>
            </a:r>
          </a:p>
        </p:txBody>
      </p:sp>
      <p:sp>
        <p:nvSpPr>
          <p:cNvPr id="88" name="70.000"/>
          <p:cNvSpPr txBox="1"/>
          <p:nvPr/>
        </p:nvSpPr>
        <p:spPr>
          <a:xfrm>
            <a:off x="4125648" y="3442330"/>
            <a:ext cx="9835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70.000</a:t>
            </a:r>
          </a:p>
        </p:txBody>
      </p:sp>
      <p:sp>
        <p:nvSpPr>
          <p:cNvPr id="89" name="Home Solution"/>
          <p:cNvSpPr txBox="1"/>
          <p:nvPr/>
        </p:nvSpPr>
        <p:spPr>
          <a:xfrm>
            <a:off x="5278570" y="3440864"/>
            <a:ext cx="1916112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Home Solution</a:t>
            </a:r>
          </a:p>
        </p:txBody>
      </p:sp>
      <p:sp>
        <p:nvSpPr>
          <p:cNvPr id="90" name="Gasista"/>
          <p:cNvSpPr txBox="1"/>
          <p:nvPr/>
        </p:nvSpPr>
        <p:spPr>
          <a:xfrm>
            <a:off x="694267" y="3712272"/>
            <a:ext cx="162083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Gasista</a:t>
            </a:r>
          </a:p>
        </p:txBody>
      </p:sp>
      <p:sp>
        <p:nvSpPr>
          <p:cNvPr id="91" name="50.000 – 87.000"/>
          <p:cNvSpPr txBox="1"/>
          <p:nvPr/>
        </p:nvSpPr>
        <p:spPr>
          <a:xfrm>
            <a:off x="2450571" y="3713263"/>
            <a:ext cx="15226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50.000 – 87.000</a:t>
            </a:r>
          </a:p>
        </p:txBody>
      </p:sp>
      <p:sp>
        <p:nvSpPr>
          <p:cNvPr id="92" name="65.000"/>
          <p:cNvSpPr txBox="1"/>
          <p:nvPr/>
        </p:nvSpPr>
        <p:spPr>
          <a:xfrm>
            <a:off x="4125648" y="3713263"/>
            <a:ext cx="9835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65.000</a:t>
            </a:r>
          </a:p>
        </p:txBody>
      </p:sp>
      <p:sp>
        <p:nvSpPr>
          <p:cNvPr id="93" name="Home Solution"/>
          <p:cNvSpPr txBox="1"/>
          <p:nvPr/>
        </p:nvSpPr>
        <p:spPr>
          <a:xfrm>
            <a:off x="5278570" y="3711797"/>
            <a:ext cx="1916112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Home Solution</a:t>
            </a:r>
          </a:p>
        </p:txBody>
      </p:sp>
      <p:sp>
        <p:nvSpPr>
          <p:cNvPr id="94" name="Limpieza"/>
          <p:cNvSpPr txBox="1"/>
          <p:nvPr/>
        </p:nvSpPr>
        <p:spPr>
          <a:xfrm>
            <a:off x="694267" y="3983205"/>
            <a:ext cx="162083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Limpieza</a:t>
            </a:r>
          </a:p>
        </p:txBody>
      </p:sp>
      <p:sp>
        <p:nvSpPr>
          <p:cNvPr id="95" name="4.900 – 6.800"/>
          <p:cNvSpPr txBox="1"/>
          <p:nvPr/>
        </p:nvSpPr>
        <p:spPr>
          <a:xfrm>
            <a:off x="2450571" y="3984196"/>
            <a:ext cx="15226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4.900 – 6.800</a:t>
            </a:r>
          </a:p>
        </p:txBody>
      </p:sp>
      <p:sp>
        <p:nvSpPr>
          <p:cNvPr id="96" name="6.000"/>
          <p:cNvSpPr txBox="1"/>
          <p:nvPr/>
        </p:nvSpPr>
        <p:spPr>
          <a:xfrm>
            <a:off x="4125648" y="3984196"/>
            <a:ext cx="9835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6.000</a:t>
            </a:r>
          </a:p>
        </p:txBody>
      </p:sp>
      <p:sp>
        <p:nvSpPr>
          <p:cNvPr id="97" name="Zolvers"/>
          <p:cNvSpPr txBox="1"/>
          <p:nvPr/>
        </p:nvSpPr>
        <p:spPr>
          <a:xfrm>
            <a:off x="5278570" y="3982731"/>
            <a:ext cx="1916112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Zolvers</a:t>
            </a:r>
          </a:p>
        </p:txBody>
      </p:sp>
      <p:sp>
        <p:nvSpPr>
          <p:cNvPr id="98" name="Pintura (25 m², el promedio)"/>
          <p:cNvSpPr txBox="1"/>
          <p:nvPr/>
        </p:nvSpPr>
        <p:spPr>
          <a:xfrm>
            <a:off x="694267" y="4254138"/>
            <a:ext cx="162083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Pintura (25 m², el promedio)</a:t>
            </a:r>
          </a:p>
        </p:txBody>
      </p:sp>
      <p:sp>
        <p:nvSpPr>
          <p:cNvPr id="99" name="200.000 – 370.000"/>
          <p:cNvSpPr txBox="1"/>
          <p:nvPr/>
        </p:nvSpPr>
        <p:spPr>
          <a:xfrm>
            <a:off x="2450571" y="4255130"/>
            <a:ext cx="15226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200.000 – 370.000</a:t>
            </a:r>
          </a:p>
        </p:txBody>
      </p:sp>
      <p:sp>
        <p:nvSpPr>
          <p:cNvPr id="100" name="300.000"/>
          <p:cNvSpPr txBox="1"/>
          <p:nvPr/>
        </p:nvSpPr>
        <p:spPr>
          <a:xfrm>
            <a:off x="4125648" y="4255130"/>
            <a:ext cx="9835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300.000</a:t>
            </a:r>
          </a:p>
        </p:txBody>
      </p:sp>
      <p:sp>
        <p:nvSpPr>
          <p:cNvPr id="101" name="Home Solution"/>
          <p:cNvSpPr txBox="1"/>
          <p:nvPr/>
        </p:nvSpPr>
        <p:spPr>
          <a:xfrm>
            <a:off x="5278570" y="4253664"/>
            <a:ext cx="1916112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Home Solution</a:t>
            </a:r>
          </a:p>
        </p:txBody>
      </p:sp>
      <p:sp>
        <p:nvSpPr>
          <p:cNvPr id="102" name="Refrigeración"/>
          <p:cNvSpPr txBox="1"/>
          <p:nvPr/>
        </p:nvSpPr>
        <p:spPr>
          <a:xfrm>
            <a:off x="694267" y="4525072"/>
            <a:ext cx="1620838" cy="173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Refrigeración</a:t>
            </a:r>
          </a:p>
        </p:txBody>
      </p:sp>
      <p:sp>
        <p:nvSpPr>
          <p:cNvPr id="103" name="30.000 – 420.000"/>
          <p:cNvSpPr txBox="1"/>
          <p:nvPr/>
        </p:nvSpPr>
        <p:spPr>
          <a:xfrm>
            <a:off x="2450571" y="4526063"/>
            <a:ext cx="1522677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30.000 – 420.000</a:t>
            </a:r>
          </a:p>
        </p:txBody>
      </p:sp>
      <p:sp>
        <p:nvSpPr>
          <p:cNvPr id="104" name="250.000"/>
          <p:cNvSpPr txBox="1"/>
          <p:nvPr/>
        </p:nvSpPr>
        <p:spPr>
          <a:xfrm>
            <a:off x="4125648" y="4526063"/>
            <a:ext cx="983589" cy="174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"/>
                <a:cs typeface="IBM Plex Mono"/>
                <a:ea typeface="IBM Plex Mono"/>
              </a:rPr>
              <a:t>250.000</a:t>
            </a:r>
          </a:p>
        </p:txBody>
      </p:sp>
      <p:sp>
        <p:nvSpPr>
          <p:cNvPr id="105" name="Cámara Argentina de Refrigeración"/>
          <p:cNvSpPr txBox="1"/>
          <p:nvPr/>
        </p:nvSpPr>
        <p:spPr>
          <a:xfrm>
            <a:off x="5278570" y="4524597"/>
            <a:ext cx="1916112" cy="17273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7A879C"/>
                </a:solidFill>
                <a:latin typeface="IBM Plex Sans"/>
                <a:cs typeface="IBM Plex Sans"/>
                <a:ea typeface="IBM Plex Sans"/>
              </a:rPr>
              <a:t>Cámara Argentina de Refrigeración</a:t>
            </a:r>
          </a:p>
        </p:txBody>
      </p:sp>
      <p:sp>
        <p:nvSpPr>
          <p:cNvPr id="106" name="Promedio total"/>
          <p:cNvSpPr txBox="1"/>
          <p:nvPr/>
        </p:nvSpPr>
        <p:spPr>
          <a:xfrm>
            <a:off x="694267" y="4804472"/>
            <a:ext cx="1620838" cy="1689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Promedio total</a:t>
            </a:r>
          </a:p>
        </p:txBody>
      </p:sp>
      <p:sp>
        <p:nvSpPr>
          <p:cNvPr id="107" name="129.333"/>
          <p:cNvSpPr txBox="1"/>
          <p:nvPr/>
        </p:nvSpPr>
        <p:spPr>
          <a:xfrm>
            <a:off x="4125648" y="4805463"/>
            <a:ext cx="983589" cy="169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3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129.333</a:t>
            </a:r>
          </a:p>
        </p:txBody>
      </p:sp>
      <p:sp>
        <p:nvSpPr>
          <p:cNvPr id="108" name="CONVERSIÓN A DÓLARES"/>
          <p:cNvSpPr txBox="1"/>
          <p:nvPr/>
        </p:nvSpPr>
        <p:spPr>
          <a:xfrm>
            <a:off x="7905882" y="2885233"/>
            <a:ext cx="345638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CONVERSIÓN A DÓLARES</a:t>
            </a:r>
          </a:p>
        </p:txBody>
      </p:sp>
      <p:sp>
        <p:nvSpPr>
          <p:cNvPr id="109" name="Promedio ARS"/>
          <p:cNvSpPr txBox="1"/>
          <p:nvPr/>
        </p:nvSpPr>
        <p:spPr>
          <a:xfrm>
            <a:off x="7905882" y="3210006"/>
            <a:ext cx="833305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Promedio ARS</a:t>
            </a:r>
          </a:p>
        </p:txBody>
      </p:sp>
      <p:sp>
        <p:nvSpPr>
          <p:cNvPr id="110" name="129.333"/>
          <p:cNvSpPr txBox="1"/>
          <p:nvPr/>
        </p:nvSpPr>
        <p:spPr>
          <a:xfrm>
            <a:off x="10811933" y="3211765"/>
            <a:ext cx="550333" cy="193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129.333</a:t>
            </a:r>
          </a:p>
        </p:txBody>
      </p:sp>
      <p:sp>
        <p:nvSpPr>
          <p:cNvPr id="111" name="Tipo de cambio"/>
          <p:cNvSpPr txBox="1"/>
          <p:nvPr/>
        </p:nvSpPr>
        <p:spPr>
          <a:xfrm>
            <a:off x="7905882" y="3548673"/>
            <a:ext cx="888603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Tipo de cambio</a:t>
            </a:r>
          </a:p>
        </p:txBody>
      </p:sp>
      <p:sp>
        <p:nvSpPr>
          <p:cNvPr id="112" name="1.450"/>
          <p:cNvSpPr txBox="1"/>
          <p:nvPr/>
        </p:nvSpPr>
        <p:spPr>
          <a:xfrm>
            <a:off x="10964333" y="3550432"/>
            <a:ext cx="397933" cy="1937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0D1520"/>
                </a:solidFill>
                <a:latin typeface="IBM Plex Mono SemiBold"/>
                <a:cs typeface="IBM Plex Mono SemiBold"/>
                <a:ea typeface="IBM Plex Mono SemiBold"/>
              </a:rPr>
              <a:t>1.450</a:t>
            </a:r>
          </a:p>
        </p:txBody>
      </p:sp>
      <p:sp>
        <p:nvSpPr>
          <p:cNvPr id="113" name="Ticket promedio"/>
          <p:cNvSpPr txBox="1"/>
          <p:nvPr/>
        </p:nvSpPr>
        <p:spPr>
          <a:xfrm>
            <a:off x="7905882" y="4090540"/>
            <a:ext cx="942181" cy="1920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Ticket promedio</a:t>
            </a:r>
          </a:p>
        </p:txBody>
      </p:sp>
      <p:sp>
        <p:nvSpPr>
          <p:cNvPr id="114" name="USD 89"/>
          <p:cNvSpPr txBox="1"/>
          <p:nvPr/>
        </p:nvSpPr>
        <p:spPr>
          <a:xfrm>
            <a:off x="10064485" y="3979299"/>
            <a:ext cx="1297781" cy="3926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930" spc="-11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USD 89</a:t>
            </a:r>
          </a:p>
        </p:txBody>
      </p:sp>
      <p:sp>
        <p:nvSpPr>
          <p:cNvPr id="115" name="Promedio de los seis servicios relev"/>
          <p:cNvSpPr txBox="1"/>
          <p:nvPr/>
        </p:nvSpPr>
        <p:spPr>
          <a:xfrm>
            <a:off x="7668816" y="4655293"/>
            <a:ext cx="3913584" cy="57409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Promedio de los seis servicios relevados, sobre precios reales de mercado, </a:t>
            </a:r>
            <a:r>
              <a:rPr b="0" i="0" sz="10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sin inflar valores</a:t>
            </a: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 El modelo no depende de subir precios sino de volumen y recurrencia.</a:t>
            </a:r>
          </a:p>
        </p:txBody>
      </p:sp>
      <p:sp>
        <p:nvSpPr>
          <p:cNvPr id="116" name="5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2048933" y="281900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grafico" descr="57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79870"/>
            <a:ext cx="287867" cy="287867"/>
          </a:xfrm>
          <a:prstGeom prst="rect">
            <a:avLst/>
          </a:prstGeom>
          <a:effectLst/>
        </p:spPr>
      </p:pic>
      <p:sp>
        <p:nvSpPr>
          <p:cNvPr id="8" name="caja"/>
          <p:cNvSpPr/>
          <p:nvPr/>
        </p:nvSpPr>
        <p:spPr>
          <a:xfrm>
            <a:off x="4351867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5791200" y="2926953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grafico" descr="57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67" y="3087820"/>
            <a:ext cx="287867" cy="287867"/>
          </a:xfrm>
          <a:prstGeom prst="rect">
            <a:avLst/>
          </a:prstGeom>
          <a:effectLst/>
        </p:spPr>
      </p:pic>
      <p:sp>
        <p:nvSpPr>
          <p:cNvPr id="11" name="caja"/>
          <p:cNvSpPr/>
          <p:nvPr/>
        </p:nvSpPr>
        <p:spPr>
          <a:xfrm>
            <a:off x="8094133" y="1456267"/>
            <a:ext cx="3488267" cy="4809067"/>
          </a:xfrm>
          <a:prstGeom prst="roundRect">
            <a:avLst>
              <a:gd name="adj" fmla="val 145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9533467" y="303186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grafico" descr="57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333" y="3192727"/>
            <a:ext cx="287867" cy="287867"/>
          </a:xfrm>
          <a:prstGeom prst="rect">
            <a:avLst/>
          </a:prstGeom>
          <a:effectLst/>
        </p:spPr>
      </p:pic>
      <p:sp>
        <p:nvSpPr>
          <p:cNvPr id="14" name="KPIs Críticos"/>
          <p:cNvSpPr txBox="1"/>
          <p:nvPr/>
        </p:nvSpPr>
        <p:spPr>
          <a:xfrm>
            <a:off x="609600" y="469114"/>
            <a:ext cx="2931451" cy="5283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729" spc="-105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KPIs Críticos</a:t>
            </a:r>
          </a:p>
        </p:txBody>
      </p:sp>
      <p:sp>
        <p:nvSpPr>
          <p:cNvPr id="15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6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7" name="TASA DE CONVERSIÓN A CONTRATACIÓN"/>
          <p:cNvSpPr txBox="1"/>
          <p:nvPr/>
        </p:nvSpPr>
        <p:spPr>
          <a:xfrm>
            <a:off x="922867" y="3650210"/>
            <a:ext cx="2861733" cy="4438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13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TASA DE CONVERSIÓN A CONTRATACIÓN</a:t>
            </a:r>
          </a:p>
        </p:txBody>
      </p:sp>
      <p:sp>
        <p:nvSpPr>
          <p:cNvPr id="18" name="Mide qué porcentaje de las solicitud"/>
          <p:cNvSpPr txBox="1"/>
          <p:nvPr/>
        </p:nvSpPr>
        <p:spPr>
          <a:xfrm>
            <a:off x="922867" y="4248172"/>
            <a:ext cx="2861733" cy="666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Mide qué porcentaje de las solicitudes realizadas termina en un servicio efectivamente contratado.</a:t>
            </a:r>
          </a:p>
        </p:txBody>
      </p:sp>
      <p:sp>
        <p:nvSpPr>
          <p:cNvPr id="19" name="TIEMPO PROMEDIO DE RESPUESTA"/>
          <p:cNvSpPr txBox="1"/>
          <p:nvPr/>
        </p:nvSpPr>
        <p:spPr>
          <a:xfrm>
            <a:off x="4665133" y="3758160"/>
            <a:ext cx="2861733" cy="44382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13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TIEMPO PROMEDIO DE RESPUESTA</a:t>
            </a:r>
          </a:p>
        </p:txBody>
      </p:sp>
      <p:sp>
        <p:nvSpPr>
          <p:cNvPr id="20" name="Mide cuánto tarda OFIX en conectar u"/>
          <p:cNvSpPr txBox="1"/>
          <p:nvPr/>
        </p:nvSpPr>
        <p:spPr>
          <a:xfrm>
            <a:off x="4665133" y="4356122"/>
            <a:ext cx="2861733" cy="450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Mide cuánto tarda OFIX en conectar una solicitud con un trabajador disponible.</a:t>
            </a:r>
          </a:p>
        </p:txBody>
      </p:sp>
      <p:sp>
        <p:nvSpPr>
          <p:cNvPr id="21" name="TASA DE RECURRENCIA"/>
          <p:cNvSpPr txBox="1"/>
          <p:nvPr/>
        </p:nvSpPr>
        <p:spPr>
          <a:xfrm>
            <a:off x="8754401" y="3863067"/>
            <a:ext cx="2167731" cy="2338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13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TASA DE RECURRENCIA</a:t>
            </a:r>
          </a:p>
        </p:txBody>
      </p:sp>
      <p:sp>
        <p:nvSpPr>
          <p:cNvPr id="22" name="Mide qué porcentaje de clientes vuel"/>
          <p:cNvSpPr txBox="1"/>
          <p:nvPr/>
        </p:nvSpPr>
        <p:spPr>
          <a:xfrm>
            <a:off x="8407400" y="4251082"/>
            <a:ext cx="2861733" cy="450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Mide qué porcentaje de clientes vuelve a contratar un servicio a través de OFIX.</a:t>
            </a:r>
          </a:p>
        </p:txBody>
      </p:sp>
      <p:sp>
        <p:nvSpPr>
          <p:cNvPr id="23" name="5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5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5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58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USUARIOS"/>
          <p:cNvSpPr txBox="1"/>
          <p:nvPr/>
        </p:nvSpPr>
        <p:spPr>
          <a:xfrm>
            <a:off x="609600" y="457120"/>
            <a:ext cx="332991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MVP USUARIOS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3329914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Recorrido navegable del prototipo · hogares y pymes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3" name="INICIO"/>
          <p:cNvSpPr txBox="1"/>
          <p:nvPr/>
        </p:nvSpPr>
        <p:spPr>
          <a:xfrm>
            <a:off x="169333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INICIO</a:t>
            </a:r>
          </a:p>
        </p:txBody>
      </p:sp>
      <p:sp>
        <p:nvSpPr>
          <p:cNvPr id="14" name="MIS SOLICITUDES"/>
          <p:cNvSpPr txBox="1"/>
          <p:nvPr/>
        </p:nvSpPr>
        <p:spPr>
          <a:xfrm>
            <a:off x="4176845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MIS SOLICITUDES</a:t>
            </a:r>
          </a:p>
        </p:txBody>
      </p:sp>
      <p:sp>
        <p:nvSpPr>
          <p:cNvPr id="15" name="PANEL PYME"/>
          <p:cNvSpPr txBox="1"/>
          <p:nvPr/>
        </p:nvSpPr>
        <p:spPr>
          <a:xfrm>
            <a:off x="8184356" y="2318893"/>
            <a:ext cx="385524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PANEL PYME</a:t>
            </a:r>
          </a:p>
        </p:txBody>
      </p:sp>
      <p:sp>
        <p:nvSpPr>
          <p:cNvPr id="16" name="5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59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59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59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USUARIOS"/>
          <p:cNvSpPr txBox="1"/>
          <p:nvPr/>
        </p:nvSpPr>
        <p:spPr>
          <a:xfrm>
            <a:off x="609600" y="457120"/>
            <a:ext cx="332991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MVP USUARIOS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3329914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Recorrido navegable del prototipo · hogares y pymes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3" name="MANTENIMIENTO RECURRENTE"/>
          <p:cNvSpPr txBox="1"/>
          <p:nvPr/>
        </p:nvSpPr>
        <p:spPr>
          <a:xfrm>
            <a:off x="169333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MANTENIMIENTO RECURRENTE</a:t>
            </a:r>
          </a:p>
        </p:txBody>
      </p:sp>
      <p:sp>
        <p:nvSpPr>
          <p:cNvPr id="14" name="AGENDA"/>
          <p:cNvSpPr txBox="1"/>
          <p:nvPr/>
        </p:nvSpPr>
        <p:spPr>
          <a:xfrm>
            <a:off x="4176845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AGENDA</a:t>
            </a:r>
          </a:p>
        </p:txBody>
      </p:sp>
      <p:sp>
        <p:nvSpPr>
          <p:cNvPr id="15" name="MENSAJES"/>
          <p:cNvSpPr txBox="1"/>
          <p:nvPr/>
        </p:nvSpPr>
        <p:spPr>
          <a:xfrm>
            <a:off x="8184356" y="2318893"/>
            <a:ext cx="385524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MENSAJES</a:t>
            </a:r>
          </a:p>
        </p:txBody>
      </p:sp>
      <p:sp>
        <p:nvSpPr>
          <p:cNvPr id="16" name="5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60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60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PROFESIONALES"/>
          <p:cNvSpPr txBox="1"/>
          <p:nvPr/>
        </p:nvSpPr>
        <p:spPr>
          <a:xfrm>
            <a:off x="609600" y="457120"/>
            <a:ext cx="355216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MVP PROFESIONALES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3552164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Recorrido navegable del prototipo · trabajador de oficio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3" name="INICIO"/>
          <p:cNvSpPr txBox="1"/>
          <p:nvPr/>
        </p:nvSpPr>
        <p:spPr>
          <a:xfrm>
            <a:off x="169333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INICIO</a:t>
            </a:r>
          </a:p>
        </p:txBody>
      </p:sp>
      <p:sp>
        <p:nvSpPr>
          <p:cNvPr id="14" name="BUSCAR TRABAJOS"/>
          <p:cNvSpPr txBox="1"/>
          <p:nvPr/>
        </p:nvSpPr>
        <p:spPr>
          <a:xfrm>
            <a:off x="4176845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BUSCAR TRABAJOS</a:t>
            </a:r>
          </a:p>
        </p:txBody>
      </p:sp>
      <p:sp>
        <p:nvSpPr>
          <p:cNvPr id="15" name="VERIFICACIÓN"/>
          <p:cNvSpPr txBox="1"/>
          <p:nvPr/>
        </p:nvSpPr>
        <p:spPr>
          <a:xfrm>
            <a:off x="8184356" y="2318893"/>
            <a:ext cx="385524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VERIFICACIÓN</a:t>
            </a:r>
          </a:p>
        </p:txBody>
      </p:sp>
      <p:sp>
        <p:nvSpPr>
          <p:cNvPr id="16" name="5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3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6" name="captura" descr="6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845" y="2536296"/>
            <a:ext cx="3838178" cy="3004344"/>
          </a:xfrm>
          <a:prstGeom prst="rect">
            <a:avLst/>
          </a:prstGeom>
          <a:effectLst/>
        </p:spPr>
      </p:pic>
      <p:pic>
        <p:nvPicPr>
          <p:cNvPr id="7" name="captura" descr="61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356" y="2536296"/>
            <a:ext cx="3838310" cy="3004476"/>
          </a:xfrm>
          <a:prstGeom prst="rect">
            <a:avLst/>
          </a:prstGeom>
          <a:effectLst/>
        </p:spPr>
      </p:pic>
      <p:sp>
        <p:nvSpPr>
          <p:cNvPr id="8" name="MVP PROFESIONALES"/>
          <p:cNvSpPr txBox="1"/>
          <p:nvPr/>
        </p:nvSpPr>
        <p:spPr>
          <a:xfrm>
            <a:off x="609600" y="457120"/>
            <a:ext cx="3552164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MVP PROFESIONALES</a:t>
            </a:r>
          </a:p>
        </p:txBody>
      </p:sp>
      <p:sp>
        <p:nvSpPr>
          <p:cNvPr id="9" name="Recorrido navegable del prototipo · "/>
          <p:cNvSpPr txBox="1"/>
          <p:nvPr/>
        </p:nvSpPr>
        <p:spPr>
          <a:xfrm>
            <a:off x="609600" y="844871"/>
            <a:ext cx="3552164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Recorrido navegable del prototipo · trabajador de oficio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3" name="COBROS"/>
          <p:cNvSpPr txBox="1"/>
          <p:nvPr/>
        </p:nvSpPr>
        <p:spPr>
          <a:xfrm>
            <a:off x="169333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COBROS</a:t>
            </a:r>
          </a:p>
        </p:txBody>
      </p:sp>
      <p:sp>
        <p:nvSpPr>
          <p:cNvPr id="14" name="ESTADÍSTICAS"/>
          <p:cNvSpPr txBox="1"/>
          <p:nvPr/>
        </p:nvSpPr>
        <p:spPr>
          <a:xfrm>
            <a:off x="4176845" y="2318893"/>
            <a:ext cx="3855111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ESTADÍSTICAS</a:t>
            </a:r>
          </a:p>
        </p:txBody>
      </p:sp>
      <p:sp>
        <p:nvSpPr>
          <p:cNvPr id="15" name="MI PERFIL"/>
          <p:cNvSpPr txBox="1"/>
          <p:nvPr/>
        </p:nvSpPr>
        <p:spPr>
          <a:xfrm>
            <a:off x="8184356" y="2318893"/>
            <a:ext cx="3855244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MI PERFIL</a:t>
            </a:r>
          </a:p>
        </p:txBody>
      </p:sp>
      <p:sp>
        <p:nvSpPr>
          <p:cNvPr id="16" name="6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395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6" name="captura" descr="62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661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7" name="captura" descr="62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928" y="1608667"/>
            <a:ext cx="2030677" cy="3589867"/>
          </a:xfrm>
          <a:prstGeom prst="rect">
            <a:avLst/>
          </a:prstGeom>
          <a:effectLst/>
        </p:spPr>
      </p:pic>
      <p:sp>
        <p:nvSpPr>
          <p:cNvPr id="8" name="¿Los usuarios usarían un celular?"/>
          <p:cNvSpPr txBox="1"/>
          <p:nvPr/>
        </p:nvSpPr>
        <p:spPr>
          <a:xfrm>
            <a:off x="609600" y="457120"/>
            <a:ext cx="514402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¿Los usuarios usarían un celular?</a:t>
            </a:r>
          </a:p>
        </p:txBody>
      </p:sp>
      <p:sp>
        <p:nvSpPr>
          <p:cNvPr id="9" name="Evidencia: la demanda y la oferta ya"/>
          <p:cNvSpPr txBox="1"/>
          <p:nvPr/>
        </p:nvSpPr>
        <p:spPr>
          <a:xfrm>
            <a:off x="609600" y="844871"/>
            <a:ext cx="5144029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Evidencia: la demanda y la oferta ya se buscan por el celular, en grupos informales</a:t>
            </a:r>
          </a:p>
        </p:txBody>
      </p:sp>
      <p:sp>
        <p:nvSpPr>
          <p:cNvPr id="10" name="1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1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3" name="6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pic>
        <p:nvPicPr>
          <p:cNvPr id="5" name="captura" descr="6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961" y="1608667"/>
            <a:ext cx="2030677" cy="3589867"/>
          </a:xfrm>
          <a:prstGeom prst="rect">
            <a:avLst/>
          </a:prstGeom>
          <a:effectLst/>
        </p:spPr>
      </p:pic>
      <p:pic>
        <p:nvPicPr>
          <p:cNvPr id="6" name="captura" descr="6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361" y="1608667"/>
            <a:ext cx="2030677" cy="3589867"/>
          </a:xfrm>
          <a:prstGeom prst="rect">
            <a:avLst/>
          </a:prstGeom>
          <a:effectLst/>
        </p:spPr>
      </p:pic>
      <p:sp>
        <p:nvSpPr>
          <p:cNvPr id="7" name="caja"/>
          <p:cNvSpPr/>
          <p:nvPr/>
        </p:nvSpPr>
        <p:spPr>
          <a:xfrm>
            <a:off x="609600" y="5601758"/>
            <a:ext cx="10972800" cy="663575"/>
          </a:xfrm>
          <a:prstGeom prst="roundRect">
            <a:avLst>
              <a:gd name="adj" fmla="val 5103"/>
            </a:avLst>
          </a:prstGeom>
          <a:solidFill>
            <a:srgbClr val="FA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¿Los usuarios usarían un celular?"/>
          <p:cNvSpPr txBox="1"/>
          <p:nvPr/>
        </p:nvSpPr>
        <p:spPr>
          <a:xfrm>
            <a:off x="609600" y="457120"/>
            <a:ext cx="5144029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¿Los usuarios usarían un celular?</a:t>
            </a:r>
          </a:p>
        </p:txBody>
      </p:sp>
      <p:sp>
        <p:nvSpPr>
          <p:cNvPr id="9" name="Evidencia: la demanda y la oferta ya"/>
          <p:cNvSpPr txBox="1"/>
          <p:nvPr/>
        </p:nvSpPr>
        <p:spPr>
          <a:xfrm>
            <a:off x="609600" y="844871"/>
            <a:ext cx="5144029" cy="188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 spc="-14">
                <a:solidFill>
                  <a:srgbClr val="4E5C73"/>
                </a:solidFill>
                <a:latin typeface="Archivo Medium"/>
                <a:cs typeface="Archivo Medium"/>
                <a:ea typeface="Archivo Medium"/>
              </a:rPr>
              <a:t>Evidencia: la demanda y la oferta ya se buscan por el celular, en grupos informales</a:t>
            </a:r>
          </a:p>
        </p:txBody>
      </p:sp>
      <p:sp>
        <p:nvSpPr>
          <p:cNvPr id="10" name="2 / 2"/>
          <p:cNvSpPr txBox="1"/>
          <p:nvPr/>
        </p:nvSpPr>
        <p:spPr>
          <a:xfrm>
            <a:off x="9629114" y="449880"/>
            <a:ext cx="361553" cy="15125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10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2 / 2</a:t>
            </a:r>
          </a:p>
        </p:txBody>
      </p:sp>
      <p:sp>
        <p:nvSpPr>
          <p:cNvPr id="1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3" name="El comportamiento ya existe: publica"/>
          <p:cNvSpPr txBox="1"/>
          <p:nvPr/>
        </p:nvSpPr>
        <p:spPr>
          <a:xfrm>
            <a:off x="812800" y="5743944"/>
            <a:ext cx="10566400" cy="42476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comportamiento ya existe: publican, buscan y se recomiendan desde el celular en grupos de Facebook y WhatsApp. </a:t>
            </a:r>
            <a:r>
              <a:rPr b="0" i="0" sz="107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OFIX no tiene que crear el hábito, tiene que estructurarlo.</a:t>
            </a:r>
          </a:p>
        </p:txBody>
      </p:sp>
      <p:sp>
        <p:nvSpPr>
          <p:cNvPr id="14" name="6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grafico" descr="1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FFFFFF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5" name="PREGUNTASPOSIBLES"/>
          <p:cNvSpPr txBox="1"/>
          <p:nvPr/>
        </p:nvSpPr>
        <p:spPr>
          <a:xfrm>
            <a:off x="3526340" y="2624837"/>
            <a:ext cx="5139187" cy="146477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3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730" spc="-258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PREGUNTAS</a:t>
            </a:r>
          </a:p>
          <a:p>
            <a:pPr algn="ctr">
              <a:lnSpc>
                <a:spcPts val="538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5730" spc="-258">
                <a:solidFill>
                  <a:srgbClr val="FFFFFF"/>
                </a:solidFill>
                <a:latin typeface="Archivo Black"/>
                <a:cs typeface="Archivo Black"/>
                <a:ea typeface="Archivo Black"/>
              </a:rPr>
              <a:t>POSIBLES</a:t>
            </a:r>
          </a:p>
        </p:txBody>
      </p:sp>
      <p:sp>
        <p:nvSpPr>
          <p:cNvPr id="6" name="RESPUESTAS PREPARADAS"/>
          <p:cNvSpPr txBox="1"/>
          <p:nvPr/>
        </p:nvSpPr>
        <p:spPr>
          <a:xfrm>
            <a:off x="5148262" y="4165308"/>
            <a:ext cx="1912408" cy="174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 spc="191">
                <a:solidFill>
                  <a:srgbClr val="D97A38"/>
                </a:solidFill>
                <a:latin typeface="IBM Plex Mono SemiBold"/>
                <a:cs typeface="IBM Plex Mono SemiBold"/>
                <a:ea typeface="IBM Plex Mono SemiBold"/>
              </a:rPr>
              <a:t>RESPUESTAS PREPARADAS</a:t>
            </a:r>
          </a:p>
        </p:txBody>
      </p:sp>
      <p:sp>
        <p:nvSpPr>
          <p:cNvPr id="7" name="6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FFFFFF"/>
                </a:solidFill>
                <a:latin typeface="IBM Plex Mono Medium"/>
                <a:cs typeface="IBM Plex Mono Medium"/>
                <a:ea typeface="IBM Plex Mono Medium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167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7167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265333" y="27167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top"/>
          <p:cNvSpPr/>
          <p:nvPr/>
        </p:nvSpPr>
        <p:spPr>
          <a:xfrm>
            <a:off x="6265333" y="27167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2501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2501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265333" y="3250142"/>
            <a:ext cx="5317067" cy="4148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6265333" y="3250142"/>
            <a:ext cx="5317067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09600" y="3986742"/>
            <a:ext cx="3533378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86742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borde right"/>
          <p:cNvSpPr/>
          <p:nvPr/>
        </p:nvSpPr>
        <p:spPr>
          <a:xfrm>
            <a:off x="4134511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bottom"/>
          <p:cNvSpPr/>
          <p:nvPr/>
        </p:nvSpPr>
        <p:spPr>
          <a:xfrm>
            <a:off x="609600" y="5063993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left"/>
          <p:cNvSpPr/>
          <p:nvPr/>
        </p:nvSpPr>
        <p:spPr>
          <a:xfrm>
            <a:off x="609600" y="3986742"/>
            <a:ext cx="25400" cy="108571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4329245" y="3986742"/>
            <a:ext cx="3533378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top"/>
          <p:cNvSpPr/>
          <p:nvPr/>
        </p:nvSpPr>
        <p:spPr>
          <a:xfrm>
            <a:off x="4329245" y="3986742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right"/>
          <p:cNvSpPr/>
          <p:nvPr/>
        </p:nvSpPr>
        <p:spPr>
          <a:xfrm>
            <a:off x="7854156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bottom"/>
          <p:cNvSpPr/>
          <p:nvPr/>
        </p:nvSpPr>
        <p:spPr>
          <a:xfrm>
            <a:off x="4329245" y="5063993"/>
            <a:ext cx="3533378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left"/>
          <p:cNvSpPr/>
          <p:nvPr/>
        </p:nvSpPr>
        <p:spPr>
          <a:xfrm>
            <a:off x="4329245" y="3986742"/>
            <a:ext cx="25400" cy="1085718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aja"/>
          <p:cNvSpPr/>
          <p:nvPr/>
        </p:nvSpPr>
        <p:spPr>
          <a:xfrm>
            <a:off x="8048890" y="3986742"/>
            <a:ext cx="3533510" cy="108571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top"/>
          <p:cNvSpPr/>
          <p:nvPr/>
        </p:nvSpPr>
        <p:spPr>
          <a:xfrm>
            <a:off x="8048890" y="3986742"/>
            <a:ext cx="353351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borde right"/>
          <p:cNvSpPr/>
          <p:nvPr/>
        </p:nvSpPr>
        <p:spPr>
          <a:xfrm>
            <a:off x="11573933" y="3986742"/>
            <a:ext cx="8467" cy="108571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bottom"/>
          <p:cNvSpPr/>
          <p:nvPr/>
        </p:nvSpPr>
        <p:spPr>
          <a:xfrm>
            <a:off x="8048890" y="5063993"/>
            <a:ext cx="353351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borde left"/>
          <p:cNvSpPr/>
          <p:nvPr/>
        </p:nvSpPr>
        <p:spPr>
          <a:xfrm>
            <a:off x="8048890" y="3986742"/>
            <a:ext cx="25400" cy="1085718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¿Cómo resolvemos los pains principal"/>
          <p:cNvSpPr txBox="1"/>
          <p:nvPr/>
        </p:nvSpPr>
        <p:spPr>
          <a:xfrm>
            <a:off x="609600" y="457120"/>
            <a:ext cx="6032500" cy="6857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¿Cómo resolvemos los pains principales?</a:t>
            </a:r>
          </a:p>
        </p:txBody>
      </p:sp>
      <p:sp>
        <p:nvSpPr>
          <p:cNvPr id="2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3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31" name="Incertidumbre en precios"/>
          <p:cNvSpPr txBox="1"/>
          <p:nvPr/>
        </p:nvSpPr>
        <p:spPr>
          <a:xfrm>
            <a:off x="609600" y="2849986"/>
            <a:ext cx="2463800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Incertidumbre en precios</a:t>
            </a:r>
          </a:p>
        </p:txBody>
      </p:sp>
      <p:sp>
        <p:nvSpPr>
          <p:cNvPr id="32" name="→"/>
          <p:cNvSpPr txBox="1"/>
          <p:nvPr/>
        </p:nvSpPr>
        <p:spPr>
          <a:xfrm>
            <a:off x="3124200" y="2850461"/>
            <a:ext cx="287867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D9DFE9"/>
                </a:solidFill>
                <a:latin typeface="IBM Plex Sans"/>
                <a:cs typeface="IBM Plex Sans"/>
                <a:ea typeface="IBM Plex Sans"/>
              </a:rPr>
              <a:t>→</a:t>
            </a:r>
          </a:p>
        </p:txBody>
      </p:sp>
      <p:sp>
        <p:nvSpPr>
          <p:cNvPr id="33" name="Precios visibles y comparables"/>
          <p:cNvSpPr txBox="1"/>
          <p:nvPr/>
        </p:nvSpPr>
        <p:spPr>
          <a:xfrm>
            <a:off x="3479800" y="2849986"/>
            <a:ext cx="2463800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Precios visibles y comparables</a:t>
            </a:r>
          </a:p>
        </p:txBody>
      </p:sp>
      <p:sp>
        <p:nvSpPr>
          <p:cNvPr id="34" name="Falta de confianza"/>
          <p:cNvSpPr txBox="1"/>
          <p:nvPr/>
        </p:nvSpPr>
        <p:spPr>
          <a:xfrm>
            <a:off x="6265333" y="2849986"/>
            <a:ext cx="2463800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Falta de confianza</a:t>
            </a:r>
          </a:p>
        </p:txBody>
      </p:sp>
      <p:sp>
        <p:nvSpPr>
          <p:cNvPr id="35" name="→"/>
          <p:cNvSpPr txBox="1"/>
          <p:nvPr/>
        </p:nvSpPr>
        <p:spPr>
          <a:xfrm>
            <a:off x="8779933" y="2850461"/>
            <a:ext cx="287867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D9DFE9"/>
                </a:solidFill>
                <a:latin typeface="IBM Plex Sans"/>
                <a:cs typeface="IBM Plex Sans"/>
                <a:ea typeface="IBM Plex Sans"/>
              </a:rPr>
              <a:t>→</a:t>
            </a:r>
          </a:p>
        </p:txBody>
      </p:sp>
      <p:sp>
        <p:nvSpPr>
          <p:cNvPr id="36" name="Verificación y respaldo previsto"/>
          <p:cNvSpPr txBox="1"/>
          <p:nvPr/>
        </p:nvSpPr>
        <p:spPr>
          <a:xfrm>
            <a:off x="9135533" y="2849986"/>
            <a:ext cx="2463800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Verificación y respaldo previsto</a:t>
            </a:r>
          </a:p>
        </p:txBody>
      </p:sp>
      <p:sp>
        <p:nvSpPr>
          <p:cNvPr id="37" name="Mala coordinación"/>
          <p:cNvSpPr txBox="1"/>
          <p:nvPr/>
        </p:nvSpPr>
        <p:spPr>
          <a:xfrm>
            <a:off x="609600" y="3383386"/>
            <a:ext cx="2463800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Mala coordinación</a:t>
            </a:r>
          </a:p>
        </p:txBody>
      </p:sp>
      <p:sp>
        <p:nvSpPr>
          <p:cNvPr id="38" name="→"/>
          <p:cNvSpPr txBox="1"/>
          <p:nvPr/>
        </p:nvSpPr>
        <p:spPr>
          <a:xfrm>
            <a:off x="3124200" y="3383861"/>
            <a:ext cx="287867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D9DFE9"/>
                </a:solidFill>
                <a:latin typeface="IBM Plex Sans"/>
                <a:cs typeface="IBM Plex Sans"/>
                <a:ea typeface="IBM Plex Sans"/>
              </a:rPr>
              <a:t>→</a:t>
            </a:r>
          </a:p>
        </p:txBody>
      </p:sp>
      <p:sp>
        <p:nvSpPr>
          <p:cNvPr id="39" name="Geolocalización y trazabilidad"/>
          <p:cNvSpPr txBox="1"/>
          <p:nvPr/>
        </p:nvSpPr>
        <p:spPr>
          <a:xfrm>
            <a:off x="3479800" y="3383386"/>
            <a:ext cx="2463800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Geolocalización y trazabilidad</a:t>
            </a:r>
          </a:p>
        </p:txBody>
      </p:sp>
      <p:sp>
        <p:nvSpPr>
          <p:cNvPr id="40" name="Reclamos sin respuesta"/>
          <p:cNvSpPr txBox="1"/>
          <p:nvPr/>
        </p:nvSpPr>
        <p:spPr>
          <a:xfrm>
            <a:off x="6265333" y="3383386"/>
            <a:ext cx="2463800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B5561B"/>
                </a:solidFill>
                <a:latin typeface="IBM Plex Sans"/>
                <a:cs typeface="IBM Plex Sans"/>
                <a:ea typeface="IBM Plex Sans"/>
              </a:rPr>
              <a:t>Reclamos sin respuesta</a:t>
            </a:r>
          </a:p>
        </p:txBody>
      </p:sp>
      <p:sp>
        <p:nvSpPr>
          <p:cNvPr id="41" name="→"/>
          <p:cNvSpPr txBox="1"/>
          <p:nvPr/>
        </p:nvSpPr>
        <p:spPr>
          <a:xfrm>
            <a:off x="8779933" y="3383861"/>
            <a:ext cx="287867" cy="20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D9DFE9"/>
                </a:solidFill>
                <a:latin typeface="IBM Plex Sans"/>
                <a:cs typeface="IBM Plex Sans"/>
                <a:ea typeface="IBM Plex Sans"/>
              </a:rPr>
              <a:t>→</a:t>
            </a:r>
          </a:p>
        </p:txBody>
      </p:sp>
      <p:sp>
        <p:nvSpPr>
          <p:cNvPr id="42" name="Soporte y mediación de OFIX"/>
          <p:cNvSpPr txBox="1"/>
          <p:nvPr/>
        </p:nvSpPr>
        <p:spPr>
          <a:xfrm>
            <a:off x="9135533" y="3383386"/>
            <a:ext cx="2463800" cy="200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Soporte y mediación de OFIX</a:t>
            </a:r>
          </a:p>
        </p:txBody>
      </p:sp>
      <p:sp>
        <p:nvSpPr>
          <p:cNvPr id="43" name="El puenteo puede pasar una vez"/>
          <p:cNvSpPr txBox="1"/>
          <p:nvPr/>
        </p:nvSpPr>
        <p:spPr>
          <a:xfrm>
            <a:off x="821267" y="4136256"/>
            <a:ext cx="3143911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El puenteo puede pasar una vez</a:t>
            </a:r>
          </a:p>
        </p:txBody>
      </p:sp>
      <p:sp>
        <p:nvSpPr>
          <p:cNvPr id="44" name="Fuera de la plataforma se pierde el "/>
          <p:cNvSpPr txBox="1"/>
          <p:nvPr/>
        </p:nvSpPr>
        <p:spPr>
          <a:xfrm>
            <a:off x="821267" y="4373884"/>
            <a:ext cx="3126978" cy="55528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Fuera de la plataforma se pierde el seguimiento, la reputación acumulada y los mecanismos de respaldo previstos por OFIX.</a:t>
            </a:r>
          </a:p>
        </p:txBody>
      </p:sp>
      <p:sp>
        <p:nvSpPr>
          <p:cNvPr id="45" name="OFIX agrega valor en cada transacció"/>
          <p:cNvSpPr txBox="1"/>
          <p:nvPr/>
        </p:nvSpPr>
        <p:spPr>
          <a:xfrm>
            <a:off x="4540911" y="4136256"/>
            <a:ext cx="3143911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OFIX agrega valor en cada transacción</a:t>
            </a:r>
          </a:p>
        </p:txBody>
      </p:sp>
      <p:sp>
        <p:nvSpPr>
          <p:cNvPr id="46" name="Precios transparentes, profesionales"/>
          <p:cNvSpPr txBox="1"/>
          <p:nvPr/>
        </p:nvSpPr>
        <p:spPr>
          <a:xfrm>
            <a:off x="4540911" y="4373884"/>
            <a:ext cx="3126978" cy="37735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Precios transparentes, profesionales verificados y seguimiento del servicio.</a:t>
            </a:r>
          </a:p>
        </p:txBody>
      </p:sp>
      <p:sp>
        <p:nvSpPr>
          <p:cNvPr id="47" name="A largo plazo la recurrencia gana"/>
          <p:cNvSpPr txBox="1"/>
          <p:nvPr/>
        </p:nvSpPr>
        <p:spPr>
          <a:xfrm>
            <a:off x="8260556" y="4136256"/>
            <a:ext cx="3144044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A largo plazo la recurrencia gana</a:t>
            </a:r>
          </a:p>
        </p:txBody>
      </p:sp>
      <p:sp>
        <p:nvSpPr>
          <p:cNvPr id="48" name="Usuarios y trabajadores vuelven por "/>
          <p:cNvSpPr txBox="1"/>
          <p:nvPr/>
        </p:nvSpPr>
        <p:spPr>
          <a:xfrm>
            <a:off x="8260556" y="4373884"/>
            <a:ext cx="3127110" cy="37735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Usuarios y trabajadores vuelven por confianza, respaldo y facilidad.</a:t>
            </a:r>
          </a:p>
        </p:txBody>
      </p:sp>
      <p:sp>
        <p:nvSpPr>
          <p:cNvPr id="49" name="6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752196"/>
            <a:ext cx="5317067" cy="158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752196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33109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36157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9205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42253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265333" y="2752196"/>
            <a:ext cx="5317067" cy="15832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6265333" y="2752196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265333" y="33109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265333" y="36157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65333" y="39205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265333" y="42253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09600" y="4555596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¿Qué aprendemos del modelo de Iguana"/>
          <p:cNvSpPr txBox="1"/>
          <p:nvPr/>
        </p:nvSpPr>
        <p:spPr>
          <a:xfrm>
            <a:off x="609600" y="444251"/>
            <a:ext cx="6032500" cy="7241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¿Qué aprendemos del modelo de IguanaFix?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1" name="MODELO OBSERVADO"/>
          <p:cNvSpPr txBox="1"/>
          <p:nvPr/>
        </p:nvSpPr>
        <p:spPr>
          <a:xfrm>
            <a:off x="609600" y="2966593"/>
            <a:ext cx="53340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MODELO OBSERVADO</a:t>
            </a:r>
          </a:p>
        </p:txBody>
      </p:sp>
      <p:sp>
        <p:nvSpPr>
          <p:cNvPr id="22" name="Modelo más centralizado, con fuerte "/>
          <p:cNvSpPr txBox="1"/>
          <p:nvPr/>
        </p:nvSpPr>
        <p:spPr>
          <a:xfrm>
            <a:off x="753533" y="3241633"/>
            <a:ext cx="3219450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Modelo más centralizado, con fuerte control operativo.</a:t>
            </a:r>
          </a:p>
        </p:txBody>
      </p:sp>
      <p:sp>
        <p:nvSpPr>
          <p:cNvPr id="23" name="Asignación de trabajos menos dinámic"/>
          <p:cNvSpPr txBox="1"/>
          <p:nvPr/>
        </p:nvSpPr>
        <p:spPr>
          <a:xfrm>
            <a:off x="753533" y="3546433"/>
            <a:ext cx="3963326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Asignación de trabajos menos dinámica y poco basada en cercanía.</a:t>
            </a:r>
          </a:p>
        </p:txBody>
      </p:sp>
      <p:sp>
        <p:nvSpPr>
          <p:cNvPr id="24" name="Foco principalmente en hogares, con "/>
          <p:cNvSpPr txBox="1"/>
          <p:nvPr/>
        </p:nvSpPr>
        <p:spPr>
          <a:xfrm>
            <a:off x="753533" y="3851233"/>
            <a:ext cx="333255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Foco principalmente en hogares, con menor recurrencia.</a:t>
            </a:r>
          </a:p>
        </p:txBody>
      </p:sp>
      <p:sp>
        <p:nvSpPr>
          <p:cNvPr id="25" name="Experiencia del usuario no integrada"/>
          <p:cNvSpPr txBox="1"/>
          <p:nvPr/>
        </p:nvSpPr>
        <p:spPr>
          <a:xfrm>
            <a:off x="753533" y="4156033"/>
            <a:ext cx="3572272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Experiencia del usuario no integrada en una sola plataforma.</a:t>
            </a:r>
          </a:p>
        </p:txBody>
      </p:sp>
      <p:sp>
        <p:nvSpPr>
          <p:cNvPr id="26" name="DECISIÓN DE DISEÑO DE OFIX"/>
          <p:cNvSpPr txBox="1"/>
          <p:nvPr/>
        </p:nvSpPr>
        <p:spPr>
          <a:xfrm>
            <a:off x="6265333" y="2966593"/>
            <a:ext cx="53340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DECISIÓN DE DISEÑO DE OFIX</a:t>
            </a:r>
          </a:p>
        </p:txBody>
      </p:sp>
      <p:sp>
        <p:nvSpPr>
          <p:cNvPr id="27" name="Nace como plataforma transaccional, "/>
          <p:cNvSpPr txBox="1"/>
          <p:nvPr/>
        </p:nvSpPr>
        <p:spPr>
          <a:xfrm>
            <a:off x="6409267" y="3241633"/>
            <a:ext cx="4079346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Nace como plataforma transaccional, no como operador de servicios.</a:t>
            </a:r>
          </a:p>
        </p:txBody>
      </p:sp>
      <p:sp>
        <p:nvSpPr>
          <p:cNvPr id="28" name="La asignación se apoya en geolocaliz"/>
          <p:cNvSpPr txBox="1"/>
          <p:nvPr/>
        </p:nvSpPr>
        <p:spPr>
          <a:xfrm>
            <a:off x="6409267" y="3546433"/>
            <a:ext cx="4349882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asignación se apoya en geolocalización y disponibilidad en tiempo real.</a:t>
            </a:r>
          </a:p>
        </p:txBody>
      </p:sp>
      <p:sp>
        <p:nvSpPr>
          <p:cNvPr id="29" name="El foco en pymes gastronómicas gener"/>
          <p:cNvSpPr txBox="1"/>
          <p:nvPr/>
        </p:nvSpPr>
        <p:spPr>
          <a:xfrm>
            <a:off x="6409267" y="3851233"/>
            <a:ext cx="4231878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foco en pymes gastronómicas genera mayor frecuencia y recurrencia.</a:t>
            </a:r>
          </a:p>
        </p:txBody>
      </p:sp>
      <p:sp>
        <p:nvSpPr>
          <p:cNvPr id="30" name="El modelo escala por volumen, sin ne"/>
          <p:cNvSpPr txBox="1"/>
          <p:nvPr/>
        </p:nvSpPr>
        <p:spPr>
          <a:xfrm>
            <a:off x="6409267" y="4156033"/>
            <a:ext cx="4671748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modelo escala por volumen, sin necesidad de crecer en estructura operativa.</a:t>
            </a:r>
          </a:p>
        </p:txBody>
      </p:sp>
      <p:sp>
        <p:nvSpPr>
          <p:cNvPr id="31" name="Nuestro análisis del benchmark orien"/>
          <p:cNvSpPr txBox="1"/>
          <p:nvPr/>
        </p:nvSpPr>
        <p:spPr>
          <a:xfrm>
            <a:off x="829733" y="4731302"/>
            <a:ext cx="10549467" cy="25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Nuestro análisis del benchmark orientó estas decisiones de diseño.</a:t>
            </a:r>
          </a:p>
        </p:txBody>
      </p:sp>
      <p:sp>
        <p:nvSpPr>
          <p:cNvPr id="32" name="6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659062"/>
            <a:ext cx="5317067" cy="1769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659062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32178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35226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827462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arco"/>
          <p:cNvSpPr/>
          <p:nvPr/>
        </p:nvSpPr>
        <p:spPr>
          <a:xfrm>
            <a:off x="6265333" y="2659062"/>
            <a:ext cx="5317067" cy="176953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6265333" y="2659062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aja"/>
          <p:cNvSpPr/>
          <p:nvPr/>
        </p:nvSpPr>
        <p:spPr>
          <a:xfrm>
            <a:off x="6265333" y="32178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6265333" y="35226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265333" y="38274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65333" y="4132262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09600" y="4648729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¿En qué se diferencia OFIX de Zolver"/>
          <p:cNvSpPr txBox="1"/>
          <p:nvPr/>
        </p:nvSpPr>
        <p:spPr>
          <a:xfrm>
            <a:off x="609600" y="444251"/>
            <a:ext cx="5905103" cy="3767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¿En qué se diferencia OFIX de Zolvers?</a:t>
            </a:r>
          </a:p>
        </p:txBody>
      </p:sp>
      <p:sp>
        <p:nvSpPr>
          <p:cNvPr id="18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9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0" name="ZOLVERS"/>
          <p:cNvSpPr txBox="1"/>
          <p:nvPr/>
        </p:nvSpPr>
        <p:spPr>
          <a:xfrm>
            <a:off x="609600" y="2873459"/>
            <a:ext cx="53340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ZOLVERS</a:t>
            </a:r>
          </a:p>
        </p:txBody>
      </p:sp>
      <p:sp>
        <p:nvSpPr>
          <p:cNvPr id="21" name="Opera principalmente como intermedia"/>
          <p:cNvSpPr txBox="1"/>
          <p:nvPr/>
        </p:nvSpPr>
        <p:spPr>
          <a:xfrm>
            <a:off x="753533" y="3148500"/>
            <a:ext cx="394731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Opera principalmente como intermediario o directorio de servicios.</a:t>
            </a:r>
          </a:p>
        </p:txBody>
      </p:sp>
      <p:sp>
        <p:nvSpPr>
          <p:cNvPr id="22" name="La asignación no está optimizada por"/>
          <p:cNvSpPr txBox="1"/>
          <p:nvPr/>
        </p:nvSpPr>
        <p:spPr>
          <a:xfrm>
            <a:off x="753533" y="3453300"/>
            <a:ext cx="2750608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asignación no está optimizada por cercanía.</a:t>
            </a:r>
          </a:p>
        </p:txBody>
      </p:sp>
      <p:sp>
        <p:nvSpPr>
          <p:cNvPr id="23" name="El seguimiento del servicio dentro d"/>
          <p:cNvSpPr txBox="1"/>
          <p:nvPr/>
        </p:nvSpPr>
        <p:spPr>
          <a:xfrm>
            <a:off x="753533" y="3758100"/>
            <a:ext cx="3712633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seguimiento del servicio dentro de la plataforma es limitado.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6265333" y="2873459"/>
            <a:ext cx="53340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OFIX</a:t>
            </a:r>
          </a:p>
        </p:txBody>
      </p:sp>
      <p:sp>
        <p:nvSpPr>
          <p:cNvPr id="25" name="Nace como una plataforma transaccion"/>
          <p:cNvSpPr txBox="1"/>
          <p:nvPr/>
        </p:nvSpPr>
        <p:spPr>
          <a:xfrm>
            <a:off x="6409267" y="3148500"/>
            <a:ext cx="3410347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Nace como una plataforma transaccional desde el diseño.</a:t>
            </a:r>
          </a:p>
        </p:txBody>
      </p:sp>
      <p:sp>
        <p:nvSpPr>
          <p:cNvPr id="26" name="La asignación es por geolocalización"/>
          <p:cNvSpPr txBox="1"/>
          <p:nvPr/>
        </p:nvSpPr>
        <p:spPr>
          <a:xfrm>
            <a:off x="6409267" y="3453300"/>
            <a:ext cx="3136106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asignación es por geolocalización y disponibilidad.</a:t>
            </a:r>
          </a:p>
        </p:txBody>
      </p:sp>
      <p:sp>
        <p:nvSpPr>
          <p:cNvPr id="27" name="Todo el proceso ocurre dentro de la "/>
          <p:cNvSpPr txBox="1"/>
          <p:nvPr/>
        </p:nvSpPr>
        <p:spPr>
          <a:xfrm>
            <a:off x="6409267" y="3758100"/>
            <a:ext cx="461697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Todo el proceso ocurre dentro de la app: chat, reputación, pago y seguimiento.</a:t>
            </a:r>
          </a:p>
        </p:txBody>
      </p:sp>
      <p:sp>
        <p:nvSpPr>
          <p:cNvPr id="28" name="Esto le permite escalar mejor y ofre"/>
          <p:cNvSpPr txBox="1"/>
          <p:nvPr/>
        </p:nvSpPr>
        <p:spPr>
          <a:xfrm>
            <a:off x="6409267" y="4062900"/>
            <a:ext cx="5023379" cy="379371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Esto le permite escalar mejor y ofrecer una experiencia más eficiente para usuarios y profesionales.</a:t>
            </a:r>
          </a:p>
        </p:txBody>
      </p:sp>
      <p:sp>
        <p:nvSpPr>
          <p:cNvPr id="29" name="Zolvers valida que existe demanda; O"/>
          <p:cNvSpPr txBox="1"/>
          <p:nvPr/>
        </p:nvSpPr>
        <p:spPr>
          <a:xfrm>
            <a:off x="829733" y="4824435"/>
            <a:ext cx="10549467" cy="25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Zolvers valida que existe demanda; OFIX prioriza cercanía, seguimiento y pago dentro de la experiencia.</a:t>
            </a:r>
          </a:p>
        </p:txBody>
      </p:sp>
      <p:sp>
        <p:nvSpPr>
          <p:cNvPr id="30" name="6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99796"/>
            <a:ext cx="5317067" cy="18880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599796"/>
            <a:ext cx="5317067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31585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34633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7681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40729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aja"/>
          <p:cNvSpPr/>
          <p:nvPr/>
        </p:nvSpPr>
        <p:spPr>
          <a:xfrm>
            <a:off x="609600" y="4377796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arco"/>
          <p:cNvSpPr/>
          <p:nvPr/>
        </p:nvSpPr>
        <p:spPr>
          <a:xfrm>
            <a:off x="6265333" y="2599796"/>
            <a:ext cx="5317067" cy="188806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top"/>
          <p:cNvSpPr/>
          <p:nvPr/>
        </p:nvSpPr>
        <p:spPr>
          <a:xfrm>
            <a:off x="6265333" y="2599796"/>
            <a:ext cx="5317067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6265333" y="31585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265333" y="34633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caja"/>
          <p:cNvSpPr/>
          <p:nvPr/>
        </p:nvSpPr>
        <p:spPr>
          <a:xfrm>
            <a:off x="6265333" y="37681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aja"/>
          <p:cNvSpPr/>
          <p:nvPr/>
        </p:nvSpPr>
        <p:spPr>
          <a:xfrm>
            <a:off x="6265333" y="40729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6265333" y="4377796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609600" y="4707996"/>
            <a:ext cx="10972800" cy="566208"/>
          </a:xfrm>
          <a:prstGeom prst="roundRect">
            <a:avLst>
              <a:gd name="adj" fmla="val 598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¿Por qué Uruguay y Chile?"/>
          <p:cNvSpPr txBox="1"/>
          <p:nvPr/>
        </p:nvSpPr>
        <p:spPr>
          <a:xfrm>
            <a:off x="609600" y="444251"/>
            <a:ext cx="3969808" cy="3767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¿Por qué Uruguay y Chile?</a:t>
            </a:r>
          </a:p>
        </p:txBody>
      </p:sp>
      <p:sp>
        <p:nvSpPr>
          <p:cNvPr id="21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2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3" name="URUGUAY · VALIDAR PRIMERO"/>
          <p:cNvSpPr txBox="1"/>
          <p:nvPr/>
        </p:nvSpPr>
        <p:spPr>
          <a:xfrm>
            <a:off x="609600" y="2814193"/>
            <a:ext cx="53340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URUGUAY · VALIDAR PRIMERO</a:t>
            </a:r>
          </a:p>
        </p:txBody>
      </p:sp>
      <p:sp>
        <p:nvSpPr>
          <p:cNvPr id="24" name="Similitud cultural y operativa con A"/>
          <p:cNvSpPr txBox="1"/>
          <p:nvPr/>
        </p:nvSpPr>
        <p:spPr>
          <a:xfrm>
            <a:off x="753533" y="3089233"/>
            <a:ext cx="2578365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Similitud cultural y operativa con Argentina.</a:t>
            </a:r>
          </a:p>
        </p:txBody>
      </p:sp>
      <p:sp>
        <p:nvSpPr>
          <p:cNvPr id="25" name="Mercado chico → bajo riesgo y rápida"/>
          <p:cNvSpPr txBox="1"/>
          <p:nvPr/>
        </p:nvSpPr>
        <p:spPr>
          <a:xfrm>
            <a:off x="753533" y="3394033"/>
            <a:ext cx="285339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chico → bajo riesgo y rápida validación.</a:t>
            </a:r>
          </a:p>
        </p:txBody>
      </p:sp>
      <p:sp>
        <p:nvSpPr>
          <p:cNvPr id="26" name="Menor informalidad en servicios de o"/>
          <p:cNvSpPr txBox="1"/>
          <p:nvPr/>
        </p:nvSpPr>
        <p:spPr>
          <a:xfrm>
            <a:off x="753533" y="3698833"/>
            <a:ext cx="3053556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Menor informalidad en servicios de oficio · a validar.</a:t>
            </a:r>
          </a:p>
        </p:txBody>
      </p:sp>
      <p:sp>
        <p:nvSpPr>
          <p:cNvPr id="27" name="Marco regulatorio a relevar antes de"/>
          <p:cNvSpPr txBox="1"/>
          <p:nvPr/>
        </p:nvSpPr>
        <p:spPr>
          <a:xfrm>
            <a:off x="753533" y="4003633"/>
            <a:ext cx="2572808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Marco regulatorio a relevar antes de operar.</a:t>
            </a:r>
          </a:p>
        </p:txBody>
      </p:sp>
      <p:sp>
        <p:nvSpPr>
          <p:cNvPr id="28" name="Adopción de plataformas digitales · "/>
          <p:cNvSpPr txBox="1"/>
          <p:nvPr/>
        </p:nvSpPr>
        <p:spPr>
          <a:xfrm>
            <a:off x="753533" y="4308433"/>
            <a:ext cx="2823369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Adopción de plataformas digitales · a confirmar.</a:t>
            </a:r>
          </a:p>
        </p:txBody>
      </p:sp>
      <p:sp>
        <p:nvSpPr>
          <p:cNvPr id="29" name="CHILE · ESCALAR DESPUÉS"/>
          <p:cNvSpPr txBox="1"/>
          <p:nvPr/>
        </p:nvSpPr>
        <p:spPr>
          <a:xfrm>
            <a:off x="6265333" y="2814193"/>
            <a:ext cx="5334000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CHILE · ESCALAR DESPUÉS</a:t>
            </a:r>
          </a:p>
        </p:txBody>
      </p:sp>
      <p:sp>
        <p:nvSpPr>
          <p:cNvPr id="30" name="Mercado más grande, potencialmente e"/>
          <p:cNvSpPr txBox="1"/>
          <p:nvPr/>
        </p:nvSpPr>
        <p:spPr>
          <a:xfrm>
            <a:off x="6409267" y="3089233"/>
            <a:ext cx="2863850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más grande, potencialmente escalable.</a:t>
            </a:r>
          </a:p>
        </p:txBody>
      </p:sp>
      <p:sp>
        <p:nvSpPr>
          <p:cNvPr id="31" name="Mayor poder adquisitivo · a confirma"/>
          <p:cNvSpPr txBox="1"/>
          <p:nvPr/>
        </p:nvSpPr>
        <p:spPr>
          <a:xfrm>
            <a:off x="6409267" y="3394033"/>
            <a:ext cx="2229247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Mayor poder adquisitivo · a confirmar.</a:t>
            </a:r>
          </a:p>
        </p:txBody>
      </p:sp>
      <p:sp>
        <p:nvSpPr>
          <p:cNvPr id="32" name="Usuarios exigentes en calidad y cump"/>
          <p:cNvSpPr txBox="1"/>
          <p:nvPr/>
        </p:nvSpPr>
        <p:spPr>
          <a:xfrm>
            <a:off x="6409267" y="3698833"/>
            <a:ext cx="3380714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Usuarios exigentes en calidad y cumplimiento · hipótesis.</a:t>
            </a:r>
          </a:p>
        </p:txBody>
      </p:sp>
      <p:sp>
        <p:nvSpPr>
          <p:cNvPr id="33" name="Bancarización y pagos digitales · a "/>
          <p:cNvSpPr txBox="1"/>
          <p:nvPr/>
        </p:nvSpPr>
        <p:spPr>
          <a:xfrm>
            <a:off x="6409267" y="4003633"/>
            <a:ext cx="2490391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Bancarización y pagos digitales · a relevar.</a:t>
            </a:r>
          </a:p>
        </p:txBody>
      </p:sp>
      <p:sp>
        <p:nvSpPr>
          <p:cNvPr id="34" name="Mercado candidato para una escala po"/>
          <p:cNvSpPr txBox="1"/>
          <p:nvPr/>
        </p:nvSpPr>
        <p:spPr>
          <a:xfrm>
            <a:off x="6409267" y="4308433"/>
            <a:ext cx="2687373" cy="1931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Mercado candidato para una escala posterior.</a:t>
            </a:r>
          </a:p>
        </p:txBody>
      </p:sp>
      <p:sp>
        <p:nvSpPr>
          <p:cNvPr id="35" name="Criterios preliminares a validar ant"/>
          <p:cNvSpPr txBox="1"/>
          <p:nvPr/>
        </p:nvSpPr>
        <p:spPr>
          <a:xfrm>
            <a:off x="829733" y="4883702"/>
            <a:ext cx="10549467" cy="25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Criterios preliminares a validar antes de cualquier expansión: primero un mercado similar, después uno más grande.</a:t>
            </a:r>
          </a:p>
        </p:txBody>
      </p:sp>
      <p:sp>
        <p:nvSpPr>
          <p:cNvPr id="36" name="6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1337733"/>
            <a:ext cx="10972800" cy="789781"/>
          </a:xfrm>
          <a:prstGeom prst="roundRect">
            <a:avLst>
              <a:gd name="adj" fmla="val 5360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arco"/>
          <p:cNvSpPr/>
          <p:nvPr/>
        </p:nvSpPr>
        <p:spPr>
          <a:xfrm>
            <a:off x="609600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top"/>
          <p:cNvSpPr/>
          <p:nvPr/>
        </p:nvSpPr>
        <p:spPr>
          <a:xfrm>
            <a:off x="609600" y="2347648"/>
            <a:ext cx="3522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312486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aja"/>
          <p:cNvSpPr/>
          <p:nvPr/>
        </p:nvSpPr>
        <p:spPr>
          <a:xfrm>
            <a:off x="609600" y="3406775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688689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4334933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top"/>
          <p:cNvSpPr/>
          <p:nvPr/>
        </p:nvSpPr>
        <p:spPr>
          <a:xfrm>
            <a:off x="4334933" y="2347648"/>
            <a:ext cx="3522133" cy="25400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aja"/>
          <p:cNvSpPr/>
          <p:nvPr/>
        </p:nvSpPr>
        <p:spPr>
          <a:xfrm>
            <a:off x="4334933" y="3124861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aja"/>
          <p:cNvSpPr/>
          <p:nvPr/>
        </p:nvSpPr>
        <p:spPr>
          <a:xfrm>
            <a:off x="4334933" y="3406775"/>
            <a:ext cx="42333" cy="42333"/>
          </a:xfrm>
          <a:prstGeom prst="ellipse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4334933" y="3688689"/>
            <a:ext cx="3522133" cy="545042"/>
          </a:xfrm>
          <a:prstGeom prst="roundRect">
            <a:avLst>
              <a:gd name="adj" fmla="val 6213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arco"/>
          <p:cNvSpPr/>
          <p:nvPr/>
        </p:nvSpPr>
        <p:spPr>
          <a:xfrm>
            <a:off x="8060267" y="2347648"/>
            <a:ext cx="3522133" cy="32656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top"/>
          <p:cNvSpPr/>
          <p:nvPr/>
        </p:nvSpPr>
        <p:spPr>
          <a:xfrm>
            <a:off x="8060267" y="2347648"/>
            <a:ext cx="3522133" cy="25400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aja"/>
          <p:cNvSpPr/>
          <p:nvPr/>
        </p:nvSpPr>
        <p:spPr>
          <a:xfrm>
            <a:off x="8060267" y="3124861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aja"/>
          <p:cNvSpPr/>
          <p:nvPr/>
        </p:nvSpPr>
        <p:spPr>
          <a:xfrm>
            <a:off x="8060267" y="3406775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8060267" y="3688689"/>
            <a:ext cx="42333" cy="42333"/>
          </a:xfrm>
          <a:prstGeom prst="ellipse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arco"/>
          <p:cNvSpPr/>
          <p:nvPr/>
        </p:nvSpPr>
        <p:spPr>
          <a:xfrm>
            <a:off x="609600" y="5799534"/>
            <a:ext cx="10972800" cy="465799"/>
          </a:xfrm>
          <a:prstGeom prst="roundRect">
            <a:avLst>
              <a:gd name="adj" fmla="val 9088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iesgo legal y esquema de mitigación"/>
          <p:cNvSpPr txBox="1"/>
          <p:nvPr/>
        </p:nvSpPr>
        <p:spPr>
          <a:xfrm>
            <a:off x="609600" y="457120"/>
            <a:ext cx="5695950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Riesgo legal y esquema de mitigación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5" name="OFIX está diseñado como una platafor"/>
          <p:cNvSpPr txBox="1"/>
          <p:nvPr/>
        </p:nvSpPr>
        <p:spPr>
          <a:xfrm>
            <a:off x="846667" y="1537172"/>
            <a:ext cx="10498667" cy="4558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OFIX está diseñado como una </a:t>
            </a:r>
            <a:r>
              <a:rPr b="0" i="0" sz="1130">
                <a:solidFill>
                  <a:srgbClr val="FFFFFF"/>
                </a:solidFill>
                <a:latin typeface="IBM Plex Sans Bold"/>
                <a:cs typeface="IBM Plex Sans Bold"/>
                <a:ea typeface="IBM Plex Sans Bold"/>
              </a:rPr>
              <a:t>plataforma intermediaria</a:t>
            </a: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 entre clientes y trabajadores independientes. La estructura contractual, los requisitos de operación y los seguros buscan reducir riesgos, pero </a:t>
            </a:r>
            <a:r>
              <a:rPr b="0" i="0" sz="1130">
                <a:solidFill>
                  <a:srgbClr val="FFFFFF"/>
                </a:solidFill>
                <a:latin typeface="IBM Plex Sans Bold"/>
                <a:cs typeface="IBM Plex Sans Bold"/>
                <a:ea typeface="IBM Plex Sans Bold"/>
              </a:rPr>
              <a:t>deben validarse jurídicamente</a:t>
            </a:r>
            <a:r>
              <a:rPr b="0" i="0" sz="113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26" name="CAPA 1"/>
          <p:cNvSpPr txBox="1"/>
          <p:nvPr/>
        </p:nvSpPr>
        <p:spPr>
          <a:xfrm>
            <a:off x="609600" y="2545112"/>
            <a:ext cx="35390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CAPA 1</a:t>
            </a:r>
          </a:p>
        </p:txBody>
      </p:sp>
      <p:sp>
        <p:nvSpPr>
          <p:cNvPr id="27" name="Prevención"/>
          <p:cNvSpPr txBox="1"/>
          <p:nvPr/>
        </p:nvSpPr>
        <p:spPr>
          <a:xfrm>
            <a:off x="609600" y="2699821"/>
            <a:ext cx="3539067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15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Prevención</a:t>
            </a:r>
          </a:p>
        </p:txBody>
      </p:sp>
      <p:sp>
        <p:nvSpPr>
          <p:cNvPr id="28" name="Verificación de identidad"/>
          <p:cNvSpPr txBox="1"/>
          <p:nvPr/>
        </p:nvSpPr>
        <p:spPr>
          <a:xfrm>
            <a:off x="745067" y="3063745"/>
            <a:ext cx="1423326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Verificación de identidad</a:t>
            </a:r>
          </a:p>
        </p:txBody>
      </p:sp>
      <p:sp>
        <p:nvSpPr>
          <p:cNvPr id="29" name="Experiencia y matrícula cuando corre"/>
          <p:cNvSpPr txBox="1"/>
          <p:nvPr/>
        </p:nvSpPr>
        <p:spPr>
          <a:xfrm>
            <a:off x="745067" y="3345658"/>
            <a:ext cx="2543307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Experiencia y matrícula cuando corresponda</a:t>
            </a:r>
          </a:p>
        </p:txBody>
      </p:sp>
      <p:sp>
        <p:nvSpPr>
          <p:cNvPr id="30" name="Reputación construida tras cada serv"/>
          <p:cNvSpPr txBox="1"/>
          <p:nvPr/>
        </p:nvSpPr>
        <p:spPr>
          <a:xfrm>
            <a:off x="745067" y="3627572"/>
            <a:ext cx="2320925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Reputación construida tras cada servicio</a:t>
            </a:r>
          </a:p>
        </p:txBody>
      </p:sp>
      <p:sp>
        <p:nvSpPr>
          <p:cNvPr id="31" name="CAPA 2"/>
          <p:cNvSpPr txBox="1"/>
          <p:nvPr/>
        </p:nvSpPr>
        <p:spPr>
          <a:xfrm>
            <a:off x="4334933" y="2545112"/>
            <a:ext cx="35390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CAPA 2</a:t>
            </a:r>
          </a:p>
        </p:txBody>
      </p:sp>
      <p:sp>
        <p:nvSpPr>
          <p:cNvPr id="32" name="Cobertura propuesta"/>
          <p:cNvSpPr txBox="1"/>
          <p:nvPr/>
        </p:nvSpPr>
        <p:spPr>
          <a:xfrm>
            <a:off x="4334933" y="2699821"/>
            <a:ext cx="3539067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15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Cobertura propuesta</a:t>
            </a:r>
          </a:p>
        </p:txBody>
      </p:sp>
      <p:sp>
        <p:nvSpPr>
          <p:cNvPr id="33" name="Seguro de Accidentes Personales del "/>
          <p:cNvSpPr txBox="1"/>
          <p:nvPr/>
        </p:nvSpPr>
        <p:spPr>
          <a:xfrm>
            <a:off x="4470400" y="3063745"/>
            <a:ext cx="2739496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Seguro de Accidentes Personales del trabajador</a:t>
            </a:r>
          </a:p>
        </p:txBody>
      </p:sp>
      <p:sp>
        <p:nvSpPr>
          <p:cNvPr id="34" name="Seguro de Responsabilidad Civil cuan"/>
          <p:cNvSpPr txBox="1"/>
          <p:nvPr/>
        </p:nvSpPr>
        <p:spPr>
          <a:xfrm>
            <a:off x="4470400" y="3345658"/>
            <a:ext cx="3030802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Seguro de Responsabilidad Civil cuando corresponda</a:t>
            </a:r>
          </a:p>
        </p:txBody>
      </p:sp>
      <p:sp>
        <p:nvSpPr>
          <p:cNvPr id="35" name="Cobertura prevista, aún no contratad"/>
          <p:cNvSpPr txBox="1"/>
          <p:nvPr/>
        </p:nvSpPr>
        <p:spPr>
          <a:xfrm>
            <a:off x="4470400" y="3805590"/>
            <a:ext cx="3251200" cy="331743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8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Cobertura prevista, aún no contratada. Reduce la exposición pero no elimina el riesgo.</a:t>
            </a:r>
          </a:p>
        </p:txBody>
      </p:sp>
      <p:sp>
        <p:nvSpPr>
          <p:cNvPr id="36" name="CAPA 3"/>
          <p:cNvSpPr txBox="1"/>
          <p:nvPr/>
        </p:nvSpPr>
        <p:spPr>
          <a:xfrm>
            <a:off x="8060267" y="2545112"/>
            <a:ext cx="3539067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B5561B"/>
                </a:solidFill>
                <a:latin typeface="IBM Plex Mono SemiBold"/>
                <a:cs typeface="IBM Plex Mono SemiBold"/>
                <a:ea typeface="IBM Plex Mono SemiBold"/>
              </a:rPr>
              <a:t>CAPA 3</a:t>
            </a:r>
          </a:p>
        </p:txBody>
      </p:sp>
      <p:sp>
        <p:nvSpPr>
          <p:cNvPr id="37" name="Gestión de incidentes"/>
          <p:cNvSpPr txBox="1"/>
          <p:nvPr/>
        </p:nvSpPr>
        <p:spPr>
          <a:xfrm>
            <a:off x="8060267" y="2699821"/>
            <a:ext cx="3539067" cy="213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70" spc="-15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Gestión de incidentes</a:t>
            </a:r>
          </a:p>
        </p:txBody>
      </p:sp>
      <p:sp>
        <p:nvSpPr>
          <p:cNvPr id="38" name="Documentación de cada trabajo en la "/>
          <p:cNvSpPr txBox="1"/>
          <p:nvPr/>
        </p:nvSpPr>
        <p:spPr>
          <a:xfrm>
            <a:off x="8195733" y="3063745"/>
            <a:ext cx="2782358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Documentación de cada trabajo en la plataforma</a:t>
            </a:r>
          </a:p>
        </p:txBody>
      </p:sp>
      <p:sp>
        <p:nvSpPr>
          <p:cNvPr id="39" name="Mediación entre las partes"/>
          <p:cNvSpPr txBox="1"/>
          <p:nvPr/>
        </p:nvSpPr>
        <p:spPr>
          <a:xfrm>
            <a:off x="8195733" y="3345658"/>
            <a:ext cx="1522412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Mediación entre las partes</a:t>
            </a:r>
          </a:p>
        </p:txBody>
      </p:sp>
      <p:sp>
        <p:nvSpPr>
          <p:cNvPr id="40" name="Gestión del pago y la disputa según "/>
          <p:cNvSpPr txBox="1"/>
          <p:nvPr/>
        </p:nvSpPr>
        <p:spPr>
          <a:xfrm>
            <a:off x="8195733" y="3627572"/>
            <a:ext cx="2934758" cy="1844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Gestión del pago y la disputa según el flujo definido</a:t>
            </a:r>
          </a:p>
        </p:txBody>
      </p:sp>
      <p:sp>
        <p:nvSpPr>
          <p:cNvPr id="41" name="La figura de intermediación y el alc"/>
          <p:cNvSpPr txBox="1"/>
          <p:nvPr/>
        </p:nvSpPr>
        <p:spPr>
          <a:xfrm>
            <a:off x="821267" y="5940508"/>
            <a:ext cx="10566400" cy="2003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figura de intermediación y el alcance de la responsabilidad frente a terceros </a:t>
            </a:r>
            <a:r>
              <a:rPr b="0" i="0" sz="969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requieren validación legal antes de operar</a:t>
            </a: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42" name="68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26218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26218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6002867" y="226218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29751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2262187"/>
            <a:ext cx="25400" cy="721386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180667" y="226218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6180667" y="226218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right"/>
          <p:cNvSpPr/>
          <p:nvPr/>
        </p:nvSpPr>
        <p:spPr>
          <a:xfrm>
            <a:off x="11573933" y="226218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bottom"/>
          <p:cNvSpPr/>
          <p:nvPr/>
        </p:nvSpPr>
        <p:spPr>
          <a:xfrm>
            <a:off x="6180667" y="29751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6180667" y="2262187"/>
            <a:ext cx="25400" cy="721386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315290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609600" y="31529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right"/>
          <p:cNvSpPr/>
          <p:nvPr/>
        </p:nvSpPr>
        <p:spPr>
          <a:xfrm>
            <a:off x="6002867" y="315290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38658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left"/>
          <p:cNvSpPr/>
          <p:nvPr/>
        </p:nvSpPr>
        <p:spPr>
          <a:xfrm>
            <a:off x="609600" y="3152907"/>
            <a:ext cx="25400" cy="721386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180667" y="315290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orde top"/>
          <p:cNvSpPr/>
          <p:nvPr/>
        </p:nvSpPr>
        <p:spPr>
          <a:xfrm>
            <a:off x="6180667" y="315290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borde right"/>
          <p:cNvSpPr/>
          <p:nvPr/>
        </p:nvSpPr>
        <p:spPr>
          <a:xfrm>
            <a:off x="11573933" y="315290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orde bottom"/>
          <p:cNvSpPr/>
          <p:nvPr/>
        </p:nvSpPr>
        <p:spPr>
          <a:xfrm>
            <a:off x="6180667" y="38658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borde left"/>
          <p:cNvSpPr/>
          <p:nvPr/>
        </p:nvSpPr>
        <p:spPr>
          <a:xfrm>
            <a:off x="6180667" y="3152907"/>
            <a:ext cx="25400" cy="721386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aja"/>
          <p:cNvSpPr/>
          <p:nvPr/>
        </p:nvSpPr>
        <p:spPr>
          <a:xfrm>
            <a:off x="609600" y="404362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orde top"/>
          <p:cNvSpPr/>
          <p:nvPr/>
        </p:nvSpPr>
        <p:spPr>
          <a:xfrm>
            <a:off x="609600" y="40436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borde right"/>
          <p:cNvSpPr/>
          <p:nvPr/>
        </p:nvSpPr>
        <p:spPr>
          <a:xfrm>
            <a:off x="6002867" y="404362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borde bottom"/>
          <p:cNvSpPr/>
          <p:nvPr/>
        </p:nvSpPr>
        <p:spPr>
          <a:xfrm>
            <a:off x="609600" y="475654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borde left"/>
          <p:cNvSpPr/>
          <p:nvPr/>
        </p:nvSpPr>
        <p:spPr>
          <a:xfrm>
            <a:off x="609600" y="4043627"/>
            <a:ext cx="25400" cy="721386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aja"/>
          <p:cNvSpPr/>
          <p:nvPr/>
        </p:nvSpPr>
        <p:spPr>
          <a:xfrm>
            <a:off x="6180667" y="4043627"/>
            <a:ext cx="5401733" cy="721386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borde top"/>
          <p:cNvSpPr/>
          <p:nvPr/>
        </p:nvSpPr>
        <p:spPr>
          <a:xfrm>
            <a:off x="6180667" y="404362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orde right"/>
          <p:cNvSpPr/>
          <p:nvPr/>
        </p:nvSpPr>
        <p:spPr>
          <a:xfrm>
            <a:off x="11573933" y="4043627"/>
            <a:ext cx="8467" cy="721386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orde bottom"/>
          <p:cNvSpPr/>
          <p:nvPr/>
        </p:nvSpPr>
        <p:spPr>
          <a:xfrm>
            <a:off x="6180667" y="4756547"/>
            <a:ext cx="5401733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borde left"/>
          <p:cNvSpPr/>
          <p:nvPr/>
        </p:nvSpPr>
        <p:spPr>
          <a:xfrm>
            <a:off x="6180667" y="4043627"/>
            <a:ext cx="25400" cy="721386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aja"/>
          <p:cNvSpPr/>
          <p:nvPr/>
        </p:nvSpPr>
        <p:spPr>
          <a:xfrm>
            <a:off x="609600" y="5002080"/>
            <a:ext cx="10972800" cy="524933"/>
          </a:xfrm>
          <a:prstGeom prst="roundRect">
            <a:avLst>
              <a:gd name="adj" fmla="val 645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¿Por qué pymes gastronómicas?"/>
          <p:cNvSpPr txBox="1"/>
          <p:nvPr/>
        </p:nvSpPr>
        <p:spPr>
          <a:xfrm>
            <a:off x="609600" y="457120"/>
            <a:ext cx="4986867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¿Por qué pymes gastronómicas?</a:t>
            </a:r>
          </a:p>
        </p:txBody>
      </p:sp>
      <p:sp>
        <p:nvSpPr>
          <p:cNvPr id="37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38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39" name="Dependen críticamente de su infraest"/>
          <p:cNvSpPr txBox="1"/>
          <p:nvPr/>
        </p:nvSpPr>
        <p:spPr>
          <a:xfrm>
            <a:off x="821267" y="2411702"/>
            <a:ext cx="5012267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Dependen críticamente de su infraestructura</a:t>
            </a:r>
          </a:p>
        </p:txBody>
      </p:sp>
      <p:sp>
        <p:nvSpPr>
          <p:cNvPr id="40" name="Gas, electricidad y refrigeración no"/>
          <p:cNvSpPr txBox="1"/>
          <p:nvPr/>
        </p:nvSpPr>
        <p:spPr>
          <a:xfrm>
            <a:off x="821267" y="2640863"/>
            <a:ext cx="5012267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Gas, electricidad y refrigeración no son comodidades: son condición para operar.</a:t>
            </a:r>
          </a:p>
        </p:txBody>
      </p:sp>
      <p:sp>
        <p:nvSpPr>
          <p:cNvPr id="41" name="Un desperfecto es pérdida directa de"/>
          <p:cNvSpPr txBox="1"/>
          <p:nvPr/>
        </p:nvSpPr>
        <p:spPr>
          <a:xfrm>
            <a:off x="6392333" y="2411702"/>
            <a:ext cx="5012267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Un desperfecto es pérdida directa de ventas</a:t>
            </a:r>
          </a:p>
        </p:txBody>
      </p:sp>
      <p:sp>
        <p:nvSpPr>
          <p:cNvPr id="42" name="No es una molestia como en un hogar:"/>
          <p:cNvSpPr txBox="1"/>
          <p:nvPr/>
        </p:nvSpPr>
        <p:spPr>
          <a:xfrm>
            <a:off x="6392333" y="2640863"/>
            <a:ext cx="5012267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es una molestia como en un hogar: el local cierra y el día se pierde.</a:t>
            </a:r>
          </a:p>
        </p:txBody>
      </p:sp>
      <p:sp>
        <p:nvSpPr>
          <p:cNvPr id="43" name="Necesitan respuesta rápida, confiabl"/>
          <p:cNvSpPr txBox="1"/>
          <p:nvPr/>
        </p:nvSpPr>
        <p:spPr>
          <a:xfrm>
            <a:off x="821267" y="3302422"/>
            <a:ext cx="5012267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Necesitan respuesta rápida, confiable y trazable</a:t>
            </a:r>
          </a:p>
        </p:txBody>
      </p:sp>
      <p:sp>
        <p:nvSpPr>
          <p:cNvPr id="44" name="No les alcanza con el contacto de un"/>
          <p:cNvSpPr txBox="1"/>
          <p:nvPr/>
        </p:nvSpPr>
        <p:spPr>
          <a:xfrm>
            <a:off x="821267" y="3531583"/>
            <a:ext cx="5012267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No les alcanza con el contacto de un técnico.</a:t>
            </a:r>
          </a:p>
        </p:txBody>
      </p:sp>
      <p:sp>
        <p:nvSpPr>
          <p:cNvPr id="45" name="Hoy lo resuelven de forma informal"/>
          <p:cNvSpPr txBox="1"/>
          <p:nvPr/>
        </p:nvSpPr>
        <p:spPr>
          <a:xfrm>
            <a:off x="6392333" y="3302422"/>
            <a:ext cx="5012267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Hoy lo resuelven de forma informal</a:t>
            </a:r>
          </a:p>
        </p:txBody>
      </p:sp>
      <p:sp>
        <p:nvSpPr>
          <p:cNvPr id="46" name="Con proveedores no siempre disponibl"/>
          <p:cNvSpPr txBox="1"/>
          <p:nvPr/>
        </p:nvSpPr>
        <p:spPr>
          <a:xfrm>
            <a:off x="6392333" y="3531583"/>
            <a:ext cx="5012267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 proveedores no siempre disponibles ni verificados.</a:t>
            </a:r>
          </a:p>
        </p:txBody>
      </p:sp>
      <p:sp>
        <p:nvSpPr>
          <p:cNvPr id="47" name="OFIX les aporta exactamente eso"/>
          <p:cNvSpPr txBox="1"/>
          <p:nvPr/>
        </p:nvSpPr>
        <p:spPr>
          <a:xfrm>
            <a:off x="821267" y="4193142"/>
            <a:ext cx="5012267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OFIX les aporta exactamente eso</a:t>
            </a:r>
          </a:p>
        </p:txBody>
      </p:sp>
      <p:sp>
        <p:nvSpPr>
          <p:cNvPr id="48" name="Asignación por cercanía, técnicos ve"/>
          <p:cNvSpPr txBox="1"/>
          <p:nvPr/>
        </p:nvSpPr>
        <p:spPr>
          <a:xfrm>
            <a:off x="821267" y="4422303"/>
            <a:ext cx="5012267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Asignación por cercanía, técnicos verificados y seguimiento del servicio.</a:t>
            </a:r>
          </a:p>
        </p:txBody>
      </p:sp>
      <p:sp>
        <p:nvSpPr>
          <p:cNvPr id="49" name="Y son clientes recurrentes"/>
          <p:cNvSpPr txBox="1"/>
          <p:nvPr/>
        </p:nvSpPr>
        <p:spPr>
          <a:xfrm>
            <a:off x="6392333" y="4193142"/>
            <a:ext cx="5012267" cy="182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 spc="-13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Y son clientes recurrentes</a:t>
            </a:r>
          </a:p>
        </p:txBody>
      </p:sp>
      <p:sp>
        <p:nvSpPr>
          <p:cNvPr id="50" name="Mejor frecuencia de uso y mayor esta"/>
          <p:cNvSpPr txBox="1"/>
          <p:nvPr/>
        </p:nvSpPr>
        <p:spPr>
          <a:xfrm>
            <a:off x="6392333" y="4422303"/>
            <a:ext cx="5012267" cy="1994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969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Mejor frecuencia de uso y mayor estabilidad de ingresos.</a:t>
            </a:r>
          </a:p>
        </p:txBody>
      </p:sp>
      <p:sp>
        <p:nvSpPr>
          <p:cNvPr id="51" name="Las pymes gastronómicas no pueden pa"/>
          <p:cNvSpPr txBox="1"/>
          <p:nvPr/>
        </p:nvSpPr>
        <p:spPr>
          <a:xfrm>
            <a:off x="829733" y="5177786"/>
            <a:ext cx="10549467" cy="218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FFFFFF"/>
                </a:solidFill>
                <a:latin typeface="Archivo Bold"/>
                <a:cs typeface="Archivo Bold"/>
                <a:ea typeface="Archivo Bold"/>
              </a:rPr>
              <a:t>Las pymes gastronómicas no pueden parar; OFIX les reduce ese riesgo.</a:t>
            </a:r>
          </a:p>
        </p:txBody>
      </p:sp>
      <p:sp>
        <p:nvSpPr>
          <p:cNvPr id="52" name="69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291027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291027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orde right"/>
          <p:cNvSpPr/>
          <p:nvPr/>
        </p:nvSpPr>
        <p:spPr>
          <a:xfrm>
            <a:off x="11573933" y="2291027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bottom"/>
          <p:cNvSpPr/>
          <p:nvPr/>
        </p:nvSpPr>
        <p:spPr>
          <a:xfrm>
            <a:off x="609600" y="3118908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borde left"/>
          <p:cNvSpPr/>
          <p:nvPr/>
        </p:nvSpPr>
        <p:spPr>
          <a:xfrm>
            <a:off x="609600" y="2291027"/>
            <a:ext cx="25400" cy="836348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aja"/>
          <p:cNvSpPr/>
          <p:nvPr/>
        </p:nvSpPr>
        <p:spPr>
          <a:xfrm>
            <a:off x="609600" y="3279775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orde top"/>
          <p:cNvSpPr/>
          <p:nvPr/>
        </p:nvSpPr>
        <p:spPr>
          <a:xfrm>
            <a:off x="609600" y="3279775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right"/>
          <p:cNvSpPr/>
          <p:nvPr/>
        </p:nvSpPr>
        <p:spPr>
          <a:xfrm>
            <a:off x="11573933" y="3279775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borde bottom"/>
          <p:cNvSpPr/>
          <p:nvPr/>
        </p:nvSpPr>
        <p:spPr>
          <a:xfrm>
            <a:off x="609600" y="410765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left"/>
          <p:cNvSpPr/>
          <p:nvPr/>
        </p:nvSpPr>
        <p:spPr>
          <a:xfrm>
            <a:off x="609600" y="3279775"/>
            <a:ext cx="25400" cy="836348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aja"/>
          <p:cNvSpPr/>
          <p:nvPr/>
        </p:nvSpPr>
        <p:spPr>
          <a:xfrm>
            <a:off x="609600" y="4268523"/>
            <a:ext cx="10972800" cy="83634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top"/>
          <p:cNvSpPr/>
          <p:nvPr/>
        </p:nvSpPr>
        <p:spPr>
          <a:xfrm>
            <a:off x="609600" y="426852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orde right"/>
          <p:cNvSpPr/>
          <p:nvPr/>
        </p:nvSpPr>
        <p:spPr>
          <a:xfrm>
            <a:off x="11573933" y="4268523"/>
            <a:ext cx="8467" cy="836348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bottom"/>
          <p:cNvSpPr/>
          <p:nvPr/>
        </p:nvSpPr>
        <p:spPr>
          <a:xfrm>
            <a:off x="609600" y="5096404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borde left"/>
          <p:cNvSpPr/>
          <p:nvPr/>
        </p:nvSpPr>
        <p:spPr>
          <a:xfrm>
            <a:off x="609600" y="4268523"/>
            <a:ext cx="25400" cy="836348"/>
          </a:xfrm>
          <a:prstGeom prst="rect">
            <a:avLst/>
          </a:prstGeom>
          <a:solidFill>
            <a:srgbClr val="0E7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caja"/>
          <p:cNvSpPr/>
          <p:nvPr/>
        </p:nvSpPr>
        <p:spPr>
          <a:xfrm>
            <a:off x="609600" y="5257271"/>
            <a:ext cx="10972800" cy="495035"/>
          </a:xfrm>
          <a:prstGeom prst="roundRect">
            <a:avLst>
              <a:gd name="adj" fmla="val 6841"/>
            </a:avLst>
          </a:prstGeom>
          <a:solidFill>
            <a:srgbClr val="EA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¿Qué particularidades presenta LATAM"/>
          <p:cNvSpPr txBox="1"/>
          <p:nvPr/>
        </p:nvSpPr>
        <p:spPr>
          <a:xfrm>
            <a:off x="609600" y="457120"/>
            <a:ext cx="4423833" cy="100745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¿Qué particularidades presenta LATAM frente al modelo de TaskRabbit?</a:t>
            </a:r>
          </a:p>
        </p:txBody>
      </p:sp>
      <p:sp>
        <p:nvSpPr>
          <p:cNvPr id="22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3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4" name="Un mercado más informal"/>
          <p:cNvSpPr txBox="1"/>
          <p:nvPr/>
        </p:nvSpPr>
        <p:spPr>
          <a:xfrm>
            <a:off x="855133" y="2474048"/>
            <a:ext cx="10515600" cy="2030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Un mercado más informal</a:t>
            </a:r>
          </a:p>
        </p:txBody>
      </p:sp>
      <p:sp>
        <p:nvSpPr>
          <p:cNvPr id="25" name="La contratación de oficios en la reg"/>
          <p:cNvSpPr txBox="1"/>
          <p:nvPr/>
        </p:nvSpPr>
        <p:spPr>
          <a:xfrm>
            <a:off x="855133" y="2732880"/>
            <a:ext cx="10515600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contratación de oficios en la región se apoya en gran medida en el boca a boca y en acuerdos informales.</a:t>
            </a:r>
          </a:p>
        </p:txBody>
      </p:sp>
      <p:sp>
        <p:nvSpPr>
          <p:cNvPr id="26" name="La confianza se construye localmente"/>
          <p:cNvSpPr txBox="1"/>
          <p:nvPr/>
        </p:nvSpPr>
        <p:spPr>
          <a:xfrm>
            <a:off x="855133" y="3462796"/>
            <a:ext cx="10515600" cy="2030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La confianza se construye localmente</a:t>
            </a:r>
          </a:p>
        </p:txBody>
      </p:sp>
      <p:sp>
        <p:nvSpPr>
          <p:cNvPr id="27" name="El vínculo es relacional y contextua"/>
          <p:cNvSpPr txBox="1"/>
          <p:nvPr/>
        </p:nvSpPr>
        <p:spPr>
          <a:xfrm>
            <a:off x="855133" y="3721628"/>
            <a:ext cx="10515600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vínculo es relacional y contextual: requiere generar confianza barrio por barrio y contar con oferta verificada por zona.</a:t>
            </a:r>
          </a:p>
        </p:txBody>
      </p:sp>
      <p:sp>
        <p:nvSpPr>
          <p:cNvPr id="28" name="OFIX se diseña desde ese contexto"/>
          <p:cNvSpPr txBox="1"/>
          <p:nvPr/>
        </p:nvSpPr>
        <p:spPr>
          <a:xfrm>
            <a:off x="855133" y="4451543"/>
            <a:ext cx="10515600" cy="2030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OFIX se diseña desde ese contexto</a:t>
            </a:r>
          </a:p>
        </p:txBody>
      </p:sp>
      <p:sp>
        <p:nvSpPr>
          <p:cNvPr id="29" name="Pensada para hogares y pymes de la r"/>
          <p:cNvSpPr txBox="1"/>
          <p:nvPr/>
        </p:nvSpPr>
        <p:spPr>
          <a:xfrm>
            <a:off x="855133" y="4710376"/>
            <a:ext cx="10515600" cy="218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7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Pensada para hogares y pymes de la región, priorizando verificación y cercanía desde el inicio.</a:t>
            </a:r>
          </a:p>
        </p:txBody>
      </p:sp>
      <p:sp>
        <p:nvSpPr>
          <p:cNvPr id="30" name="CONCLUSIÓN"/>
          <p:cNvSpPr txBox="1"/>
          <p:nvPr/>
        </p:nvSpPr>
        <p:spPr>
          <a:xfrm>
            <a:off x="829733" y="5463201"/>
            <a:ext cx="683683" cy="146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00" spc="105">
                <a:solidFill>
                  <a:srgbClr val="1B54D6"/>
                </a:solidFill>
                <a:latin typeface="IBM Plex Mono SemiBold"/>
                <a:cs typeface="IBM Plex Mono SemiBold"/>
                <a:ea typeface="IBM Plex Mono SemiBold"/>
              </a:rPr>
              <a:t>CONCLUSIÓN</a:t>
            </a:r>
          </a:p>
        </p:txBody>
      </p:sp>
      <p:sp>
        <p:nvSpPr>
          <p:cNvPr id="31" name="La densidad de oferta verificada loc"/>
          <p:cNvSpPr txBox="1"/>
          <p:nvPr/>
        </p:nvSpPr>
        <p:spPr>
          <a:xfrm>
            <a:off x="1665817" y="5406073"/>
            <a:ext cx="5443670" cy="2120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</a:t>
            </a:r>
            <a:r>
              <a:rPr b="0" i="0" sz="103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densidad de oferta verificada localmente</a:t>
            </a:r>
            <a:r>
              <a:rPr b="0" i="0" sz="10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es una ventaja que se construye con el tiempo.</a:t>
            </a:r>
          </a:p>
        </p:txBody>
      </p:sp>
      <p:sp>
        <p:nvSpPr>
          <p:cNvPr id="32" name="70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caja"/>
          <p:cNvSpPr/>
          <p:nvPr/>
        </p:nvSpPr>
        <p:spPr>
          <a:xfrm>
            <a:off x="609600" y="2400565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ja"/>
          <p:cNvSpPr/>
          <p:nvPr/>
        </p:nvSpPr>
        <p:spPr>
          <a:xfrm>
            <a:off x="609600" y="3189949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FFFFFF"/>
          </a:solidFill>
          <a:ln w="8509">
            <a:solidFill>
              <a:srgbClr val="EBEFF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aja"/>
          <p:cNvSpPr/>
          <p:nvPr/>
        </p:nvSpPr>
        <p:spPr>
          <a:xfrm>
            <a:off x="609600" y="3979333"/>
            <a:ext cx="10972800" cy="636984"/>
          </a:xfrm>
          <a:prstGeom prst="roundRect">
            <a:avLst>
              <a:gd name="adj" fmla="val 5316"/>
            </a:avLst>
          </a:prstGeom>
          <a:solidFill>
            <a:srgbClr val="EAF0FB"/>
          </a:solidFill>
          <a:ln w="8509">
            <a:solidFill>
              <a:srgbClr val="D3E0F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aja"/>
          <p:cNvSpPr/>
          <p:nvPr/>
        </p:nvSpPr>
        <p:spPr>
          <a:xfrm>
            <a:off x="609600" y="4768718"/>
            <a:ext cx="10972800" cy="620051"/>
          </a:xfrm>
          <a:prstGeom prst="roundRect">
            <a:avLst>
              <a:gd name="adj" fmla="val 5461"/>
            </a:avLst>
          </a:prstGeom>
          <a:solidFill>
            <a:srgbClr val="0A2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¿Cómo ajustaron el ticket promedio? "/>
          <p:cNvSpPr txBox="1"/>
          <p:nvPr/>
        </p:nvSpPr>
        <p:spPr>
          <a:xfrm>
            <a:off x="609600" y="457120"/>
            <a:ext cx="6032500" cy="6857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¿Cómo ajustaron el ticket promedio? ¿Es suficiente?</a:t>
            </a:r>
          </a:p>
        </p:txBody>
      </p:sp>
      <p:sp>
        <p:nvSpPr>
          <p:cNvPr id="10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11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12" name="01"/>
          <p:cNvSpPr txBox="1"/>
          <p:nvPr/>
        </p:nvSpPr>
        <p:spPr>
          <a:xfrm>
            <a:off x="838200" y="2629637"/>
            <a:ext cx="524933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01</a:t>
            </a:r>
          </a:p>
        </p:txBody>
      </p:sp>
      <p:sp>
        <p:nvSpPr>
          <p:cNvPr id="13" name="Se relevaron precios reales de merca"/>
          <p:cNvSpPr txBox="1"/>
          <p:nvPr/>
        </p:nvSpPr>
        <p:spPr>
          <a:xfrm>
            <a:off x="1532467" y="2614504"/>
            <a:ext cx="9838267" cy="2246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 relevaron </a:t>
            </a:r>
            <a:r>
              <a:rPr b="0" i="0" sz="11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precios reales de mercado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 de seis servicios, tomando como referencia competidores y profesionales que ofrecen sus servicios.</a:t>
            </a:r>
          </a:p>
        </p:txBody>
      </p:sp>
      <p:sp>
        <p:nvSpPr>
          <p:cNvPr id="14" name="02"/>
          <p:cNvSpPr txBox="1"/>
          <p:nvPr/>
        </p:nvSpPr>
        <p:spPr>
          <a:xfrm>
            <a:off x="838200" y="3419021"/>
            <a:ext cx="524933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02</a:t>
            </a:r>
          </a:p>
        </p:txBody>
      </p:sp>
      <p:sp>
        <p:nvSpPr>
          <p:cNvPr id="15" name="Se relevaron seis servicios clave —e"/>
          <p:cNvSpPr txBox="1"/>
          <p:nvPr/>
        </p:nvSpPr>
        <p:spPr>
          <a:xfrm>
            <a:off x="1532467" y="3403888"/>
            <a:ext cx="9838267" cy="2246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Se relevaron seis servicios clave —electricidad, plomería, gas, limpieza, pintura y refrigeración— y se calculó el </a:t>
            </a:r>
            <a:r>
              <a:rPr b="0" i="0" sz="1100">
                <a:solidFill>
                  <a:srgbClr val="0D1520"/>
                </a:solidFill>
                <a:latin typeface="IBM Plex Sans SemiBold"/>
                <a:cs typeface="IBM Plex Sans SemiBold"/>
                <a:ea typeface="IBM Plex Sans SemiBold"/>
              </a:rPr>
              <a:t>promedio de los valores relevados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16" name="03"/>
          <p:cNvSpPr txBox="1"/>
          <p:nvPr/>
        </p:nvSpPr>
        <p:spPr>
          <a:xfrm>
            <a:off x="838200" y="4208406"/>
            <a:ext cx="524933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03</a:t>
            </a:r>
          </a:p>
        </p:txBody>
      </p:sp>
      <p:sp>
        <p:nvSpPr>
          <p:cNvPr id="17" name="El resultado es un ticket promedio d"/>
          <p:cNvSpPr txBox="1"/>
          <p:nvPr/>
        </p:nvSpPr>
        <p:spPr>
          <a:xfrm>
            <a:off x="1532467" y="4193272"/>
            <a:ext cx="9838267" cy="2246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resultado es un ticket promedio de </a:t>
            </a:r>
            <a:r>
              <a:rPr b="0" i="0" sz="1100">
                <a:solidFill>
                  <a:srgbClr val="1B54D6"/>
                </a:solidFill>
                <a:latin typeface="IBM Plex Sans Bold"/>
                <a:cs typeface="IBM Plex Sans Bold"/>
                <a:ea typeface="IBM Plex Sans Bold"/>
              </a:rPr>
              <a:t>USD 89</a:t>
            </a:r>
            <a:r>
              <a:rPr b="0" i="0" sz="110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, el valor utilizado en el modelo, alineado con el benchmark.</a:t>
            </a:r>
          </a:p>
        </p:txBody>
      </p:sp>
      <p:sp>
        <p:nvSpPr>
          <p:cNvPr id="18" name="04"/>
          <p:cNvSpPr txBox="1"/>
          <p:nvPr/>
        </p:nvSpPr>
        <p:spPr>
          <a:xfrm>
            <a:off x="829733" y="4989323"/>
            <a:ext cx="524933" cy="3072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270" spc="-91">
                <a:solidFill>
                  <a:srgbClr val="D97A38"/>
                </a:solidFill>
                <a:latin typeface="Archivo ExtraBold"/>
                <a:cs typeface="Archivo ExtraBold"/>
                <a:ea typeface="Archivo ExtraBold"/>
              </a:rPr>
              <a:t>04</a:t>
            </a:r>
          </a:p>
        </p:txBody>
      </p:sp>
      <p:sp>
        <p:nvSpPr>
          <p:cNvPr id="19" name="El crecimiento proyectado depende pr"/>
          <p:cNvSpPr txBox="1"/>
          <p:nvPr/>
        </p:nvSpPr>
        <p:spPr>
          <a:xfrm>
            <a:off x="1524000" y="4974190"/>
            <a:ext cx="9855200" cy="2246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El crecimiento proyectado depende principalmente del </a:t>
            </a:r>
            <a:r>
              <a:rPr b="0" i="0" sz="1100">
                <a:solidFill>
                  <a:srgbClr val="FFFFFF"/>
                </a:solidFill>
                <a:latin typeface="IBM Plex Sans Bold"/>
                <a:cs typeface="IBM Plex Sans Bold"/>
                <a:ea typeface="IBM Plex Sans Bold"/>
              </a:rPr>
              <a:t>volumen de transacciones y la recurrencia</a:t>
            </a:r>
            <a:r>
              <a:rPr b="0" i="0" sz="1100">
                <a:solidFill>
                  <a:srgbClr val="FFFFFF"/>
                </a:solidFill>
                <a:latin typeface="IBM Plex Sans"/>
                <a:cs typeface="IBM Plex Sans"/>
                <a:ea typeface="IBM Plex Sans"/>
              </a:rPr>
              <a:t>.</a:t>
            </a:r>
          </a:p>
        </p:txBody>
      </p:sp>
      <p:sp>
        <p:nvSpPr>
          <p:cNvPr id="20" name="71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Preguntas posibles</a:t>
            </a:r>
          </a:p>
        </p:txBody>
      </p:sp>
      <p:sp>
        <p:nvSpPr>
          <p:cNvPr id="22" name="Modelo de negocio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1B54D6"/>
                </a:solidFill>
                <a:latin typeface="Archivo Medium"/>
                <a:cs typeface="Archivo Medium"/>
                <a:ea typeface="Archivo Medium"/>
              </a:rPr>
              <a:t>Modelo de negocio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5" name="¿Qué pasa si los profesionales inten"/>
          <p:cNvSpPr txBox="1"/>
          <p:nvPr/>
        </p:nvSpPr>
        <p:spPr>
          <a:xfrm>
            <a:off x="609600" y="2274836"/>
            <a:ext cx="5218245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pasa si los profesionales intentan saltearse la plataforma?</a:t>
            </a:r>
          </a:p>
        </p:txBody>
      </p:sp>
      <p:sp>
        <p:nvSpPr>
          <p:cNvPr id="26" name="→ Puenteo"/>
          <p:cNvSpPr txBox="1"/>
          <p:nvPr/>
        </p:nvSpPr>
        <p:spPr>
          <a:xfrm>
            <a:off x="11012223" y="2373666"/>
            <a:ext cx="58711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Puenteo</a:t>
            </a:r>
          </a:p>
        </p:txBody>
      </p:sp>
      <p:sp>
        <p:nvSpPr>
          <p:cNvPr id="27" name="Fuera de la plataforma se pierde el "/>
          <p:cNvSpPr txBox="1"/>
          <p:nvPr/>
        </p:nvSpPr>
        <p:spPr>
          <a:xfrm>
            <a:off x="804333" y="2603284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Fuera de la plataforma se pierde el seguimiento, la reputación acumulada y los mecanismos de respaldo previstos por OFIX.</a:t>
            </a:r>
          </a:p>
        </p:txBody>
      </p:sp>
      <p:sp>
        <p:nvSpPr>
          <p:cNvPr id="28" name="¿Por qué el 20% de comisión no es de"/>
          <p:cNvSpPr txBox="1"/>
          <p:nvPr/>
        </p:nvSpPr>
        <p:spPr>
          <a:xfrm>
            <a:off x="609600" y="3176669"/>
            <a:ext cx="4234921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¿Por qué el 20% de comisión no es demasiado alto?</a:t>
            </a:r>
          </a:p>
        </p:txBody>
      </p:sp>
      <p:sp>
        <p:nvSpPr>
          <p:cNvPr id="29" name="→ Benchmark"/>
          <p:cNvSpPr txBox="1"/>
          <p:nvPr/>
        </p:nvSpPr>
        <p:spPr>
          <a:xfrm>
            <a:off x="10885487" y="3275498"/>
            <a:ext cx="713846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Benchmark</a:t>
            </a:r>
          </a:p>
        </p:txBody>
      </p:sp>
      <p:sp>
        <p:nvSpPr>
          <p:cNvPr id="30" name="Está dentro del rango del benchmark "/>
          <p:cNvSpPr txBox="1"/>
          <p:nvPr/>
        </p:nvSpPr>
        <p:spPr>
          <a:xfrm>
            <a:off x="804333" y="3505116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Está dentro del rango del benchmark (10–25%) y se sostiene por la generación de demanda, el pago dentro de la plataforma y la verificación.</a:t>
            </a:r>
          </a:p>
        </p:txBody>
      </p:sp>
      <p:sp>
        <p:nvSpPr>
          <p:cNvPr id="31" name="¿Cómo evitan que OFIX se convierta s"/>
          <p:cNvSpPr txBox="1"/>
          <p:nvPr/>
        </p:nvSpPr>
        <p:spPr>
          <a:xfrm>
            <a:off x="609600" y="4078501"/>
            <a:ext cx="4779433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¿Cómo evitan que OFIX se convierta solo en un directorio?</a:t>
            </a:r>
          </a:p>
        </p:txBody>
      </p:sp>
      <p:sp>
        <p:nvSpPr>
          <p:cNvPr id="32" name="→ Modelo"/>
          <p:cNvSpPr txBox="1"/>
          <p:nvPr/>
        </p:nvSpPr>
        <p:spPr>
          <a:xfrm>
            <a:off x="11075458" y="4177330"/>
            <a:ext cx="523875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Modelo</a:t>
            </a:r>
          </a:p>
        </p:txBody>
      </p:sp>
      <p:sp>
        <p:nvSpPr>
          <p:cNvPr id="33" name="Porque el pago, la reputación y el s"/>
          <p:cNvSpPr txBox="1"/>
          <p:nvPr/>
        </p:nvSpPr>
        <p:spPr>
          <a:xfrm>
            <a:off x="804333" y="4406948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Porque el pago, la reputación y el seguimiento ocurren dentro de la plataforma: los pasos posteriores al contacto son los que agregan valor.</a:t>
            </a:r>
          </a:p>
        </p:txBody>
      </p:sp>
      <p:sp>
        <p:nvSpPr>
          <p:cNvPr id="34" name="¿Qué incentiva a los profesionales a"/>
          <p:cNvSpPr txBox="1"/>
          <p:nvPr/>
        </p:nvSpPr>
        <p:spPr>
          <a:xfrm>
            <a:off x="609600" y="4980333"/>
            <a:ext cx="3865695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incentiva a los profesionales a quedarse?</a:t>
            </a:r>
          </a:p>
        </p:txBody>
      </p:sp>
      <p:sp>
        <p:nvSpPr>
          <p:cNvPr id="35" name="→ VPC"/>
          <p:cNvSpPr txBox="1"/>
          <p:nvPr/>
        </p:nvSpPr>
        <p:spPr>
          <a:xfrm>
            <a:off x="11265429" y="5079162"/>
            <a:ext cx="333904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VPC</a:t>
            </a:r>
          </a:p>
        </p:txBody>
      </p:sp>
      <p:sp>
        <p:nvSpPr>
          <p:cNvPr id="36" name="El flujo de trabajos, la reputación "/>
          <p:cNvSpPr txBox="1"/>
          <p:nvPr/>
        </p:nvSpPr>
        <p:spPr>
          <a:xfrm>
            <a:off x="804333" y="5308781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flujo de trabajos, la reputación acumulada —que no es portable— y el cobro gestionado dentro de la plataforma.</a:t>
            </a:r>
          </a:p>
        </p:txBody>
      </p:sp>
      <p:sp>
        <p:nvSpPr>
          <p:cNvPr id="37" name="72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Preguntas posibles</a:t>
            </a:r>
          </a:p>
        </p:txBody>
      </p:sp>
      <p:sp>
        <p:nvSpPr>
          <p:cNvPr id="22" name="Demanda y oferta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1B54D6"/>
                </a:solidFill>
                <a:latin typeface="Archivo Medium"/>
                <a:cs typeface="Archivo Medium"/>
                <a:ea typeface="Archivo Medium"/>
              </a:rPr>
              <a:t>Demanda y oferta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5" name="¿Por qué un usuario usaría OFIX y no"/>
          <p:cNvSpPr txBox="1"/>
          <p:nvPr/>
        </p:nvSpPr>
        <p:spPr>
          <a:xfrm>
            <a:off x="609600" y="2274836"/>
            <a:ext cx="5198269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¿Por qué un usuario usaría OFIX y no a su técnico de confianza?</a:t>
            </a:r>
          </a:p>
        </p:txBody>
      </p:sp>
      <p:sp>
        <p:nvSpPr>
          <p:cNvPr id="26" name="Nuestra hipótesis es que OFIX se usa"/>
          <p:cNvSpPr txBox="1"/>
          <p:nvPr/>
        </p:nvSpPr>
        <p:spPr>
          <a:xfrm>
            <a:off x="804333" y="2603284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Nuestra hipótesis es que OFIX se usa cuando no hay un técnico disponible o cuando el riesgo de equivocarse es alto.</a:t>
            </a:r>
          </a:p>
        </p:txBody>
      </p:sp>
      <p:sp>
        <p:nvSpPr>
          <p:cNvPr id="27" name="¿Cómo logran masa crítica al inicio?"/>
          <p:cNvSpPr txBox="1"/>
          <p:nvPr/>
        </p:nvSpPr>
        <p:spPr>
          <a:xfrm>
            <a:off x="609600" y="3176669"/>
            <a:ext cx="2961349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¿Cómo logran masa crítica al inicio?</a:t>
            </a:r>
          </a:p>
        </p:txBody>
      </p:sp>
      <p:sp>
        <p:nvSpPr>
          <p:cNvPr id="28" name="→ Adquisición"/>
          <p:cNvSpPr txBox="1"/>
          <p:nvPr/>
        </p:nvSpPr>
        <p:spPr>
          <a:xfrm>
            <a:off x="10758884" y="3275498"/>
            <a:ext cx="840449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Adquisición</a:t>
            </a:r>
          </a:p>
        </p:txBody>
      </p:sp>
      <p:sp>
        <p:nvSpPr>
          <p:cNvPr id="29" name="Primero construimos oferta en CABA +"/>
          <p:cNvSpPr txBox="1"/>
          <p:nvPr/>
        </p:nvSpPr>
        <p:spPr>
          <a:xfrm>
            <a:off x="804333" y="3505116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Primero construimos oferta en CABA + GBA con captación directa por zona; recién después activamos la demanda.</a:t>
            </a:r>
          </a:p>
        </p:txBody>
      </p:sp>
      <p:sp>
        <p:nvSpPr>
          <p:cNvPr id="30" name="¿Qué pasa si los usuarios no repiten"/>
          <p:cNvSpPr txBox="1"/>
          <p:nvPr/>
        </p:nvSpPr>
        <p:spPr>
          <a:xfrm>
            <a:off x="609600" y="4078501"/>
            <a:ext cx="3059906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pasa si los usuarios no repiten?</a:t>
            </a:r>
          </a:p>
        </p:txBody>
      </p:sp>
      <p:sp>
        <p:nvSpPr>
          <p:cNvPr id="31" name="→ KPIs"/>
          <p:cNvSpPr txBox="1"/>
          <p:nvPr/>
        </p:nvSpPr>
        <p:spPr>
          <a:xfrm>
            <a:off x="11202194" y="4177330"/>
            <a:ext cx="39714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KPIs</a:t>
            </a:r>
          </a:p>
        </p:txBody>
      </p:sp>
      <p:sp>
        <p:nvSpPr>
          <p:cNvPr id="32" name="Es el riesgo que vigila la tasa de r"/>
          <p:cNvSpPr txBox="1"/>
          <p:nvPr/>
        </p:nvSpPr>
        <p:spPr>
          <a:xfrm>
            <a:off x="804333" y="4406948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 el riesgo que vigila la tasa de recurrencia: sin repetición cae el valor por usuario y con él la proyección.</a:t>
            </a:r>
          </a:p>
        </p:txBody>
      </p:sp>
      <p:sp>
        <p:nvSpPr>
          <p:cNvPr id="33" name="¿Qué evidencia tienen de que el prob"/>
          <p:cNvSpPr txBox="1"/>
          <p:nvPr/>
        </p:nvSpPr>
        <p:spPr>
          <a:xfrm>
            <a:off x="609600" y="4980333"/>
            <a:ext cx="4090061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evidencia tienen de que el problema es real?</a:t>
            </a:r>
          </a:p>
        </p:txBody>
      </p:sp>
      <p:sp>
        <p:nvSpPr>
          <p:cNvPr id="34" name="→ Sprint 1"/>
          <p:cNvSpPr txBox="1"/>
          <p:nvPr/>
        </p:nvSpPr>
        <p:spPr>
          <a:xfrm>
            <a:off x="10948855" y="5079162"/>
            <a:ext cx="650478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Sprint 1</a:t>
            </a:r>
          </a:p>
        </p:txBody>
      </p:sp>
      <p:sp>
        <p:nvSpPr>
          <p:cNvPr id="35" name="700 encuestas entre ambos lados (400"/>
          <p:cNvSpPr txBox="1"/>
          <p:nvPr/>
        </p:nvSpPr>
        <p:spPr>
          <a:xfrm>
            <a:off x="804333" y="5308781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700 encuestas entre ambos lados (400 hogares y pymes, 300 trabajadores), más datos de INDEC y Defensa del Consumidor.</a:t>
            </a:r>
          </a:p>
        </p:txBody>
      </p:sp>
      <p:sp>
        <p:nvSpPr>
          <p:cNvPr id="36" name="73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5031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550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305726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305726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45215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45215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95909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95909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435398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435398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86092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86092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Preguntas posibles</a:t>
            </a:r>
          </a:p>
        </p:txBody>
      </p:sp>
      <p:sp>
        <p:nvSpPr>
          <p:cNvPr id="18" name="Competencia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B5561B"/>
                </a:solidFill>
                <a:latin typeface="Archivo Medium"/>
                <a:cs typeface="Archivo Medium"/>
                <a:ea typeface="Archivo Medium"/>
              </a:rPr>
              <a:t>Competencia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1" name="¿Qué impide que Zolvers o IguanaFix "/>
          <p:cNvSpPr txBox="1"/>
          <p:nvPr/>
        </p:nvSpPr>
        <p:spPr>
          <a:xfrm>
            <a:off x="609600" y="2725686"/>
            <a:ext cx="4780756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impide que Zolvers o IguanaFix repliquen el modelo?</a:t>
            </a:r>
          </a:p>
        </p:txBody>
      </p:sp>
      <p:sp>
        <p:nvSpPr>
          <p:cNvPr id="22" name="→ Benchmark"/>
          <p:cNvSpPr txBox="1"/>
          <p:nvPr/>
        </p:nvSpPr>
        <p:spPr>
          <a:xfrm>
            <a:off x="10885487" y="2824516"/>
            <a:ext cx="713846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Benchmark</a:t>
            </a:r>
          </a:p>
        </p:txBody>
      </p:sp>
      <p:sp>
        <p:nvSpPr>
          <p:cNvPr id="23" name="Podrían hacerlo, pero implicaría red"/>
          <p:cNvSpPr txBox="1"/>
          <p:nvPr/>
        </p:nvSpPr>
        <p:spPr>
          <a:xfrm>
            <a:off x="804333" y="3054134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Podrían hacerlo, pero implicaría rediseñar su producto: la asignación por cercanía y el seguimiento dentro de la app son decisiones estructurales.</a:t>
            </a:r>
          </a:p>
        </p:txBody>
      </p:sp>
      <p:sp>
        <p:nvSpPr>
          <p:cNvPr id="24" name="¿Qué pasa si una plataforma grande e"/>
          <p:cNvSpPr txBox="1"/>
          <p:nvPr/>
        </p:nvSpPr>
        <p:spPr>
          <a:xfrm>
            <a:off x="609600" y="3627519"/>
            <a:ext cx="4266539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pasa si una plataforma grande entra a LATAM?</a:t>
            </a:r>
          </a:p>
        </p:txBody>
      </p:sp>
      <p:sp>
        <p:nvSpPr>
          <p:cNvPr id="25" name="→ TaskRabbit"/>
          <p:cNvSpPr txBox="1"/>
          <p:nvPr/>
        </p:nvSpPr>
        <p:spPr>
          <a:xfrm>
            <a:off x="10822120" y="3726348"/>
            <a:ext cx="777214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TaskRabbit</a:t>
            </a:r>
          </a:p>
        </p:txBody>
      </p:sp>
      <p:sp>
        <p:nvSpPr>
          <p:cNvPr id="26" name="La densidad de oferta verificada loc"/>
          <p:cNvSpPr txBox="1"/>
          <p:nvPr/>
        </p:nvSpPr>
        <p:spPr>
          <a:xfrm>
            <a:off x="804333" y="3955966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densidad de oferta verificada localmente se construye con el tiempo; es la ventaja que buscamos acumular.</a:t>
            </a:r>
          </a:p>
        </p:txBody>
      </p:sp>
      <p:sp>
        <p:nvSpPr>
          <p:cNvPr id="27" name="¿Por qué OFIX puede competir en un m"/>
          <p:cNvSpPr txBox="1"/>
          <p:nvPr/>
        </p:nvSpPr>
        <p:spPr>
          <a:xfrm>
            <a:off x="609600" y="4529351"/>
            <a:ext cx="4952603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¿Por qué OFIX puede competir en un mercado fragmentado?</a:t>
            </a:r>
          </a:p>
        </p:txBody>
      </p:sp>
      <p:sp>
        <p:nvSpPr>
          <p:cNvPr id="28" name="→ Posicionamiento"/>
          <p:cNvSpPr txBox="1"/>
          <p:nvPr/>
        </p:nvSpPr>
        <p:spPr>
          <a:xfrm>
            <a:off x="10505546" y="4628180"/>
            <a:ext cx="1093788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Posicionamiento</a:t>
            </a:r>
          </a:p>
        </p:txBody>
      </p:sp>
      <p:sp>
        <p:nvSpPr>
          <p:cNvPr id="29" name="Nuestro análisis muestra que ningún "/>
          <p:cNvSpPr txBox="1"/>
          <p:nvPr/>
        </p:nvSpPr>
        <p:spPr>
          <a:xfrm>
            <a:off x="804333" y="4857798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Nuestro análisis muestra que ningún jugador local combina hoy verificación, cercanía y seguimiento en una sola experiencia.</a:t>
            </a:r>
          </a:p>
        </p:txBody>
      </p:sp>
      <p:sp>
        <p:nvSpPr>
          <p:cNvPr id="30" name="74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55031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55031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305726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305726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45215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45215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95909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95909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435398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435398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86092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86092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Preguntas posibles</a:t>
            </a:r>
          </a:p>
        </p:txBody>
      </p:sp>
      <p:sp>
        <p:nvSpPr>
          <p:cNvPr id="18" name="Operación y riesgo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B5561B"/>
                </a:solidFill>
                <a:latin typeface="Archivo Medium"/>
                <a:cs typeface="Archivo Medium"/>
                <a:ea typeface="Archivo Medium"/>
              </a:rPr>
              <a:t>Operación y riesgo</a:t>
            </a:r>
          </a:p>
        </p:txBody>
      </p:sp>
      <p:sp>
        <p:nvSpPr>
          <p:cNvPr id="19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0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1" name="¿Quién responde si un trabajo sale m"/>
          <p:cNvSpPr txBox="1"/>
          <p:nvPr/>
        </p:nvSpPr>
        <p:spPr>
          <a:xfrm>
            <a:off x="609600" y="2725686"/>
            <a:ext cx="3266678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¿Quién responde si un trabajo sale mal?</a:t>
            </a:r>
          </a:p>
        </p:txBody>
      </p:sp>
      <p:sp>
        <p:nvSpPr>
          <p:cNvPr id="22" name="→ Riesgo legal"/>
          <p:cNvSpPr txBox="1"/>
          <p:nvPr/>
        </p:nvSpPr>
        <p:spPr>
          <a:xfrm>
            <a:off x="10695517" y="2824516"/>
            <a:ext cx="90381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Riesgo legal</a:t>
            </a:r>
          </a:p>
        </p:txBody>
      </p:sp>
      <p:sp>
        <p:nvSpPr>
          <p:cNvPr id="23" name="El esquema previsto combina el segur"/>
          <p:cNvSpPr txBox="1"/>
          <p:nvPr/>
        </p:nvSpPr>
        <p:spPr>
          <a:xfrm>
            <a:off x="804333" y="3054134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esquema previsto combina el seguro de responsabilidad civil del trabajador con la retención del pago y la mediación de OFIX. Debe validarse jurídicamente.</a:t>
            </a:r>
          </a:p>
        </p:txBody>
      </p:sp>
      <p:sp>
        <p:nvSpPr>
          <p:cNvPr id="24" name="¿Cómo manejan reclamos y conflictos?"/>
          <p:cNvSpPr txBox="1"/>
          <p:nvPr/>
        </p:nvSpPr>
        <p:spPr>
          <a:xfrm>
            <a:off x="609600" y="3627519"/>
            <a:ext cx="3237839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¿Cómo manejan reclamos y conflictos?</a:t>
            </a:r>
          </a:p>
        </p:txBody>
      </p:sp>
      <p:sp>
        <p:nvSpPr>
          <p:cNvPr id="25" name="→ MVP"/>
          <p:cNvSpPr txBox="1"/>
          <p:nvPr/>
        </p:nvSpPr>
        <p:spPr>
          <a:xfrm>
            <a:off x="11265429" y="3726348"/>
            <a:ext cx="333904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MVP</a:t>
            </a:r>
          </a:p>
        </p:txBody>
      </p:sp>
      <p:sp>
        <p:nvSpPr>
          <p:cNvPr id="26" name="Con el flujo de disputa dentro de la"/>
          <p:cNvSpPr txBox="1"/>
          <p:nvPr/>
        </p:nvSpPr>
        <p:spPr>
          <a:xfrm>
            <a:off x="804333" y="3955966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Con el flujo de disputa dentro de la app: el pago queda retenido hasta que OFIX gestiona el caso.</a:t>
            </a:r>
          </a:p>
        </p:txBody>
      </p:sp>
      <p:sp>
        <p:nvSpPr>
          <p:cNvPr id="27" name="¿Qué riesgos legales tiene intermedi"/>
          <p:cNvSpPr txBox="1"/>
          <p:nvPr/>
        </p:nvSpPr>
        <p:spPr>
          <a:xfrm>
            <a:off x="609600" y="4529351"/>
            <a:ext cx="4039526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riesgos legales tiene intermediar servicios?</a:t>
            </a:r>
          </a:p>
        </p:txBody>
      </p:sp>
      <p:sp>
        <p:nvSpPr>
          <p:cNvPr id="28" name="→ Riesgo legal"/>
          <p:cNvSpPr txBox="1"/>
          <p:nvPr/>
        </p:nvSpPr>
        <p:spPr>
          <a:xfrm>
            <a:off x="10695517" y="4628180"/>
            <a:ext cx="90381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Riesgo legal</a:t>
            </a:r>
          </a:p>
        </p:txBody>
      </p:sp>
      <p:sp>
        <p:nvSpPr>
          <p:cNvPr id="29" name="OFIX está diseñado como intermediari"/>
          <p:cNvSpPr txBox="1"/>
          <p:nvPr/>
        </p:nvSpPr>
        <p:spPr>
          <a:xfrm>
            <a:off x="804333" y="4857798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OFIX está diseñado como intermediario y busca mitigar el riesgo documentando cada trabajo. El alcance de la responsabilidad requiere validación legal.</a:t>
            </a:r>
          </a:p>
        </p:txBody>
      </p:sp>
      <p:sp>
        <p:nvSpPr>
          <p:cNvPr id="30" name="75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1B5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Preguntas posibles</a:t>
            </a:r>
          </a:p>
        </p:txBody>
      </p:sp>
      <p:sp>
        <p:nvSpPr>
          <p:cNvPr id="22" name="Finanzas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1B54D6"/>
                </a:solidFill>
                <a:latin typeface="Archivo Medium"/>
                <a:cs typeface="Archivo Medium"/>
                <a:ea typeface="Archivo Medium"/>
              </a:rPr>
              <a:t>Finanzas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5" name="¿Cuándo alcanzan el punto de equilib"/>
          <p:cNvSpPr txBox="1"/>
          <p:nvPr/>
        </p:nvSpPr>
        <p:spPr>
          <a:xfrm>
            <a:off x="609600" y="2274836"/>
            <a:ext cx="3373305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¿Cuándo alcanzan el punto de equilibrio?</a:t>
            </a:r>
          </a:p>
        </p:txBody>
      </p:sp>
      <p:sp>
        <p:nvSpPr>
          <p:cNvPr id="26" name="→ Finanzas"/>
          <p:cNvSpPr txBox="1"/>
          <p:nvPr/>
        </p:nvSpPr>
        <p:spPr>
          <a:xfrm>
            <a:off x="10948855" y="2373666"/>
            <a:ext cx="650478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Finanzas</a:t>
            </a:r>
          </a:p>
        </p:txBody>
      </p:sp>
      <p:sp>
        <p:nvSpPr>
          <p:cNvPr id="27" name="El resultado operativo se vuelve pos"/>
          <p:cNvSpPr txBox="1"/>
          <p:nvPr/>
        </p:nvSpPr>
        <p:spPr>
          <a:xfrm>
            <a:off x="804333" y="2603284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resultado operativo se vuelve positivo en el Año 2 (USD +25.920). El payback modificado es de 3 años y 9 meses.</a:t>
            </a:r>
          </a:p>
        </p:txBody>
      </p:sp>
      <p:sp>
        <p:nvSpPr>
          <p:cNvPr id="28" name="¿Qué tan sensible es el modelo al ti"/>
          <p:cNvSpPr txBox="1"/>
          <p:nvPr/>
        </p:nvSpPr>
        <p:spPr>
          <a:xfrm>
            <a:off x="609600" y="3176669"/>
            <a:ext cx="4135173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tan sensible es el modelo al ticket promedio?</a:t>
            </a:r>
          </a:p>
        </p:txBody>
      </p:sp>
      <p:sp>
        <p:nvSpPr>
          <p:cNvPr id="29" name="→ Ticket"/>
          <p:cNvSpPr txBox="1"/>
          <p:nvPr/>
        </p:nvSpPr>
        <p:spPr>
          <a:xfrm>
            <a:off x="11075458" y="3275498"/>
            <a:ext cx="523875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Ticket</a:t>
            </a:r>
          </a:p>
        </p:txBody>
      </p:sp>
      <p:sp>
        <p:nvSpPr>
          <p:cNvPr id="30" name="El ticket surge del promedio de seis"/>
          <p:cNvSpPr txBox="1"/>
          <p:nvPr/>
        </p:nvSpPr>
        <p:spPr>
          <a:xfrm>
            <a:off x="804333" y="3505116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ticket surge del promedio de seis servicios relevados a precios de mercado. El crecimiento depende del volumen, no de subir el precio.</a:t>
            </a:r>
          </a:p>
        </p:txBody>
      </p:sp>
      <p:sp>
        <p:nvSpPr>
          <p:cNvPr id="31" name="¿Qué pasa si no se alcanza el volume"/>
          <p:cNvSpPr txBox="1"/>
          <p:nvPr/>
        </p:nvSpPr>
        <p:spPr>
          <a:xfrm>
            <a:off x="609600" y="4078501"/>
            <a:ext cx="4212034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pasa si no se alcanza el volumen proyectado?</a:t>
            </a:r>
          </a:p>
        </p:txBody>
      </p:sp>
      <p:sp>
        <p:nvSpPr>
          <p:cNvPr id="32" name="→ Ingresos"/>
          <p:cNvSpPr txBox="1"/>
          <p:nvPr/>
        </p:nvSpPr>
        <p:spPr>
          <a:xfrm>
            <a:off x="10948855" y="4177330"/>
            <a:ext cx="650478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Ingresos</a:t>
            </a:r>
          </a:p>
        </p:txBody>
      </p:sp>
      <p:sp>
        <p:nvSpPr>
          <p:cNvPr id="33" name="Es el principal supuesto a validar. "/>
          <p:cNvSpPr txBox="1"/>
          <p:nvPr/>
        </p:nvSpPr>
        <p:spPr>
          <a:xfrm>
            <a:off x="804333" y="4406948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Es el principal supuesto a validar. El modelo asume una penetración de ~3% y unas 3,2 transacciones por usuario al año.</a:t>
            </a:r>
          </a:p>
        </p:txBody>
      </p:sp>
      <p:sp>
        <p:nvSpPr>
          <p:cNvPr id="34" name="¿Cuánto capital necesitan?"/>
          <p:cNvSpPr txBox="1"/>
          <p:nvPr/>
        </p:nvSpPr>
        <p:spPr>
          <a:xfrm>
            <a:off x="609600" y="4980333"/>
            <a:ext cx="2254779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¿Cuánto capital necesitan?</a:t>
            </a:r>
          </a:p>
        </p:txBody>
      </p:sp>
      <p:sp>
        <p:nvSpPr>
          <p:cNvPr id="35" name="→ VAN y TIR"/>
          <p:cNvSpPr txBox="1"/>
          <p:nvPr/>
        </p:nvSpPr>
        <p:spPr>
          <a:xfrm>
            <a:off x="10885487" y="5079162"/>
            <a:ext cx="713846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VAN y TIR</a:t>
            </a:r>
          </a:p>
        </p:txBody>
      </p:sp>
      <p:sp>
        <p:nvSpPr>
          <p:cNvPr id="36" name="USD 87.694 en el Año 0 más USD 34.60"/>
          <p:cNvSpPr txBox="1"/>
          <p:nvPr/>
        </p:nvSpPr>
        <p:spPr>
          <a:xfrm>
            <a:off x="804333" y="5308781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USD 87.694 en el Año 0 más USD 34.609 durante el Año 1: USD 122.303 hasta el punto de mayor exposición.</a:t>
            </a:r>
          </a:p>
        </p:txBody>
      </p:sp>
      <p:sp>
        <p:nvSpPr>
          <p:cNvPr id="37" name="76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ja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marco"/>
          <p:cNvSpPr/>
          <p:nvPr/>
        </p:nvSpPr>
        <p:spPr>
          <a:xfrm>
            <a:off x="10325100" y="338667"/>
            <a:ext cx="478367" cy="194733"/>
          </a:xfrm>
          <a:prstGeom prst="roundRect">
            <a:avLst>
              <a:gd name="adj" fmla="val 8695"/>
            </a:avLst>
          </a:prstGeom>
          <a:noFill/>
          <a:ln w="8509">
            <a:solidFill>
              <a:srgbClr val="D9DF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grafico" descr="0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67" y="321733"/>
            <a:ext cx="194733" cy="194733"/>
          </a:xfrm>
          <a:prstGeom prst="rect">
            <a:avLst/>
          </a:prstGeom>
          <a:effectLst/>
        </p:spPr>
      </p:pic>
      <p:sp>
        <p:nvSpPr>
          <p:cNvPr id="5" name="marco"/>
          <p:cNvSpPr/>
          <p:nvPr/>
        </p:nvSpPr>
        <p:spPr>
          <a:xfrm>
            <a:off x="609600" y="2099469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orde top"/>
          <p:cNvSpPr/>
          <p:nvPr/>
        </p:nvSpPr>
        <p:spPr>
          <a:xfrm>
            <a:off x="609600" y="2099469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marco"/>
          <p:cNvSpPr/>
          <p:nvPr/>
        </p:nvSpPr>
        <p:spPr>
          <a:xfrm>
            <a:off x="609600" y="2606410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orde left"/>
          <p:cNvSpPr/>
          <p:nvPr/>
        </p:nvSpPr>
        <p:spPr>
          <a:xfrm>
            <a:off x="609600" y="2606410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marco"/>
          <p:cNvSpPr/>
          <p:nvPr/>
        </p:nvSpPr>
        <p:spPr>
          <a:xfrm>
            <a:off x="609600" y="3001301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borde top"/>
          <p:cNvSpPr/>
          <p:nvPr/>
        </p:nvSpPr>
        <p:spPr>
          <a:xfrm>
            <a:off x="609600" y="3001301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rco"/>
          <p:cNvSpPr/>
          <p:nvPr/>
        </p:nvSpPr>
        <p:spPr>
          <a:xfrm>
            <a:off x="609600" y="3508243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orde left"/>
          <p:cNvSpPr/>
          <p:nvPr/>
        </p:nvSpPr>
        <p:spPr>
          <a:xfrm>
            <a:off x="609600" y="3508243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rco"/>
          <p:cNvSpPr/>
          <p:nvPr/>
        </p:nvSpPr>
        <p:spPr>
          <a:xfrm>
            <a:off x="609600" y="3903133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orde top"/>
          <p:cNvSpPr/>
          <p:nvPr/>
        </p:nvSpPr>
        <p:spPr>
          <a:xfrm>
            <a:off x="609600" y="3903133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rco"/>
          <p:cNvSpPr/>
          <p:nvPr/>
        </p:nvSpPr>
        <p:spPr>
          <a:xfrm>
            <a:off x="609600" y="4410075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orde left"/>
          <p:cNvSpPr/>
          <p:nvPr/>
        </p:nvSpPr>
        <p:spPr>
          <a:xfrm>
            <a:off x="609600" y="4410075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arco"/>
          <p:cNvSpPr/>
          <p:nvPr/>
        </p:nvSpPr>
        <p:spPr>
          <a:xfrm>
            <a:off x="609600" y="4804966"/>
            <a:ext cx="10972800" cy="9018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borde top"/>
          <p:cNvSpPr/>
          <p:nvPr/>
        </p:nvSpPr>
        <p:spPr>
          <a:xfrm>
            <a:off x="609600" y="4804966"/>
            <a:ext cx="10972800" cy="8467"/>
          </a:xfrm>
          <a:prstGeom prst="rect">
            <a:avLst/>
          </a:prstGeom>
          <a:solidFill>
            <a:srgbClr val="EBEF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arco"/>
          <p:cNvSpPr/>
          <p:nvPr/>
        </p:nvSpPr>
        <p:spPr>
          <a:xfrm>
            <a:off x="609600" y="5311907"/>
            <a:ext cx="10972800" cy="208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orde left"/>
          <p:cNvSpPr/>
          <p:nvPr/>
        </p:nvSpPr>
        <p:spPr>
          <a:xfrm>
            <a:off x="609600" y="5311907"/>
            <a:ext cx="25400" cy="208624"/>
          </a:xfrm>
          <a:prstGeom prst="rect">
            <a:avLst/>
          </a:prstGeom>
          <a:solidFill>
            <a:srgbClr val="B556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eguntas posibles"/>
          <p:cNvSpPr txBox="1"/>
          <p:nvPr/>
        </p:nvSpPr>
        <p:spPr>
          <a:xfrm>
            <a:off x="609600" y="457120"/>
            <a:ext cx="2952221" cy="3639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530" spc="-71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Preguntas posibles</a:t>
            </a:r>
          </a:p>
        </p:txBody>
      </p:sp>
      <p:sp>
        <p:nvSpPr>
          <p:cNvPr id="22" name="Tecnología y escalabilidad"/>
          <p:cNvSpPr txBox="1"/>
          <p:nvPr/>
        </p:nvSpPr>
        <p:spPr>
          <a:xfrm>
            <a:off x="609600" y="844267"/>
            <a:ext cx="2952221" cy="1971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200" spc="-14">
                <a:solidFill>
                  <a:srgbClr val="B5561B"/>
                </a:solidFill>
                <a:latin typeface="Archivo Medium"/>
                <a:cs typeface="Archivo Medium"/>
                <a:ea typeface="Archivo Medium"/>
              </a:rPr>
              <a:t>Tecnología y escalabilidad</a:t>
            </a:r>
          </a:p>
        </p:txBody>
      </p:sp>
      <p:sp>
        <p:nvSpPr>
          <p:cNvPr id="23" name="ANEXO"/>
          <p:cNvSpPr txBox="1"/>
          <p:nvPr/>
        </p:nvSpPr>
        <p:spPr>
          <a:xfrm>
            <a:off x="10401300" y="383197"/>
            <a:ext cx="342900" cy="1376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67"/>
              </a:lnSpc>
              <a:spcBef>
                <a:spcPts val="0"/>
              </a:spcBef>
              <a:spcAft>
                <a:spcPts val="0"/>
              </a:spcAft>
            </a:pPr>
            <a:r>
              <a:rPr b="0" i="0" sz="670" spc="113">
                <a:solidFill>
                  <a:srgbClr val="7A879C"/>
                </a:solidFill>
                <a:latin typeface="IBM Plex Mono SemiBold"/>
                <a:cs typeface="IBM Plex Mono SemiBold"/>
                <a:ea typeface="IBM Plex Mono SemiBold"/>
              </a:rPr>
              <a:t>ANEXO</a:t>
            </a:r>
          </a:p>
        </p:txBody>
      </p:sp>
      <p:sp>
        <p:nvSpPr>
          <p:cNvPr id="24" name="OFIX"/>
          <p:cNvSpPr txBox="1"/>
          <p:nvPr/>
        </p:nvSpPr>
        <p:spPr>
          <a:xfrm>
            <a:off x="10898849" y="305427"/>
            <a:ext cx="429551" cy="215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330" spc="-27">
                <a:solidFill>
                  <a:srgbClr val="1B54D6"/>
                </a:solidFill>
                <a:latin typeface="Archivo ExtraBold"/>
                <a:cs typeface="Archivo ExtraBold"/>
                <a:ea typeface="Archivo ExtraBold"/>
              </a:rPr>
              <a:t>OFIX</a:t>
            </a:r>
          </a:p>
        </p:txBody>
      </p:sp>
      <p:sp>
        <p:nvSpPr>
          <p:cNvPr id="25" name="¿Qué tiene OFIX que no tenga un grup"/>
          <p:cNvSpPr txBox="1"/>
          <p:nvPr/>
        </p:nvSpPr>
        <p:spPr>
          <a:xfrm>
            <a:off x="609600" y="2274836"/>
            <a:ext cx="4446058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tiene OFIX que no tenga un grupo de WhatsApp?</a:t>
            </a:r>
          </a:p>
        </p:txBody>
      </p:sp>
      <p:sp>
        <p:nvSpPr>
          <p:cNvPr id="26" name="WhatsApp conecta personas; OFIX estr"/>
          <p:cNvSpPr txBox="1"/>
          <p:nvPr/>
        </p:nvSpPr>
        <p:spPr>
          <a:xfrm>
            <a:off x="804333" y="2603284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WhatsApp conecta personas; OFIX estructura el servicio: búsqueda por cercanía, verificación, propuestas comparables, pago y reputación.</a:t>
            </a:r>
          </a:p>
        </p:txBody>
      </p:sp>
      <p:sp>
        <p:nvSpPr>
          <p:cNvPr id="27" name="¿Qué barreras de entrada tiene la pl"/>
          <p:cNvSpPr txBox="1"/>
          <p:nvPr/>
        </p:nvSpPr>
        <p:spPr>
          <a:xfrm>
            <a:off x="609600" y="3176669"/>
            <a:ext cx="3743325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barreras de entrada tiene la plataforma?</a:t>
            </a:r>
          </a:p>
        </p:txBody>
      </p:sp>
      <p:sp>
        <p:nvSpPr>
          <p:cNvPr id="28" name="La densidad de oferta verificada por"/>
          <p:cNvSpPr txBox="1"/>
          <p:nvPr/>
        </p:nvSpPr>
        <p:spPr>
          <a:xfrm>
            <a:off x="804333" y="3505116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densidad de oferta verificada por zona y el historial de reputación acumulado: se construyen con el tiempo, no con código.</a:t>
            </a:r>
          </a:p>
        </p:txBody>
      </p:sp>
      <p:sp>
        <p:nvSpPr>
          <p:cNvPr id="29" name="¿El modelo escala igual en otras ciu"/>
          <p:cNvSpPr txBox="1"/>
          <p:nvPr/>
        </p:nvSpPr>
        <p:spPr>
          <a:xfrm>
            <a:off x="609600" y="4078501"/>
            <a:ext cx="3534569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¿El modelo escala igual en otras ciudades?</a:t>
            </a:r>
          </a:p>
        </p:txBody>
      </p:sp>
      <p:sp>
        <p:nvSpPr>
          <p:cNvPr id="30" name="→ Roadmap"/>
          <p:cNvSpPr txBox="1"/>
          <p:nvPr/>
        </p:nvSpPr>
        <p:spPr>
          <a:xfrm>
            <a:off x="11012223" y="4177330"/>
            <a:ext cx="587110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Roadmap</a:t>
            </a:r>
          </a:p>
        </p:txBody>
      </p:sp>
      <p:sp>
        <p:nvSpPr>
          <p:cNvPr id="31" name="El roadmap abre territorio de forma "/>
          <p:cNvSpPr txBox="1"/>
          <p:nvPr/>
        </p:nvSpPr>
        <p:spPr>
          <a:xfrm>
            <a:off x="804333" y="4406948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El roadmap abre territorio de forma gradual: validamos una zona antes de abrir la siguiente.</a:t>
            </a:r>
          </a:p>
        </p:txBody>
      </p:sp>
      <p:sp>
        <p:nvSpPr>
          <p:cNvPr id="32" name="¿Qué queda por construir?"/>
          <p:cNvSpPr txBox="1"/>
          <p:nvPr/>
        </p:nvSpPr>
        <p:spPr>
          <a:xfrm>
            <a:off x="609600" y="4980333"/>
            <a:ext cx="2199084" cy="2553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400" spc="-21">
                <a:solidFill>
                  <a:srgbClr val="0D1520"/>
                </a:solidFill>
                <a:latin typeface="Archivo Bold"/>
                <a:cs typeface="Archivo Bold"/>
                <a:ea typeface="Archivo Bold"/>
              </a:rPr>
              <a:t>¿Qué queda por construir?</a:t>
            </a:r>
          </a:p>
        </p:txBody>
      </p:sp>
      <p:sp>
        <p:nvSpPr>
          <p:cNvPr id="33" name="→ MoSCoW"/>
          <p:cNvSpPr txBox="1"/>
          <p:nvPr/>
        </p:nvSpPr>
        <p:spPr>
          <a:xfrm>
            <a:off x="11075458" y="5079162"/>
            <a:ext cx="523875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59">
                <a:solidFill>
                  <a:srgbClr val="7A879C"/>
                </a:solidFill>
                <a:latin typeface="IBM Plex Mono"/>
                <a:cs typeface="IBM Plex Mono"/>
                <a:ea typeface="IBM Plex Mono"/>
              </a:rPr>
              <a:t>→ MoSCoW</a:t>
            </a:r>
          </a:p>
        </p:txBody>
      </p:sp>
      <p:sp>
        <p:nvSpPr>
          <p:cNvPr id="34" name="La integración real de la pasarela d"/>
          <p:cNvSpPr txBox="1"/>
          <p:nvPr/>
        </p:nvSpPr>
        <p:spPr>
          <a:xfrm>
            <a:off x="804333" y="5308781"/>
            <a:ext cx="10795000" cy="2308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3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130">
                <a:solidFill>
                  <a:srgbClr val="4E5C73"/>
                </a:solidFill>
                <a:latin typeface="IBM Plex Sans"/>
                <a:cs typeface="IBM Plex Sans"/>
                <a:ea typeface="IBM Plex Sans"/>
              </a:rPr>
              <a:t>La integración real de la pasarela de pago y de la aseguradora, y el matching automático, previsto recién para 2029.</a:t>
            </a:r>
          </a:p>
        </p:txBody>
      </p:sp>
      <p:sp>
        <p:nvSpPr>
          <p:cNvPr id="35" name="77"/>
          <p:cNvSpPr txBox="1"/>
          <p:nvPr/>
        </p:nvSpPr>
        <p:spPr>
          <a:xfrm>
            <a:off x="609600" y="6471797"/>
            <a:ext cx="151077" cy="14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b="0" i="0" sz="730" spc="88">
                <a:solidFill>
                  <a:srgbClr val="7A879C"/>
                </a:solidFill>
                <a:latin typeface="IBM Plex Mono Medium"/>
                <a:cs typeface="IBM Plex Mono Medium"/>
                <a:ea typeface="IBM Plex Mono Medium"/>
              </a:rPr>
              <a:t>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